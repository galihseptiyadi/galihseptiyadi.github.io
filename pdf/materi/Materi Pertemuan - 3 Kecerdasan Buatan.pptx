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82" r:id="rId3"/>
    <p:sldId id="283" r:id="rId4"/>
    <p:sldId id="284" r:id="rId5"/>
    <p:sldId id="286" r:id="rId6"/>
    <p:sldId id="285" r:id="rId7"/>
    <p:sldId id="287" r:id="rId8"/>
    <p:sldId id="288" r:id="rId9"/>
    <p:sldId id="293" r:id="rId10"/>
    <p:sldId id="294" r:id="rId11"/>
    <p:sldId id="295" r:id="rId12"/>
    <p:sldId id="296" r:id="rId13"/>
    <p:sldId id="289" r:id="rId14"/>
    <p:sldId id="290" r:id="rId15"/>
    <p:sldId id="291" r:id="rId16"/>
    <p:sldId id="292" r:id="rId17"/>
    <p:sldId id="297" r:id="rId18"/>
    <p:sldId id="298" r:id="rId19"/>
    <p:sldId id="299" r:id="rId20"/>
    <p:sldId id="300" r:id="rId21"/>
  </p:sldIdLst>
  <p:sldSz cx="9144000" cy="6858000" type="screen4x3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11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06DFF-C232-440E-A782-80658891558A}" type="datetimeFigureOut">
              <a:rPr lang="id-ID" smtClean="0"/>
              <a:pPr/>
              <a:t>14/03/2012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5B90E-CC03-4162-87D7-E9F13E27E73C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06DFF-C232-440E-A782-80658891558A}" type="datetimeFigureOut">
              <a:rPr lang="id-ID" smtClean="0"/>
              <a:pPr/>
              <a:t>14/03/2012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5B90E-CC03-4162-87D7-E9F13E27E73C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06DFF-C232-440E-A782-80658891558A}" type="datetimeFigureOut">
              <a:rPr lang="id-ID" smtClean="0"/>
              <a:pPr/>
              <a:t>14/03/2012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5B90E-CC03-4162-87D7-E9F13E27E73C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06DFF-C232-440E-A782-80658891558A}" type="datetimeFigureOut">
              <a:rPr lang="id-ID" smtClean="0"/>
              <a:pPr/>
              <a:t>14/03/2012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5B90E-CC03-4162-87D7-E9F13E27E73C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06DFF-C232-440E-A782-80658891558A}" type="datetimeFigureOut">
              <a:rPr lang="id-ID" smtClean="0"/>
              <a:pPr/>
              <a:t>14/03/2012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5B90E-CC03-4162-87D7-E9F13E27E73C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06DFF-C232-440E-A782-80658891558A}" type="datetimeFigureOut">
              <a:rPr lang="id-ID" smtClean="0"/>
              <a:pPr/>
              <a:t>14/03/2012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5B90E-CC03-4162-87D7-E9F13E27E73C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06DFF-C232-440E-A782-80658891558A}" type="datetimeFigureOut">
              <a:rPr lang="id-ID" smtClean="0"/>
              <a:pPr/>
              <a:t>14/03/2012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5B90E-CC03-4162-87D7-E9F13E27E73C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06DFF-C232-440E-A782-80658891558A}" type="datetimeFigureOut">
              <a:rPr lang="id-ID" smtClean="0"/>
              <a:pPr/>
              <a:t>14/03/2012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5B90E-CC03-4162-87D7-E9F13E27E73C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06DFF-C232-440E-A782-80658891558A}" type="datetimeFigureOut">
              <a:rPr lang="id-ID" smtClean="0"/>
              <a:pPr/>
              <a:t>14/03/2012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5B90E-CC03-4162-87D7-E9F13E27E73C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06DFF-C232-440E-A782-80658891558A}" type="datetimeFigureOut">
              <a:rPr lang="id-ID" smtClean="0"/>
              <a:pPr/>
              <a:t>14/03/2012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5B90E-CC03-4162-87D7-E9F13E27E73C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06DFF-C232-440E-A782-80658891558A}" type="datetimeFigureOut">
              <a:rPr lang="id-ID" smtClean="0"/>
              <a:pPr/>
              <a:t>14/03/2012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5B90E-CC03-4162-87D7-E9F13E27E73C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806DFF-C232-440E-A782-80658891558A}" type="datetimeFigureOut">
              <a:rPr lang="id-ID" smtClean="0"/>
              <a:pPr/>
              <a:t>14/03/2012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55B90E-CC03-4162-87D7-E9F13E27E73C}" type="slidenum">
              <a:rPr lang="id-ID" smtClean="0"/>
              <a:pPr/>
              <a:t>‹#›</a:t>
            </a:fld>
            <a:endParaRPr lang="id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 flipH="1">
            <a:off x="-357223" y="214290"/>
            <a:ext cx="5357850" cy="434652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7" name="TextBox 6"/>
          <p:cNvSpPr txBox="1"/>
          <p:nvPr/>
        </p:nvSpPr>
        <p:spPr>
          <a:xfrm rot="21286599">
            <a:off x="1476676" y="870035"/>
            <a:ext cx="322242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d-ID" sz="3600" b="1" dirty="0" smtClean="0">
                <a:latin typeface="Bradley Hand ITC" pitchFamily="66" charset="0"/>
              </a:rPr>
              <a:t>Pencarian Buta</a:t>
            </a:r>
          </a:p>
          <a:p>
            <a:pPr algn="r"/>
            <a:r>
              <a:rPr lang="id-ID" sz="3600" b="1" dirty="0" smtClean="0">
                <a:latin typeface="Bradley Hand ITC" pitchFamily="66" charset="0"/>
              </a:rPr>
              <a:t>(</a:t>
            </a:r>
            <a:r>
              <a:rPr lang="id-ID" sz="3600" b="1" i="1" dirty="0" smtClean="0">
                <a:latin typeface="Bradley Hand ITC" pitchFamily="66" charset="0"/>
              </a:rPr>
              <a:t>Blind Search</a:t>
            </a:r>
            <a:r>
              <a:rPr lang="id-ID" sz="3600" b="1" dirty="0" smtClean="0">
                <a:latin typeface="Bradley Hand ITC" pitchFamily="66" charset="0"/>
              </a:rPr>
              <a:t>)</a:t>
            </a:r>
            <a:endParaRPr lang="id-ID" sz="3600" b="1" dirty="0">
              <a:latin typeface="Bradley Hand ITC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428596" y="1359274"/>
            <a:ext cx="595227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Simple general uninformed search methods :</a:t>
            </a:r>
          </a:p>
          <a:p>
            <a:pPr marL="457200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1.	Random Search</a:t>
            </a:r>
          </a:p>
          <a:p>
            <a:pPr marL="900113" indent="-457200">
              <a:buFont typeface="Arial" pitchFamily="34" charset="0"/>
              <a:buChar char="•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Randomly selects a new state from</a:t>
            </a:r>
          </a:p>
          <a:p>
            <a:pPr marL="900113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the current state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428596" y="1142984"/>
            <a:ext cx="5545108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Pencarian buta (</a:t>
            </a:r>
            <a:r>
              <a:rPr lang="id-ID" sz="2400" i="1" dirty="0" smtClean="0">
                <a:solidFill>
                  <a:schemeClr val="bg1"/>
                </a:solidFill>
                <a:latin typeface="Bradley Hand ITC" pitchFamily="66" charset="0"/>
              </a:rPr>
              <a:t>blind search</a:t>
            </a: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) :</a:t>
            </a:r>
          </a:p>
          <a:p>
            <a:pPr marL="457200" indent="-457200">
              <a:buFont typeface="+mj-lt"/>
              <a:buAutoNum type="arabicPeriod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Berpotensi tersesat</a:t>
            </a:r>
          </a:p>
          <a:p>
            <a:pPr marL="457200" indent="-457200">
              <a:buFont typeface="+mj-lt"/>
              <a:buAutoNum type="arabicPeriod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Berpotensi terjebak dalam perulangan</a:t>
            </a:r>
          </a:p>
          <a:p>
            <a:pPr marL="457200" indent="-457200">
              <a:buFont typeface="+mj-lt"/>
              <a:buAutoNum type="arabicPeriod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Berpotensi tidak menemukan solusi</a:t>
            </a:r>
          </a:p>
          <a:p>
            <a:pPr marL="457200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meskipun sebenarnya solusi tersebut</a:t>
            </a:r>
          </a:p>
          <a:p>
            <a:pPr marL="457200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ada pada </a:t>
            </a:r>
            <a:r>
              <a:rPr lang="id-ID" sz="2400" i="1" dirty="0" smtClean="0">
                <a:solidFill>
                  <a:schemeClr val="bg1"/>
                </a:solidFill>
                <a:latin typeface="Bradley Hand ITC" pitchFamily="66" charset="0"/>
              </a:rPr>
              <a:t>search space</a:t>
            </a:r>
          </a:p>
          <a:p>
            <a:pPr marL="457200" indent="-457200"/>
            <a:endParaRPr lang="id-ID" sz="2400" dirty="0" smtClean="0">
              <a:solidFill>
                <a:schemeClr val="bg1"/>
              </a:solidFill>
              <a:latin typeface="Bradley Hand ITC" pitchFamily="66" charset="0"/>
            </a:endParaRPr>
          </a:p>
          <a:p>
            <a:pPr marL="457200" indent="-457200">
              <a:buFont typeface="+mj-lt"/>
              <a:buAutoNum type="arabicPeriod"/>
            </a:pPr>
            <a:endParaRPr lang="id-ID" sz="2400" dirty="0" smtClean="0">
              <a:solidFill>
                <a:schemeClr val="bg1"/>
              </a:solidFill>
              <a:latin typeface="Bradley Hand ITC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428596" y="1142984"/>
            <a:ext cx="5766322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Metode pencarian buta (</a:t>
            </a:r>
            <a:r>
              <a:rPr lang="id-ID" sz="2400" i="1" dirty="0" smtClean="0">
                <a:solidFill>
                  <a:schemeClr val="bg1"/>
                </a:solidFill>
                <a:latin typeface="Bradley Hand ITC" pitchFamily="66" charset="0"/>
              </a:rPr>
              <a:t>blind search</a:t>
            </a: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) yang</a:t>
            </a:r>
          </a:p>
          <a:p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lain :</a:t>
            </a:r>
          </a:p>
          <a:p>
            <a:pPr marL="457200" indent="-457200">
              <a:buFont typeface="+mj-lt"/>
              <a:buAutoNum type="arabicPeriod"/>
            </a:pPr>
            <a:r>
              <a:rPr lang="id-ID" sz="2400" b="1" i="1" dirty="0" smtClean="0">
                <a:solidFill>
                  <a:srgbClr val="FFC000"/>
                </a:solidFill>
                <a:latin typeface="Bradley Hand ITC" pitchFamily="66" charset="0"/>
              </a:rPr>
              <a:t>Depth -First Search (DFS)</a:t>
            </a:r>
          </a:p>
          <a:p>
            <a:pPr marL="457200" indent="-457200">
              <a:buFont typeface="+mj-lt"/>
              <a:buAutoNum type="arabicPeriod"/>
            </a:pPr>
            <a:r>
              <a:rPr lang="id-ID" sz="2400" i="1" dirty="0" smtClean="0">
                <a:solidFill>
                  <a:schemeClr val="bg1"/>
                </a:solidFill>
                <a:latin typeface="Bradley Hand ITC" pitchFamily="66" charset="0"/>
              </a:rPr>
              <a:t>Depth-Limited Search (DLS)</a:t>
            </a:r>
          </a:p>
          <a:p>
            <a:pPr marL="457200" indent="-457200">
              <a:buFont typeface="+mj-lt"/>
              <a:buAutoNum type="arabicPeriod"/>
            </a:pPr>
            <a:r>
              <a:rPr lang="id-ID" sz="2400" i="1" dirty="0" smtClean="0">
                <a:solidFill>
                  <a:schemeClr val="bg1"/>
                </a:solidFill>
                <a:latin typeface="Bradley Hand ITC" pitchFamily="66" charset="0"/>
              </a:rPr>
              <a:t>Iterative Deepening Search (IDS)</a:t>
            </a:r>
          </a:p>
          <a:p>
            <a:pPr marL="457200" indent="-457200">
              <a:buFont typeface="+mj-lt"/>
              <a:buAutoNum type="arabicPeriod"/>
            </a:pPr>
            <a:r>
              <a:rPr lang="id-ID" sz="2400" b="1" i="1" dirty="0" smtClean="0">
                <a:solidFill>
                  <a:srgbClr val="FFC000"/>
                </a:solidFill>
                <a:latin typeface="Bradley Hand ITC" pitchFamily="66" charset="0"/>
              </a:rPr>
              <a:t>Breadth-First Search (BFS)</a:t>
            </a:r>
          </a:p>
          <a:p>
            <a:pPr marL="457200" indent="-457200">
              <a:buFont typeface="+mj-lt"/>
              <a:buAutoNum type="arabicPeriod"/>
            </a:pPr>
            <a:r>
              <a:rPr lang="id-ID" sz="2400" i="1" dirty="0" smtClean="0">
                <a:solidFill>
                  <a:schemeClr val="bg1"/>
                </a:solidFill>
                <a:latin typeface="Bradley Hand ITC" pitchFamily="66" charset="0"/>
              </a:rPr>
              <a:t>Bidirectional Search</a:t>
            </a:r>
          </a:p>
          <a:p>
            <a:pPr marL="457200" indent="-457200">
              <a:buFont typeface="+mj-lt"/>
              <a:buAutoNum type="arabicPeriod"/>
            </a:pPr>
            <a:r>
              <a:rPr lang="id-ID" sz="2400" i="1" dirty="0" smtClean="0">
                <a:solidFill>
                  <a:schemeClr val="bg1"/>
                </a:solidFill>
                <a:latin typeface="Bradley Hand ITC" pitchFamily="66" charset="0"/>
              </a:rPr>
              <a:t>Uniform-Cost </a:t>
            </a:r>
            <a:r>
              <a:rPr lang="id-ID" sz="2400" i="1" dirty="0" smtClean="0">
                <a:solidFill>
                  <a:schemeClr val="bg1"/>
                </a:solidFill>
                <a:latin typeface="Bradley Hand ITC" pitchFamily="66" charset="0"/>
              </a:rPr>
              <a:t>Search (UCS)</a:t>
            </a:r>
            <a:endParaRPr lang="id-ID" sz="2400" i="1" dirty="0" smtClean="0">
              <a:solidFill>
                <a:schemeClr val="bg1"/>
              </a:solidFill>
              <a:latin typeface="Bradley Hand ITC" pitchFamily="66" charset="0"/>
            </a:endParaRPr>
          </a:p>
          <a:p>
            <a:pPr marL="457200" indent="-457200"/>
            <a:endParaRPr lang="id-ID" sz="2400" dirty="0" smtClean="0">
              <a:solidFill>
                <a:schemeClr val="bg1"/>
              </a:solidFill>
              <a:latin typeface="Bradley Hand ITC" pitchFamily="66" charset="0"/>
            </a:endParaRPr>
          </a:p>
          <a:p>
            <a:pPr marL="457200" indent="-457200">
              <a:buFont typeface="+mj-lt"/>
              <a:buAutoNum type="arabicPeriod"/>
            </a:pPr>
            <a:endParaRPr lang="id-ID" sz="2400" dirty="0" smtClean="0">
              <a:solidFill>
                <a:schemeClr val="bg1"/>
              </a:solidFill>
              <a:latin typeface="Bradley Hand ITC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 flipH="1">
            <a:off x="-357223" y="214290"/>
            <a:ext cx="5357850" cy="434652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7" name="TextBox 6"/>
          <p:cNvSpPr txBox="1"/>
          <p:nvPr/>
        </p:nvSpPr>
        <p:spPr>
          <a:xfrm rot="21286599">
            <a:off x="1620271" y="885799"/>
            <a:ext cx="287610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d-ID" sz="3600" b="1" i="1" dirty="0" smtClean="0">
                <a:latin typeface="Bradley Hand ITC" pitchFamily="66" charset="0"/>
              </a:rPr>
              <a:t>Depth-First </a:t>
            </a:r>
          </a:p>
          <a:p>
            <a:pPr algn="r"/>
            <a:r>
              <a:rPr lang="id-ID" sz="3600" b="1" i="1" dirty="0" smtClean="0">
                <a:latin typeface="Bradley Hand ITC" pitchFamily="66" charset="0"/>
              </a:rPr>
              <a:t>Search (DFS)</a:t>
            </a:r>
            <a:endParaRPr lang="id-ID" sz="3600" b="1" i="1" dirty="0">
              <a:latin typeface="Bradley Hand ITC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58" y="2795609"/>
            <a:ext cx="5495925" cy="3705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285720" y="1275694"/>
            <a:ext cx="616867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Proses pencarian akan dilakukan pada semua</a:t>
            </a:r>
          </a:p>
          <a:p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anaknya sebelum dilakukan pencarian ke</a:t>
            </a:r>
          </a:p>
          <a:p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node-node yang selevel</a:t>
            </a:r>
          </a:p>
          <a:p>
            <a:pPr marL="457200" indent="-457200"/>
            <a:endParaRPr lang="id-ID" sz="2400" dirty="0" smtClean="0">
              <a:solidFill>
                <a:schemeClr val="bg1"/>
              </a:solidFill>
              <a:latin typeface="Bradley Hand ITC" pitchFamily="66" charset="0"/>
            </a:endParaRPr>
          </a:p>
          <a:p>
            <a:pPr marL="457200" indent="-457200">
              <a:buFont typeface="+mj-lt"/>
              <a:buAutoNum type="arabicPeriod"/>
            </a:pPr>
            <a:endParaRPr lang="id-ID" sz="2400" dirty="0" smtClean="0">
              <a:solidFill>
                <a:schemeClr val="bg1"/>
              </a:solidFill>
              <a:latin typeface="Bradley Hand ITC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285720" y="1275694"/>
            <a:ext cx="5982728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2400" b="1" dirty="0" smtClean="0">
                <a:solidFill>
                  <a:schemeClr val="bg1"/>
                </a:solidFill>
                <a:latin typeface="Bradley Hand ITC" pitchFamily="66" charset="0"/>
              </a:rPr>
              <a:t>Keuntungan :</a:t>
            </a:r>
          </a:p>
          <a:p>
            <a:pPr marL="457200" indent="-457200">
              <a:buFont typeface="+mj-lt"/>
              <a:buAutoNum type="arabicPeriod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Membutuhkan memori yang relatif kecil</a:t>
            </a:r>
          </a:p>
          <a:p>
            <a:pPr marL="457200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karena hanya node-node pada lintasan</a:t>
            </a:r>
          </a:p>
          <a:p>
            <a:pPr marL="457200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yang aktif saja yang disimpan</a:t>
            </a:r>
          </a:p>
          <a:p>
            <a:pPr marL="457200" indent="-457200">
              <a:buAutoNum type="arabicPeriod" startAt="2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Mampu menemukan solusi tanpa harus</a:t>
            </a:r>
          </a:p>
          <a:p>
            <a:pPr marL="457200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menguji lebih banyak lagi dalam </a:t>
            </a:r>
            <a:r>
              <a:rPr lang="id-ID" sz="2400" i="1" dirty="0" smtClean="0">
                <a:solidFill>
                  <a:schemeClr val="bg1"/>
                </a:solidFill>
                <a:latin typeface="Bradley Hand ITC" pitchFamily="66" charset="0"/>
              </a:rPr>
              <a:t>search</a:t>
            </a:r>
          </a:p>
          <a:p>
            <a:pPr marL="457200" indent="-457200"/>
            <a:r>
              <a:rPr lang="id-ID" sz="2400" i="1" dirty="0" smtClean="0">
                <a:solidFill>
                  <a:schemeClr val="bg1"/>
                </a:solidFill>
                <a:latin typeface="Bradley Hand ITC" pitchFamily="66" charset="0"/>
              </a:rPr>
              <a:t>	space</a:t>
            </a:r>
            <a:endParaRPr lang="id-ID" sz="2400" dirty="0" smtClean="0">
              <a:solidFill>
                <a:schemeClr val="bg1"/>
              </a:solidFill>
              <a:latin typeface="Bradley Hand ITC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285720" y="1275694"/>
            <a:ext cx="639309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2400" b="1" dirty="0" smtClean="0">
                <a:solidFill>
                  <a:schemeClr val="bg1"/>
                </a:solidFill>
                <a:latin typeface="Bradley Hand ITC" pitchFamily="66" charset="0"/>
              </a:rPr>
              <a:t>Kelemahan :</a:t>
            </a:r>
          </a:p>
          <a:p>
            <a:pPr marL="457200" indent="-457200">
              <a:buFont typeface="+mj-lt"/>
              <a:buAutoNum type="arabicPeriod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Memungkinkan tidak ditemukannya</a:t>
            </a:r>
          </a:p>
          <a:p>
            <a:pPr marL="457200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tujuan yang diharapkan</a:t>
            </a:r>
          </a:p>
          <a:p>
            <a:pPr marL="457200" indent="-457200">
              <a:buAutoNum type="arabicPeriod" startAt="2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Hanya akan mendapatkan satu solusi pada</a:t>
            </a:r>
          </a:p>
          <a:p>
            <a:pPr marL="457200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setiap pencarian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 flipH="1">
            <a:off x="-357223" y="214290"/>
            <a:ext cx="5357850" cy="434652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7" name="TextBox 6"/>
          <p:cNvSpPr txBox="1"/>
          <p:nvPr/>
        </p:nvSpPr>
        <p:spPr>
          <a:xfrm rot="21286599">
            <a:off x="1585005" y="885799"/>
            <a:ext cx="29466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d-ID" sz="3600" b="1" i="1" dirty="0" smtClean="0">
                <a:latin typeface="Bradley Hand ITC" pitchFamily="66" charset="0"/>
              </a:rPr>
              <a:t>Depth-Limited</a:t>
            </a:r>
            <a:endParaRPr lang="id-ID" sz="3600" b="1" i="1" dirty="0" smtClean="0">
              <a:latin typeface="Bradley Hand ITC" pitchFamily="66" charset="0"/>
            </a:endParaRPr>
          </a:p>
          <a:p>
            <a:pPr algn="r"/>
            <a:r>
              <a:rPr lang="id-ID" sz="3600" b="1" i="1" dirty="0" smtClean="0">
                <a:latin typeface="Bradley Hand ITC" pitchFamily="66" charset="0"/>
              </a:rPr>
              <a:t>Search (</a:t>
            </a:r>
            <a:r>
              <a:rPr lang="id-ID" sz="3600" b="1" i="1" dirty="0" smtClean="0">
                <a:latin typeface="Bradley Hand ITC" pitchFamily="66" charset="0"/>
              </a:rPr>
              <a:t>DLS</a:t>
            </a:r>
            <a:r>
              <a:rPr lang="id-ID" sz="3600" b="1" i="1" dirty="0" smtClean="0">
                <a:latin typeface="Bradley Hand ITC" pitchFamily="66" charset="0"/>
              </a:rPr>
              <a:t>)</a:t>
            </a:r>
            <a:endParaRPr lang="id-ID" sz="3600" b="1" i="1" dirty="0">
              <a:latin typeface="Bradley Hand ITC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285720" y="1275694"/>
            <a:ext cx="602761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Modifikasi dari DFS yang bertujuan untuk </a:t>
            </a:r>
          </a:p>
          <a:p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meminimalisasi kedalaman yang mungkin</a:t>
            </a:r>
          </a:p>
          <a:p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dicapai oleh algoritma pencarian</a:t>
            </a:r>
            <a:endParaRPr lang="id-ID" sz="2400" dirty="0" smtClean="0">
              <a:solidFill>
                <a:schemeClr val="bg1"/>
              </a:solidFill>
              <a:latin typeface="Bradley Hand ITC" pitchFamily="66" charset="0"/>
            </a:endParaRPr>
          </a:p>
          <a:p>
            <a:pPr marL="457200" indent="-457200"/>
            <a:endParaRPr lang="id-ID" sz="2400" dirty="0" smtClean="0">
              <a:solidFill>
                <a:schemeClr val="bg1"/>
              </a:solidFill>
              <a:latin typeface="Bradley Hand ITC" pitchFamily="66" charset="0"/>
            </a:endParaRPr>
          </a:p>
          <a:p>
            <a:pPr marL="457200" indent="-457200">
              <a:buFont typeface="+mj-lt"/>
              <a:buAutoNum type="arabicPeriod"/>
            </a:pPr>
            <a:endParaRPr lang="id-ID" sz="2400" dirty="0" smtClean="0">
              <a:solidFill>
                <a:schemeClr val="bg1"/>
              </a:solidFill>
              <a:latin typeface="Bradley Hand ITC" pitchFamily="66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77203" y="2695579"/>
            <a:ext cx="7409507" cy="3162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 flipH="1">
            <a:off x="-357223" y="214290"/>
            <a:ext cx="5357850" cy="434652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7" name="TextBox 6"/>
          <p:cNvSpPr txBox="1"/>
          <p:nvPr/>
        </p:nvSpPr>
        <p:spPr>
          <a:xfrm rot="21286599">
            <a:off x="975358" y="885799"/>
            <a:ext cx="382508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d-ID" sz="3600" b="1" i="1" dirty="0" smtClean="0">
                <a:latin typeface="Bradley Hand ITC" pitchFamily="66" charset="0"/>
              </a:rPr>
              <a:t>Iterative Deepening</a:t>
            </a:r>
            <a:endParaRPr lang="id-ID" sz="3600" b="1" i="1" dirty="0" smtClean="0">
              <a:latin typeface="Bradley Hand ITC" pitchFamily="66" charset="0"/>
            </a:endParaRPr>
          </a:p>
          <a:p>
            <a:pPr algn="r"/>
            <a:r>
              <a:rPr lang="id-ID" sz="3600" b="1" i="1" dirty="0" smtClean="0">
                <a:latin typeface="Bradley Hand ITC" pitchFamily="66" charset="0"/>
              </a:rPr>
              <a:t>Search </a:t>
            </a:r>
            <a:r>
              <a:rPr lang="id-ID" sz="3600" b="1" i="1" dirty="0" smtClean="0">
                <a:latin typeface="Bradley Hand ITC" pitchFamily="66" charset="0"/>
              </a:rPr>
              <a:t>(IDS)</a:t>
            </a:r>
            <a:endParaRPr lang="id-ID" sz="3600" b="1" i="1" dirty="0">
              <a:latin typeface="Bradley Hand ITC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285720" y="1275694"/>
            <a:ext cx="627447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Turunan dari DLS dan merupakan kombinasi</a:t>
            </a:r>
          </a:p>
          <a:p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dari DFS dan BFS</a:t>
            </a:r>
            <a:endParaRPr lang="id-ID" sz="2400" dirty="0" smtClean="0">
              <a:solidFill>
                <a:schemeClr val="bg1"/>
              </a:solidFill>
              <a:latin typeface="Bradley Hand ITC" pitchFamily="66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69028" y="2500306"/>
            <a:ext cx="8660690" cy="26193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 flipH="1">
            <a:off x="-357223" y="214290"/>
            <a:ext cx="5357850" cy="434652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7" name="TextBox 6"/>
          <p:cNvSpPr txBox="1"/>
          <p:nvPr/>
        </p:nvSpPr>
        <p:spPr>
          <a:xfrm rot="21286599">
            <a:off x="1601837" y="885799"/>
            <a:ext cx="291297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d-ID" sz="3600" b="1" i="1" dirty="0" smtClean="0">
                <a:latin typeface="Bradley Hand ITC" pitchFamily="66" charset="0"/>
              </a:rPr>
              <a:t>Breadth-First </a:t>
            </a:r>
          </a:p>
          <a:p>
            <a:pPr algn="r"/>
            <a:r>
              <a:rPr lang="id-ID" sz="3600" b="1" i="1" dirty="0" smtClean="0">
                <a:latin typeface="Bradley Hand ITC" pitchFamily="66" charset="0"/>
              </a:rPr>
              <a:t>Search (DFS)</a:t>
            </a:r>
            <a:endParaRPr lang="id-ID" sz="3600" b="1" i="1" dirty="0">
              <a:latin typeface="Bradley Hand ITC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285720" y="1275694"/>
            <a:ext cx="616867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Proses pencarian akan dilakukan pada semua</a:t>
            </a:r>
          </a:p>
          <a:p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anaknya sebelum dilakukan pencarian ke</a:t>
            </a:r>
          </a:p>
          <a:p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node-node yang selevel</a:t>
            </a:r>
          </a:p>
          <a:p>
            <a:pPr marL="457200" indent="-457200"/>
            <a:endParaRPr lang="id-ID" sz="2400" dirty="0" smtClean="0">
              <a:solidFill>
                <a:schemeClr val="bg1"/>
              </a:solidFill>
              <a:latin typeface="Bradley Hand ITC" pitchFamily="66" charset="0"/>
            </a:endParaRPr>
          </a:p>
          <a:p>
            <a:pPr marL="457200" indent="-457200">
              <a:buFont typeface="+mj-lt"/>
              <a:buAutoNum type="arabicPeriod"/>
            </a:pPr>
            <a:endParaRPr lang="id-ID" sz="2400" dirty="0" smtClean="0">
              <a:solidFill>
                <a:schemeClr val="bg1"/>
              </a:solidFill>
              <a:latin typeface="Bradley Hand ITC" pitchFamily="66" charset="0"/>
            </a:endParaRPr>
          </a:p>
        </p:txBody>
      </p:sp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0911" y="3119443"/>
            <a:ext cx="5111221" cy="32385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285720" y="1275694"/>
            <a:ext cx="628409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2400" b="1" dirty="0" smtClean="0">
                <a:solidFill>
                  <a:schemeClr val="bg1"/>
                </a:solidFill>
                <a:latin typeface="Bradley Hand ITC" pitchFamily="66" charset="0"/>
              </a:rPr>
              <a:t>Keuntungan :</a:t>
            </a:r>
          </a:p>
          <a:p>
            <a:pPr marL="457200" indent="-457200">
              <a:buFont typeface="+mj-lt"/>
              <a:buAutoNum type="arabicPeriod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Tidak akan menemui jalan buntu</a:t>
            </a:r>
          </a:p>
          <a:p>
            <a:pPr marL="457200" indent="-457200">
              <a:buAutoNum type="arabicPeriod" startAt="2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Jika ada satu solusi, maka metode ini akan</a:t>
            </a:r>
          </a:p>
          <a:p>
            <a:pPr marL="457200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menemukannya. </a:t>
            </a:r>
          </a:p>
          <a:p>
            <a:pPr marL="457200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Jika ada lebih dari satu solusi, maka solusi</a:t>
            </a:r>
          </a:p>
          <a:p>
            <a:pPr marL="457200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minimum akan ditemukan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285720" y="1275694"/>
            <a:ext cx="640271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2400" b="1" dirty="0" smtClean="0">
                <a:solidFill>
                  <a:schemeClr val="bg1"/>
                </a:solidFill>
                <a:latin typeface="Bradley Hand ITC" pitchFamily="66" charset="0"/>
              </a:rPr>
              <a:t>Kelemahan :</a:t>
            </a:r>
          </a:p>
          <a:p>
            <a:pPr marL="457200" indent="-457200">
              <a:buFont typeface="+mj-lt"/>
              <a:buAutoNum type="arabicPeriod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Membutuhkan memori yang cukup banyak</a:t>
            </a:r>
          </a:p>
          <a:p>
            <a:pPr marL="457200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karena menyimpan semua node dalam satu</a:t>
            </a:r>
          </a:p>
          <a:p>
            <a:pPr marL="457200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pohon</a:t>
            </a:r>
          </a:p>
          <a:p>
            <a:pPr marL="457200" indent="-457200">
              <a:buAutoNum type="arabicPeriod" startAt="2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Hanya akan mendapatkan satu solusi pada</a:t>
            </a:r>
          </a:p>
          <a:p>
            <a:pPr marL="457200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setiap pencarian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 flipH="1">
            <a:off x="-357223" y="214290"/>
            <a:ext cx="5357850" cy="434652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7" name="TextBox 6"/>
          <p:cNvSpPr txBox="1"/>
          <p:nvPr/>
        </p:nvSpPr>
        <p:spPr>
          <a:xfrm rot="21286599">
            <a:off x="1705231" y="885799"/>
            <a:ext cx="270618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d-ID" sz="3600" b="1" i="1" dirty="0" smtClean="0">
                <a:latin typeface="Bradley Hand ITC" pitchFamily="66" charset="0"/>
              </a:rPr>
              <a:t>Bidirectional</a:t>
            </a:r>
            <a:endParaRPr lang="id-ID" sz="3600" b="1" i="1" dirty="0" smtClean="0">
              <a:latin typeface="Bradley Hand ITC" pitchFamily="66" charset="0"/>
            </a:endParaRPr>
          </a:p>
          <a:p>
            <a:pPr algn="r"/>
            <a:r>
              <a:rPr lang="id-ID" sz="3600" b="1" i="1" dirty="0" smtClean="0">
                <a:latin typeface="Bradley Hand ITC" pitchFamily="66" charset="0"/>
              </a:rPr>
              <a:t>Search</a:t>
            </a:r>
            <a:endParaRPr lang="id-ID" sz="3600" b="1" i="1" dirty="0">
              <a:latin typeface="Bradley Hand ITC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285720" y="1000108"/>
            <a:ext cx="591219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Turunan dari BFS yang beroperasi dengan </a:t>
            </a:r>
          </a:p>
          <a:p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melakukan dua BFS secara serempak, satu </a:t>
            </a:r>
          </a:p>
          <a:p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dimulai dari node akar dan satunya lagi </a:t>
            </a:r>
          </a:p>
          <a:p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dimulai dari node tujuan</a:t>
            </a:r>
            <a:endParaRPr lang="id-ID" sz="2400" dirty="0" smtClean="0">
              <a:solidFill>
                <a:schemeClr val="bg1"/>
              </a:solidFill>
              <a:latin typeface="Bradley Hand ITC" pitchFamily="66" charset="0"/>
            </a:endParaRPr>
          </a:p>
          <a:p>
            <a:pPr marL="457200" indent="-457200"/>
            <a:endParaRPr lang="id-ID" sz="2400" dirty="0" smtClean="0">
              <a:solidFill>
                <a:schemeClr val="bg1"/>
              </a:solidFill>
              <a:latin typeface="Bradley Hand ITC" pitchFamily="66" charset="0"/>
            </a:endParaRPr>
          </a:p>
          <a:p>
            <a:pPr marL="457200" indent="-457200">
              <a:buFont typeface="+mj-lt"/>
              <a:buAutoNum type="arabicPeriod"/>
            </a:pPr>
            <a:endParaRPr lang="id-ID" sz="2400" dirty="0" smtClean="0">
              <a:solidFill>
                <a:schemeClr val="bg1"/>
              </a:solidFill>
              <a:latin typeface="Bradley Hand ITC" pitchFamily="66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33825" y="2333625"/>
            <a:ext cx="5210175" cy="452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 flipH="1">
            <a:off x="-357223" y="214290"/>
            <a:ext cx="5357850" cy="434652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7" name="TextBox 6"/>
          <p:cNvSpPr txBox="1"/>
          <p:nvPr/>
        </p:nvSpPr>
        <p:spPr>
          <a:xfrm rot="21286599">
            <a:off x="1585808" y="885799"/>
            <a:ext cx="294503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d-ID" sz="3600" b="1" i="1" dirty="0" smtClean="0">
                <a:latin typeface="Bradley Hand ITC" pitchFamily="66" charset="0"/>
              </a:rPr>
              <a:t>Uniform-Cost</a:t>
            </a:r>
            <a:endParaRPr lang="id-ID" sz="3600" b="1" i="1" dirty="0" smtClean="0">
              <a:latin typeface="Bradley Hand ITC" pitchFamily="66" charset="0"/>
            </a:endParaRPr>
          </a:p>
          <a:p>
            <a:pPr algn="r"/>
            <a:r>
              <a:rPr lang="id-ID" sz="3600" b="1" i="1" dirty="0" smtClean="0">
                <a:latin typeface="Bradley Hand ITC" pitchFamily="66" charset="0"/>
              </a:rPr>
              <a:t>Search (UCS)</a:t>
            </a:r>
            <a:endParaRPr lang="id-ID" sz="3600" b="1" i="1" dirty="0">
              <a:latin typeface="Bradley Hand ITC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285720" y="1000108"/>
            <a:ext cx="617188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Dapat diaplikasikan untuk menemukan jalur</a:t>
            </a:r>
          </a:p>
          <a:p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dengan </a:t>
            </a:r>
            <a:r>
              <a:rPr lang="id-ID" sz="2400" i="1" dirty="0" smtClean="0">
                <a:solidFill>
                  <a:schemeClr val="bg1"/>
                </a:solidFill>
                <a:latin typeface="Bradley Hand ITC" pitchFamily="66" charset="0"/>
              </a:rPr>
              <a:t>cost</a:t>
            </a: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 terendah pada graf </a:t>
            </a:r>
            <a:endParaRPr lang="id-ID" sz="2400" dirty="0" smtClean="0">
              <a:solidFill>
                <a:schemeClr val="bg1"/>
              </a:solidFill>
              <a:latin typeface="Bradley Hand ITC" pitchFamily="66" charset="0"/>
            </a:endParaRPr>
          </a:p>
          <a:p>
            <a:pPr marL="457200" indent="-457200"/>
            <a:endParaRPr lang="id-ID" sz="2400" dirty="0" smtClean="0">
              <a:solidFill>
                <a:schemeClr val="bg1"/>
              </a:solidFill>
              <a:latin typeface="Bradley Hand ITC" pitchFamily="66" charset="0"/>
            </a:endParaRPr>
          </a:p>
          <a:p>
            <a:pPr marL="457200" indent="-457200">
              <a:buFont typeface="+mj-lt"/>
              <a:buAutoNum type="arabicPeriod"/>
            </a:pPr>
            <a:endParaRPr lang="id-ID" sz="2400" dirty="0" smtClean="0">
              <a:solidFill>
                <a:schemeClr val="bg1"/>
              </a:solidFill>
              <a:latin typeface="Bradley Hand ITC" pitchFamily="66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1472" y="2285992"/>
            <a:ext cx="8011340" cy="4000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1849</TotalTime>
  <Words>220</Words>
  <Application>Microsoft Office PowerPoint</Application>
  <PresentationFormat>On-screen Show (4:3)</PresentationFormat>
  <Paragraphs>73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</dc:title>
  <dc:creator>Diatri Indradewi</dc:creator>
  <cp:lastModifiedBy>Diatri Indradewi</cp:lastModifiedBy>
  <cp:revision>212</cp:revision>
  <dcterms:created xsi:type="dcterms:W3CDTF">2012-02-27T12:10:37Z</dcterms:created>
  <dcterms:modified xsi:type="dcterms:W3CDTF">2012-03-14T15:36:43Z</dcterms:modified>
</cp:coreProperties>
</file>