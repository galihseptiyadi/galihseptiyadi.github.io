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Layouts/slideLayout1.xml" ContentType="application/vnd.openxmlformats-officedocument.presentationml.slideLayout+xml"/>
  <Default Extension="docx" ContentType="application/vnd.openxmlformats-officedocument.wordprocessingml.document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Default Extension="emf" ContentType="image/x-emf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1" r:id="rId2"/>
    <p:sldId id="293" r:id="rId3"/>
    <p:sldId id="294" r:id="rId4"/>
    <p:sldId id="310" r:id="rId5"/>
    <p:sldId id="311" r:id="rId6"/>
    <p:sldId id="312" r:id="rId7"/>
    <p:sldId id="297" r:id="rId8"/>
    <p:sldId id="313" r:id="rId9"/>
    <p:sldId id="314" r:id="rId10"/>
    <p:sldId id="315" r:id="rId11"/>
    <p:sldId id="290" r:id="rId12"/>
    <p:sldId id="299" r:id="rId13"/>
    <p:sldId id="300" r:id="rId14"/>
    <p:sldId id="301" r:id="rId15"/>
    <p:sldId id="302" r:id="rId16"/>
    <p:sldId id="305" r:id="rId17"/>
    <p:sldId id="306" r:id="rId18"/>
    <p:sldId id="303" r:id="rId19"/>
    <p:sldId id="304" r:id="rId20"/>
    <p:sldId id="307" r:id="rId21"/>
    <p:sldId id="308" r:id="rId22"/>
    <p:sldId id="309" r:id="rId23"/>
    <p:sldId id="317" r:id="rId24"/>
    <p:sldId id="316" r:id="rId25"/>
    <p:sldId id="318" r:id="rId26"/>
    <p:sldId id="319" r:id="rId27"/>
    <p:sldId id="320" r:id="rId28"/>
    <p:sldId id="321" r:id="rId29"/>
    <p:sldId id="322" r:id="rId30"/>
    <p:sldId id="323" r:id="rId31"/>
    <p:sldId id="324" r:id="rId32"/>
    <p:sldId id="325" r:id="rId33"/>
    <p:sldId id="326" r:id="rId34"/>
    <p:sldId id="327" r:id="rId35"/>
    <p:sldId id="328" r:id="rId36"/>
  </p:sldIdLst>
  <p:sldSz cx="9144000" cy="6858000" type="screen4x3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110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image" Target="../media/image7.emf"/><Relationship Id="rId5" Type="http://schemas.openxmlformats.org/officeDocument/2006/relationships/image" Target="../media/image11.emf"/><Relationship Id="rId4" Type="http://schemas.openxmlformats.org/officeDocument/2006/relationships/image" Target="../media/image10.e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9.emf"/><Relationship Id="rId1" Type="http://schemas.openxmlformats.org/officeDocument/2006/relationships/image" Target="../media/image10.emf"/><Relationship Id="rId5" Type="http://schemas.openxmlformats.org/officeDocument/2006/relationships/image" Target="../media/image7.emf"/><Relationship Id="rId4" Type="http://schemas.openxmlformats.org/officeDocument/2006/relationships/image" Target="../media/image11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image" Target="../media/image8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10.emf"/><Relationship Id="rId1" Type="http://schemas.openxmlformats.org/officeDocument/2006/relationships/image" Target="../media/image7.e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emf"/><Relationship Id="rId1" Type="http://schemas.openxmlformats.org/officeDocument/2006/relationships/image" Target="../media/image12.emf"/><Relationship Id="rId4" Type="http://schemas.openxmlformats.org/officeDocument/2006/relationships/image" Target="../media/image15.e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image" Target="../media/image9.e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23.emf"/><Relationship Id="rId3" Type="http://schemas.openxmlformats.org/officeDocument/2006/relationships/image" Target="../media/image18.emf"/><Relationship Id="rId7" Type="http://schemas.openxmlformats.org/officeDocument/2006/relationships/image" Target="../media/image22.emf"/><Relationship Id="rId2" Type="http://schemas.openxmlformats.org/officeDocument/2006/relationships/image" Target="../media/image17.emf"/><Relationship Id="rId1" Type="http://schemas.openxmlformats.org/officeDocument/2006/relationships/image" Target="../media/image16.emf"/><Relationship Id="rId6" Type="http://schemas.openxmlformats.org/officeDocument/2006/relationships/image" Target="../media/image21.emf"/><Relationship Id="rId5" Type="http://schemas.openxmlformats.org/officeDocument/2006/relationships/image" Target="../media/image20.emf"/><Relationship Id="rId4" Type="http://schemas.openxmlformats.org/officeDocument/2006/relationships/image" Target="../media/image19.e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image" Target="../media/image25.emf"/><Relationship Id="rId1" Type="http://schemas.openxmlformats.org/officeDocument/2006/relationships/image" Target="../media/image24.e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28.emf"/><Relationship Id="rId1" Type="http://schemas.openxmlformats.org/officeDocument/2006/relationships/image" Target="../media/image27.e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image" Target="../media/image30.e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image" Target="../media/image33.emf"/><Relationship Id="rId1" Type="http://schemas.openxmlformats.org/officeDocument/2006/relationships/image" Target="../media/image32.emf"/><Relationship Id="rId4" Type="http://schemas.openxmlformats.org/officeDocument/2006/relationships/image" Target="../media/image35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7.emf"/></Relationships>
</file>

<file path=ppt/drawings/_rels/vmlDrawing15.vml.rels><?xml version="1.0" encoding="UTF-8" standalone="yes"?>
<Relationships xmlns="http://schemas.openxmlformats.org/package/2006/relationships"><Relationship Id="rId8" Type="http://schemas.openxmlformats.org/officeDocument/2006/relationships/image" Target="../media/image45.emf"/><Relationship Id="rId3" Type="http://schemas.openxmlformats.org/officeDocument/2006/relationships/image" Target="../media/image40.emf"/><Relationship Id="rId7" Type="http://schemas.openxmlformats.org/officeDocument/2006/relationships/image" Target="../media/image44.emf"/><Relationship Id="rId2" Type="http://schemas.openxmlformats.org/officeDocument/2006/relationships/image" Target="../media/image39.emf"/><Relationship Id="rId1" Type="http://schemas.openxmlformats.org/officeDocument/2006/relationships/image" Target="../media/image38.emf"/><Relationship Id="rId6" Type="http://schemas.openxmlformats.org/officeDocument/2006/relationships/image" Target="../media/image43.emf"/><Relationship Id="rId11" Type="http://schemas.openxmlformats.org/officeDocument/2006/relationships/image" Target="../media/image48.emf"/><Relationship Id="rId5" Type="http://schemas.openxmlformats.org/officeDocument/2006/relationships/image" Target="../media/image42.emf"/><Relationship Id="rId10" Type="http://schemas.openxmlformats.org/officeDocument/2006/relationships/image" Target="../media/image47.emf"/><Relationship Id="rId4" Type="http://schemas.openxmlformats.org/officeDocument/2006/relationships/image" Target="../media/image41.emf"/><Relationship Id="rId9" Type="http://schemas.openxmlformats.org/officeDocument/2006/relationships/image" Target="../media/image46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06DFF-C232-440E-A782-80658891558A}" type="datetimeFigureOut">
              <a:rPr lang="id-ID" smtClean="0"/>
              <a:pPr/>
              <a:t>11/04/2012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5B90E-CC03-4162-87D7-E9F13E27E73C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06DFF-C232-440E-A782-80658891558A}" type="datetimeFigureOut">
              <a:rPr lang="id-ID" smtClean="0"/>
              <a:pPr/>
              <a:t>11/04/2012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5B90E-CC03-4162-87D7-E9F13E27E73C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06DFF-C232-440E-A782-80658891558A}" type="datetimeFigureOut">
              <a:rPr lang="id-ID" smtClean="0"/>
              <a:pPr/>
              <a:t>11/04/2012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5B90E-CC03-4162-87D7-E9F13E27E73C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06DFF-C232-440E-A782-80658891558A}" type="datetimeFigureOut">
              <a:rPr lang="id-ID" smtClean="0"/>
              <a:pPr/>
              <a:t>11/04/2012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5B90E-CC03-4162-87D7-E9F13E27E73C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06DFF-C232-440E-A782-80658891558A}" type="datetimeFigureOut">
              <a:rPr lang="id-ID" smtClean="0"/>
              <a:pPr/>
              <a:t>11/04/2012</a:t>
            </a:fld>
            <a:endParaRPr lang="id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5B90E-CC03-4162-87D7-E9F13E27E73C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06DFF-C232-440E-A782-80658891558A}" type="datetimeFigureOut">
              <a:rPr lang="id-ID" smtClean="0"/>
              <a:pPr/>
              <a:t>11/04/2012</a:t>
            </a:fld>
            <a:endParaRPr lang="id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5B90E-CC03-4162-87D7-E9F13E27E73C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06DFF-C232-440E-A782-80658891558A}" type="datetimeFigureOut">
              <a:rPr lang="id-ID" smtClean="0"/>
              <a:pPr/>
              <a:t>11/04/2012</a:t>
            </a:fld>
            <a:endParaRPr lang="id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5B90E-CC03-4162-87D7-E9F13E27E73C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06DFF-C232-440E-A782-80658891558A}" type="datetimeFigureOut">
              <a:rPr lang="id-ID" smtClean="0"/>
              <a:pPr/>
              <a:t>11/04/2012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5B90E-CC03-4162-87D7-E9F13E27E73C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06DFF-C232-440E-A782-80658891558A}" type="datetimeFigureOut">
              <a:rPr lang="id-ID" smtClean="0"/>
              <a:pPr/>
              <a:t>11/04/2012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5B90E-CC03-4162-87D7-E9F13E27E73C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06DFF-C232-440E-A782-80658891558A}" type="datetimeFigureOut">
              <a:rPr lang="id-ID" smtClean="0"/>
              <a:pPr/>
              <a:t>11/04/2012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5B90E-CC03-4162-87D7-E9F13E27E73C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06DFF-C232-440E-A782-80658891558A}" type="datetimeFigureOut">
              <a:rPr lang="id-ID" smtClean="0"/>
              <a:pPr/>
              <a:t>11/04/2012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5B90E-CC03-4162-87D7-E9F13E27E73C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806DFF-C232-440E-A782-80658891558A}" type="datetimeFigureOut">
              <a:rPr lang="id-ID" smtClean="0"/>
              <a:pPr/>
              <a:t>11/04/2012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55B90E-CC03-4162-87D7-E9F13E27E73C}" type="slidenum">
              <a:rPr lang="id-ID" smtClean="0"/>
              <a:pPr/>
              <a:t>‹#›</a:t>
            </a:fld>
            <a:endParaRPr lang="id-ID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Office_Word_Document5.docx"/><Relationship Id="rId3" Type="http://schemas.openxmlformats.org/officeDocument/2006/relationships/image" Target="../media/image3.png"/><Relationship Id="rId7" Type="http://schemas.openxmlformats.org/officeDocument/2006/relationships/package" Target="../embeddings/Microsoft_Office_Word_Document4.docx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package" Target="../embeddings/Microsoft_Office_Word_Document3.docx"/><Relationship Id="rId5" Type="http://schemas.openxmlformats.org/officeDocument/2006/relationships/package" Target="../embeddings/Microsoft_Office_Word_Document2.docx"/><Relationship Id="rId4" Type="http://schemas.openxmlformats.org/officeDocument/2006/relationships/package" Target="../embeddings/Microsoft_Office_Word_Document1.docx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Office_Word_Document10.docx"/><Relationship Id="rId13" Type="http://schemas.openxmlformats.org/officeDocument/2006/relationships/package" Target="../embeddings/Microsoft_Office_Word_Document15.docx"/><Relationship Id="rId18" Type="http://schemas.openxmlformats.org/officeDocument/2006/relationships/package" Target="../embeddings/Microsoft_Office_Word_Document20.docx"/><Relationship Id="rId3" Type="http://schemas.openxmlformats.org/officeDocument/2006/relationships/image" Target="../media/image3.png"/><Relationship Id="rId21" Type="http://schemas.openxmlformats.org/officeDocument/2006/relationships/package" Target="../embeddings/Microsoft_Office_Word_Document23.docx"/><Relationship Id="rId7" Type="http://schemas.openxmlformats.org/officeDocument/2006/relationships/package" Target="../embeddings/Microsoft_Office_Word_Document9.docx"/><Relationship Id="rId12" Type="http://schemas.openxmlformats.org/officeDocument/2006/relationships/package" Target="../embeddings/Microsoft_Office_Word_Document14.docx"/><Relationship Id="rId17" Type="http://schemas.openxmlformats.org/officeDocument/2006/relationships/package" Target="../embeddings/Microsoft_Office_Word_Document19.docx"/><Relationship Id="rId2" Type="http://schemas.openxmlformats.org/officeDocument/2006/relationships/slideLayout" Target="../slideLayouts/slideLayout7.xml"/><Relationship Id="rId16" Type="http://schemas.openxmlformats.org/officeDocument/2006/relationships/package" Target="../embeddings/Microsoft_Office_Word_Document18.docx"/><Relationship Id="rId20" Type="http://schemas.openxmlformats.org/officeDocument/2006/relationships/package" Target="../embeddings/Microsoft_Office_Word_Document22.docx"/><Relationship Id="rId1" Type="http://schemas.openxmlformats.org/officeDocument/2006/relationships/vmlDrawing" Target="../drawings/vmlDrawing2.vml"/><Relationship Id="rId6" Type="http://schemas.openxmlformats.org/officeDocument/2006/relationships/package" Target="../embeddings/Microsoft_Office_Word_Document8.docx"/><Relationship Id="rId11" Type="http://schemas.openxmlformats.org/officeDocument/2006/relationships/package" Target="../embeddings/Microsoft_Office_Word_Document13.docx"/><Relationship Id="rId24" Type="http://schemas.openxmlformats.org/officeDocument/2006/relationships/package" Target="../embeddings/Microsoft_Office_Word_Document26.docx"/><Relationship Id="rId5" Type="http://schemas.openxmlformats.org/officeDocument/2006/relationships/package" Target="../embeddings/Microsoft_Office_Word_Document7.docx"/><Relationship Id="rId15" Type="http://schemas.openxmlformats.org/officeDocument/2006/relationships/package" Target="../embeddings/Microsoft_Office_Word_Document17.docx"/><Relationship Id="rId23" Type="http://schemas.openxmlformats.org/officeDocument/2006/relationships/package" Target="../embeddings/Microsoft_Office_Word_Document25.docx"/><Relationship Id="rId10" Type="http://schemas.openxmlformats.org/officeDocument/2006/relationships/package" Target="../embeddings/Microsoft_Office_Word_Document12.docx"/><Relationship Id="rId19" Type="http://schemas.openxmlformats.org/officeDocument/2006/relationships/package" Target="../embeddings/Microsoft_Office_Word_Document21.docx"/><Relationship Id="rId4" Type="http://schemas.openxmlformats.org/officeDocument/2006/relationships/package" Target="../embeddings/Microsoft_Office_Word_Document6.docx"/><Relationship Id="rId9" Type="http://schemas.openxmlformats.org/officeDocument/2006/relationships/package" Target="../embeddings/Microsoft_Office_Word_Document11.docx"/><Relationship Id="rId14" Type="http://schemas.openxmlformats.org/officeDocument/2006/relationships/package" Target="../embeddings/Microsoft_Office_Word_Document16.docx"/><Relationship Id="rId22" Type="http://schemas.openxmlformats.org/officeDocument/2006/relationships/package" Target="../embeddings/Microsoft_Office_Word_Document24.docx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Office_Word_Document31.docx"/><Relationship Id="rId3" Type="http://schemas.openxmlformats.org/officeDocument/2006/relationships/image" Target="../media/image3.png"/><Relationship Id="rId7" Type="http://schemas.openxmlformats.org/officeDocument/2006/relationships/package" Target="../embeddings/Microsoft_Office_Word_Document30.docx"/><Relationship Id="rId12" Type="http://schemas.openxmlformats.org/officeDocument/2006/relationships/package" Target="../embeddings/Microsoft_Office_Word_Document35.docx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package" Target="../embeddings/Microsoft_Office_Word_Document29.docx"/><Relationship Id="rId11" Type="http://schemas.openxmlformats.org/officeDocument/2006/relationships/package" Target="../embeddings/Microsoft_Office_Word_Document34.docx"/><Relationship Id="rId5" Type="http://schemas.openxmlformats.org/officeDocument/2006/relationships/package" Target="../embeddings/Microsoft_Office_Word_Document28.docx"/><Relationship Id="rId10" Type="http://schemas.openxmlformats.org/officeDocument/2006/relationships/package" Target="../embeddings/Microsoft_Office_Word_Document33.docx"/><Relationship Id="rId4" Type="http://schemas.openxmlformats.org/officeDocument/2006/relationships/package" Target="../embeddings/Microsoft_Office_Word_Document27.docx"/><Relationship Id="rId9" Type="http://schemas.openxmlformats.org/officeDocument/2006/relationships/package" Target="../embeddings/Microsoft_Office_Word_Document32.docx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4" Type="http://schemas.openxmlformats.org/officeDocument/2006/relationships/package" Target="../embeddings/Microsoft_Office_Word_Document36.docx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package" Target="../embeddings/Microsoft_Office_Word_Document40.docx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package" Target="../embeddings/Microsoft_Office_Word_Document39.docx"/><Relationship Id="rId5" Type="http://schemas.openxmlformats.org/officeDocument/2006/relationships/package" Target="../embeddings/Microsoft_Office_Word_Document38.docx"/><Relationship Id="rId4" Type="http://schemas.openxmlformats.org/officeDocument/2006/relationships/package" Target="../embeddings/Microsoft_Office_Word_Document37.docx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Office_Word_Document45.docx"/><Relationship Id="rId13" Type="http://schemas.openxmlformats.org/officeDocument/2006/relationships/package" Target="../embeddings/Microsoft_Office_Word_Document50.docx"/><Relationship Id="rId18" Type="http://schemas.openxmlformats.org/officeDocument/2006/relationships/package" Target="../embeddings/Microsoft_Office_Word_Document55.docx"/><Relationship Id="rId26" Type="http://schemas.openxmlformats.org/officeDocument/2006/relationships/package" Target="../embeddings/Microsoft_Office_Word_Document63.docx"/><Relationship Id="rId3" Type="http://schemas.openxmlformats.org/officeDocument/2006/relationships/image" Target="../media/image3.png"/><Relationship Id="rId21" Type="http://schemas.openxmlformats.org/officeDocument/2006/relationships/package" Target="../embeddings/Microsoft_Office_Word_Document58.docx"/><Relationship Id="rId34" Type="http://schemas.openxmlformats.org/officeDocument/2006/relationships/package" Target="../embeddings/Microsoft_Office_Word_Document71.docx"/><Relationship Id="rId7" Type="http://schemas.openxmlformats.org/officeDocument/2006/relationships/package" Target="../embeddings/Microsoft_Office_Word_Document44.docx"/><Relationship Id="rId12" Type="http://schemas.openxmlformats.org/officeDocument/2006/relationships/package" Target="../embeddings/Microsoft_Office_Word_Document49.docx"/><Relationship Id="rId17" Type="http://schemas.openxmlformats.org/officeDocument/2006/relationships/package" Target="../embeddings/Microsoft_Office_Word_Document54.docx"/><Relationship Id="rId25" Type="http://schemas.openxmlformats.org/officeDocument/2006/relationships/package" Target="../embeddings/Microsoft_Office_Word_Document62.docx"/><Relationship Id="rId33" Type="http://schemas.openxmlformats.org/officeDocument/2006/relationships/package" Target="../embeddings/Microsoft_Office_Word_Document70.docx"/><Relationship Id="rId2" Type="http://schemas.openxmlformats.org/officeDocument/2006/relationships/slideLayout" Target="../slideLayouts/slideLayout7.xml"/><Relationship Id="rId16" Type="http://schemas.openxmlformats.org/officeDocument/2006/relationships/package" Target="../embeddings/Microsoft_Office_Word_Document53.docx"/><Relationship Id="rId20" Type="http://schemas.openxmlformats.org/officeDocument/2006/relationships/package" Target="../embeddings/Microsoft_Office_Word_Document57.docx"/><Relationship Id="rId29" Type="http://schemas.openxmlformats.org/officeDocument/2006/relationships/package" Target="../embeddings/Microsoft_Office_Word_Document66.docx"/><Relationship Id="rId1" Type="http://schemas.openxmlformats.org/officeDocument/2006/relationships/vmlDrawing" Target="../drawings/vmlDrawing6.vml"/><Relationship Id="rId6" Type="http://schemas.openxmlformats.org/officeDocument/2006/relationships/package" Target="../embeddings/Microsoft_Office_Word_Document43.docx"/><Relationship Id="rId11" Type="http://schemas.openxmlformats.org/officeDocument/2006/relationships/package" Target="../embeddings/Microsoft_Office_Word_Document48.docx"/><Relationship Id="rId24" Type="http://schemas.openxmlformats.org/officeDocument/2006/relationships/package" Target="../embeddings/Microsoft_Office_Word_Document61.docx"/><Relationship Id="rId32" Type="http://schemas.openxmlformats.org/officeDocument/2006/relationships/package" Target="../embeddings/Microsoft_Office_Word_Document69.docx"/><Relationship Id="rId5" Type="http://schemas.openxmlformats.org/officeDocument/2006/relationships/package" Target="../embeddings/Microsoft_Office_Word_Document42.docx"/><Relationship Id="rId15" Type="http://schemas.openxmlformats.org/officeDocument/2006/relationships/package" Target="../embeddings/Microsoft_Office_Word_Document52.docx"/><Relationship Id="rId23" Type="http://schemas.openxmlformats.org/officeDocument/2006/relationships/package" Target="../embeddings/Microsoft_Office_Word_Document60.docx"/><Relationship Id="rId28" Type="http://schemas.openxmlformats.org/officeDocument/2006/relationships/package" Target="../embeddings/Microsoft_Office_Word_Document65.docx"/><Relationship Id="rId10" Type="http://schemas.openxmlformats.org/officeDocument/2006/relationships/package" Target="../embeddings/Microsoft_Office_Word_Document47.docx"/><Relationship Id="rId19" Type="http://schemas.openxmlformats.org/officeDocument/2006/relationships/package" Target="../embeddings/Microsoft_Office_Word_Document56.docx"/><Relationship Id="rId31" Type="http://schemas.openxmlformats.org/officeDocument/2006/relationships/package" Target="../embeddings/Microsoft_Office_Word_Document68.docx"/><Relationship Id="rId4" Type="http://schemas.openxmlformats.org/officeDocument/2006/relationships/package" Target="../embeddings/Microsoft_Office_Word_Document41.docx"/><Relationship Id="rId9" Type="http://schemas.openxmlformats.org/officeDocument/2006/relationships/package" Target="../embeddings/Microsoft_Office_Word_Document46.docx"/><Relationship Id="rId14" Type="http://schemas.openxmlformats.org/officeDocument/2006/relationships/package" Target="../embeddings/Microsoft_Office_Word_Document51.docx"/><Relationship Id="rId22" Type="http://schemas.openxmlformats.org/officeDocument/2006/relationships/package" Target="../embeddings/Microsoft_Office_Word_Document59.docx"/><Relationship Id="rId27" Type="http://schemas.openxmlformats.org/officeDocument/2006/relationships/package" Target="../embeddings/Microsoft_Office_Word_Document64.docx"/><Relationship Id="rId30" Type="http://schemas.openxmlformats.org/officeDocument/2006/relationships/package" Target="../embeddings/Microsoft_Office_Word_Document67.docx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Office_Word_Document76.docx"/><Relationship Id="rId3" Type="http://schemas.openxmlformats.org/officeDocument/2006/relationships/image" Target="../media/image3.png"/><Relationship Id="rId7" Type="http://schemas.openxmlformats.org/officeDocument/2006/relationships/package" Target="../embeddings/Microsoft_Office_Word_Document75.docx"/><Relationship Id="rId12" Type="http://schemas.openxmlformats.org/officeDocument/2006/relationships/package" Target="../embeddings/Microsoft_Office_Word_Document80.docx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package" Target="../embeddings/Microsoft_Office_Word_Document74.docx"/><Relationship Id="rId11" Type="http://schemas.openxmlformats.org/officeDocument/2006/relationships/package" Target="../embeddings/Microsoft_Office_Word_Document79.docx"/><Relationship Id="rId5" Type="http://schemas.openxmlformats.org/officeDocument/2006/relationships/package" Target="../embeddings/Microsoft_Office_Word_Document73.docx"/><Relationship Id="rId10" Type="http://schemas.openxmlformats.org/officeDocument/2006/relationships/package" Target="../embeddings/Microsoft_Office_Word_Document78.docx"/><Relationship Id="rId4" Type="http://schemas.openxmlformats.org/officeDocument/2006/relationships/package" Target="../embeddings/Microsoft_Office_Word_Document72.docx"/><Relationship Id="rId9" Type="http://schemas.openxmlformats.org/officeDocument/2006/relationships/package" Target="../embeddings/Microsoft_Office_Word_Document77.docx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Office_Word_Document85.docx"/><Relationship Id="rId3" Type="http://schemas.openxmlformats.org/officeDocument/2006/relationships/image" Target="../media/image3.png"/><Relationship Id="rId7" Type="http://schemas.openxmlformats.org/officeDocument/2006/relationships/package" Target="../embeddings/Microsoft_Office_Word_Document84.docx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package" Target="../embeddings/Microsoft_Office_Word_Document83.docx"/><Relationship Id="rId11" Type="http://schemas.openxmlformats.org/officeDocument/2006/relationships/package" Target="../embeddings/Microsoft_Office_Word_Document88.docx"/><Relationship Id="rId5" Type="http://schemas.openxmlformats.org/officeDocument/2006/relationships/package" Target="../embeddings/Microsoft_Office_Word_Document82.docx"/><Relationship Id="rId10" Type="http://schemas.openxmlformats.org/officeDocument/2006/relationships/package" Target="../embeddings/Microsoft_Office_Word_Document87.docx"/><Relationship Id="rId4" Type="http://schemas.openxmlformats.org/officeDocument/2006/relationships/package" Target="../embeddings/Microsoft_Office_Word_Document81.docx"/><Relationship Id="rId9" Type="http://schemas.openxmlformats.org/officeDocument/2006/relationships/package" Target="../embeddings/Microsoft_Office_Word_Document86.docx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package" Target="../embeddings/Microsoft_Office_Word_Document91.docx"/><Relationship Id="rId5" Type="http://schemas.openxmlformats.org/officeDocument/2006/relationships/package" Target="../embeddings/Microsoft_Office_Word_Document90.docx"/><Relationship Id="rId4" Type="http://schemas.openxmlformats.org/officeDocument/2006/relationships/package" Target="../embeddings/Microsoft_Office_Word_Document89.docx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6" Type="http://schemas.openxmlformats.org/officeDocument/2006/relationships/package" Target="../embeddings/Microsoft_Office_Word_Document94.docx"/><Relationship Id="rId5" Type="http://schemas.openxmlformats.org/officeDocument/2006/relationships/package" Target="../embeddings/Microsoft_Office_Word_Document93.docx"/><Relationship Id="rId4" Type="http://schemas.openxmlformats.org/officeDocument/2006/relationships/package" Target="../embeddings/Microsoft_Office_Word_Document92.docx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5" Type="http://schemas.openxmlformats.org/officeDocument/2006/relationships/package" Target="../embeddings/Microsoft_Office_Word_Document96.docx"/><Relationship Id="rId4" Type="http://schemas.openxmlformats.org/officeDocument/2006/relationships/package" Target="../embeddings/Microsoft_Office_Word_Document95.docx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package" Target="../embeddings/Microsoft_Office_Word_Document100.docx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6" Type="http://schemas.openxmlformats.org/officeDocument/2006/relationships/package" Target="../embeddings/Microsoft_Office_Word_Document99.docx"/><Relationship Id="rId5" Type="http://schemas.openxmlformats.org/officeDocument/2006/relationships/package" Target="../embeddings/Microsoft_Office_Word_Document98.docx"/><Relationship Id="rId4" Type="http://schemas.openxmlformats.org/officeDocument/2006/relationships/package" Target="../embeddings/Microsoft_Office_Word_Document97.docx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4" Type="http://schemas.openxmlformats.org/officeDocument/2006/relationships/package" Target="../embeddings/Microsoft_Office_Word_Document101.docx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4" Type="http://schemas.openxmlformats.org/officeDocument/2006/relationships/package" Target="../embeddings/Microsoft_Office_Word_Document102.docx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Office_Word_Document107.docx"/><Relationship Id="rId13" Type="http://schemas.openxmlformats.org/officeDocument/2006/relationships/package" Target="../embeddings/Microsoft_Office_Word_Document112.docx"/><Relationship Id="rId3" Type="http://schemas.openxmlformats.org/officeDocument/2006/relationships/image" Target="../media/image3.png"/><Relationship Id="rId7" Type="http://schemas.openxmlformats.org/officeDocument/2006/relationships/package" Target="../embeddings/Microsoft_Office_Word_Document106.docx"/><Relationship Id="rId12" Type="http://schemas.openxmlformats.org/officeDocument/2006/relationships/package" Target="../embeddings/Microsoft_Office_Word_Document111.docx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6" Type="http://schemas.openxmlformats.org/officeDocument/2006/relationships/package" Target="../embeddings/Microsoft_Office_Word_Document105.docx"/><Relationship Id="rId11" Type="http://schemas.openxmlformats.org/officeDocument/2006/relationships/package" Target="../embeddings/Microsoft_Office_Word_Document110.docx"/><Relationship Id="rId5" Type="http://schemas.openxmlformats.org/officeDocument/2006/relationships/package" Target="../embeddings/Microsoft_Office_Word_Document104.docx"/><Relationship Id="rId10" Type="http://schemas.openxmlformats.org/officeDocument/2006/relationships/package" Target="../embeddings/Microsoft_Office_Word_Document109.docx"/><Relationship Id="rId4" Type="http://schemas.openxmlformats.org/officeDocument/2006/relationships/package" Target="../embeddings/Microsoft_Office_Word_Document103.docx"/><Relationship Id="rId9" Type="http://schemas.openxmlformats.org/officeDocument/2006/relationships/package" Target="../embeddings/Microsoft_Office_Word_Document108.docx"/><Relationship Id="rId14" Type="http://schemas.openxmlformats.org/officeDocument/2006/relationships/package" Target="../embeddings/Microsoft_Office_Word_Document113.docx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 flipH="1">
            <a:off x="-357223" y="214290"/>
            <a:ext cx="5357850" cy="4346529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sp>
        <p:nvSpPr>
          <p:cNvPr id="7" name="TextBox 6"/>
          <p:cNvSpPr txBox="1"/>
          <p:nvPr/>
        </p:nvSpPr>
        <p:spPr>
          <a:xfrm rot="21286599">
            <a:off x="1595411" y="908237"/>
            <a:ext cx="297549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id-ID" sz="3600" b="1" dirty="0" smtClean="0">
                <a:latin typeface="Bradley Hand ITC" pitchFamily="66" charset="0"/>
              </a:rPr>
              <a:t>Representasi </a:t>
            </a:r>
          </a:p>
          <a:p>
            <a:pPr algn="r"/>
            <a:r>
              <a:rPr lang="id-ID" sz="3600" b="1" dirty="0" smtClean="0">
                <a:latin typeface="Bradley Hand ITC" pitchFamily="66" charset="0"/>
              </a:rPr>
              <a:t>Pengetahuan I</a:t>
            </a:r>
            <a:endParaRPr lang="id-ID" sz="3600" b="1" dirty="0">
              <a:latin typeface="Bradley Hand ITC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621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4" name="TextBox 43"/>
          <p:cNvSpPr txBox="1"/>
          <p:nvPr/>
        </p:nvSpPr>
        <p:spPr>
          <a:xfrm>
            <a:off x="357158" y="1442853"/>
            <a:ext cx="6300443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60363" indent="-360363">
              <a:buFont typeface="Arial" pitchFamily="34" charset="0"/>
              <a:buChar char="•"/>
            </a:pP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Pengetahuan yang didapatkan dari suatu </a:t>
            </a:r>
          </a:p>
          <a:p>
            <a:pPr marL="360363" indent="-360363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	domain merupakan informasi</a:t>
            </a:r>
          </a:p>
          <a:p>
            <a:pPr marL="360363" indent="-360363"/>
            <a:endParaRPr lang="id-ID" sz="2400" dirty="0" smtClean="0">
              <a:solidFill>
                <a:schemeClr val="bg1"/>
              </a:solidFill>
              <a:latin typeface="Bradley Hand ITC" pitchFamily="66" charset="0"/>
            </a:endParaRPr>
          </a:p>
          <a:p>
            <a:pPr marL="360363" indent="-360363">
              <a:buFont typeface="Arial" pitchFamily="34" charset="0"/>
              <a:buChar char="•"/>
            </a:pP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Agar pengetahuan yang diperoleh memiliki </a:t>
            </a:r>
          </a:p>
          <a:p>
            <a:pPr marL="360363" indent="-360363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	arti maka harus diorganisasikan ke dalam</a:t>
            </a:r>
          </a:p>
          <a:p>
            <a:pPr marL="360363" indent="-360363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	basis pengetahuan </a:t>
            </a:r>
            <a:r>
              <a:rPr lang="id-ID" sz="2400" i="1" dirty="0" smtClean="0">
                <a:solidFill>
                  <a:schemeClr val="bg1"/>
                </a:solidFill>
                <a:latin typeface="Bradley Hand ITC" pitchFamily="66" charset="0"/>
              </a:rPr>
              <a:t>(knowledge base) </a:t>
            </a: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agar</a:t>
            </a:r>
          </a:p>
          <a:p>
            <a:pPr marL="360363" indent="-360363"/>
            <a:r>
              <a:rPr lang="id-ID" sz="2400" i="1" dirty="0" smtClean="0">
                <a:solidFill>
                  <a:schemeClr val="bg1"/>
                </a:solidFill>
                <a:latin typeface="Bradley Hand ITC" pitchFamily="66" charset="0"/>
              </a:rPr>
              <a:t>	</a:t>
            </a: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dapat digunakan dengan mudah</a:t>
            </a:r>
            <a:endParaRPr lang="id-ID" sz="2400" i="1" dirty="0" smtClean="0">
              <a:solidFill>
                <a:schemeClr val="bg1"/>
              </a:solidFill>
              <a:latin typeface="Bradley Hand ITC" pitchFamily="66" charset="0"/>
            </a:endParaRPr>
          </a:p>
          <a:p>
            <a:endParaRPr lang="id-ID" sz="2400" dirty="0" smtClean="0">
              <a:solidFill>
                <a:schemeClr val="bg1"/>
              </a:solidFill>
              <a:latin typeface="Bradley Hand ITC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621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4" name="TextBox 43"/>
          <p:cNvSpPr txBox="1"/>
          <p:nvPr/>
        </p:nvSpPr>
        <p:spPr>
          <a:xfrm>
            <a:off x="357158" y="1442853"/>
            <a:ext cx="6068008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60363" indent="-360363">
              <a:buFont typeface="Arial" pitchFamily="34" charset="0"/>
              <a:buChar char="•"/>
            </a:pP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Dua karakteristik umum dari representasi</a:t>
            </a:r>
          </a:p>
          <a:p>
            <a:pPr marL="360363" indent="-360363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	pengetahuan (Turban, 2001) :</a:t>
            </a:r>
          </a:p>
          <a:p>
            <a:pPr marL="900113" indent="-457200">
              <a:buFont typeface="+mj-lt"/>
              <a:buAutoNum type="arabicPeriod"/>
            </a:pP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Dapat diprogram dengan beragam </a:t>
            </a:r>
          </a:p>
          <a:p>
            <a:pPr marL="900113" indent="-457200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	bahasa komputer dan dapat disimpan </a:t>
            </a:r>
          </a:p>
          <a:p>
            <a:pPr marL="900113" indent="-457200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	dalam memori</a:t>
            </a:r>
          </a:p>
          <a:p>
            <a:pPr marL="900113" indent="-457200">
              <a:buAutoNum type="arabicPeriod" startAt="2"/>
            </a:pP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Dapat dirancang sebagai suatu </a:t>
            </a:r>
          </a:p>
          <a:p>
            <a:pPr marL="900113" indent="-457200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	basis data yang dapat dimanipulasi</a:t>
            </a:r>
          </a:p>
          <a:p>
            <a:pPr marL="900113" indent="-457200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	dengan sistem inferensi yang</a:t>
            </a:r>
          </a:p>
          <a:p>
            <a:pPr marL="900113" indent="-457200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	menggunakan pencarian dan</a:t>
            </a:r>
          </a:p>
          <a:p>
            <a:pPr marL="900113" indent="-457200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	teknik pencocokan pola pada </a:t>
            </a:r>
          </a:p>
          <a:p>
            <a:pPr marL="900113" indent="-457200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	basis pengetahuan</a:t>
            </a:r>
          </a:p>
          <a:p>
            <a:endParaRPr lang="id-ID" sz="2400" dirty="0" smtClean="0">
              <a:solidFill>
                <a:schemeClr val="bg1"/>
              </a:solidFill>
              <a:latin typeface="Bradley Hand ITC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621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987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84552" y="1533524"/>
            <a:ext cx="6773596" cy="42529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621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4" name="TextBox 43"/>
          <p:cNvSpPr txBox="1"/>
          <p:nvPr/>
        </p:nvSpPr>
        <p:spPr>
          <a:xfrm>
            <a:off x="357158" y="1442853"/>
            <a:ext cx="4992392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60363" indent="-360363">
              <a:buFont typeface="Arial" pitchFamily="34" charset="0"/>
              <a:buChar char="•"/>
            </a:pP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Teknik representasi pengetahuan :</a:t>
            </a:r>
          </a:p>
          <a:p>
            <a:pPr marL="900113" indent="-457200">
              <a:buFont typeface="+mj-lt"/>
              <a:buAutoNum type="arabicPeriod"/>
            </a:pP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Logika</a:t>
            </a:r>
          </a:p>
          <a:p>
            <a:pPr marL="900113" indent="-457200">
              <a:buFont typeface="+mj-lt"/>
              <a:buAutoNum type="arabicPeriod"/>
            </a:pPr>
            <a:r>
              <a:rPr lang="id-ID" sz="2400" i="1" dirty="0" smtClean="0">
                <a:solidFill>
                  <a:schemeClr val="bg1"/>
                </a:solidFill>
                <a:latin typeface="Bradley Hand ITC" pitchFamily="66" charset="0"/>
              </a:rPr>
              <a:t>Semantic Networks</a:t>
            </a:r>
          </a:p>
          <a:p>
            <a:pPr marL="900113" indent="-457200">
              <a:buFont typeface="+mj-lt"/>
              <a:buAutoNum type="arabicPeriod"/>
            </a:pPr>
            <a:r>
              <a:rPr lang="id-ID" sz="2400" i="1" dirty="0" smtClean="0">
                <a:solidFill>
                  <a:schemeClr val="bg1"/>
                </a:solidFill>
                <a:latin typeface="Bradley Hand ITC" pitchFamily="66" charset="0"/>
              </a:rPr>
              <a:t>Production Rules</a:t>
            </a:r>
          </a:p>
          <a:p>
            <a:pPr marL="900113" indent="-457200">
              <a:buFont typeface="+mj-lt"/>
              <a:buAutoNum type="arabicPeriod"/>
            </a:pPr>
            <a:r>
              <a:rPr lang="id-ID" sz="2400" i="1" dirty="0" smtClean="0">
                <a:solidFill>
                  <a:schemeClr val="bg1"/>
                </a:solidFill>
                <a:latin typeface="Bradley Hand ITC" pitchFamily="66" charset="0"/>
              </a:rPr>
              <a:t>Triplet Object-Attribute-Value</a:t>
            </a:r>
          </a:p>
          <a:p>
            <a:pPr marL="900113" indent="-457200">
              <a:buFont typeface="+mj-lt"/>
              <a:buAutoNum type="arabicPeriod"/>
            </a:pPr>
            <a:r>
              <a:rPr lang="id-ID" sz="2400" i="1" dirty="0" smtClean="0">
                <a:solidFill>
                  <a:schemeClr val="bg1"/>
                </a:solidFill>
                <a:latin typeface="Bradley Hand ITC" pitchFamily="66" charset="0"/>
              </a:rPr>
              <a:t>Frames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 flipH="1">
            <a:off x="-357223" y="214290"/>
            <a:ext cx="5357850" cy="4346529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sp>
        <p:nvSpPr>
          <p:cNvPr id="7" name="TextBox 6"/>
          <p:cNvSpPr txBox="1"/>
          <p:nvPr/>
        </p:nvSpPr>
        <p:spPr>
          <a:xfrm rot="21286599">
            <a:off x="2236615" y="1421058"/>
            <a:ext cx="16930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id-ID" sz="3600" b="1" dirty="0" smtClean="0">
                <a:latin typeface="Bradley Hand ITC" pitchFamily="66" charset="0"/>
              </a:rPr>
              <a:t>Logika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621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4" name="TextBox 43"/>
          <p:cNvSpPr txBox="1"/>
          <p:nvPr/>
        </p:nvSpPr>
        <p:spPr>
          <a:xfrm>
            <a:off x="357158" y="1442853"/>
            <a:ext cx="6343724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60363" indent="-360363">
              <a:buFont typeface="Arial" pitchFamily="34" charset="0"/>
              <a:buChar char="•"/>
            </a:pP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Logika merupakan salah satu bahasa </a:t>
            </a:r>
          </a:p>
          <a:p>
            <a:pPr marL="360363" indent="-360363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	representasi yang paling tua dari studi AI</a:t>
            </a:r>
          </a:p>
          <a:p>
            <a:pPr marL="360363" indent="-360363">
              <a:buFont typeface="Arial" pitchFamily="34" charset="0"/>
              <a:buChar char="•"/>
            </a:pPr>
            <a:endParaRPr lang="id-ID" sz="2400" dirty="0" smtClean="0">
              <a:solidFill>
                <a:schemeClr val="bg1"/>
              </a:solidFill>
              <a:latin typeface="Bradley Hand ITC" pitchFamily="66" charset="0"/>
            </a:endParaRPr>
          </a:p>
          <a:p>
            <a:pPr marL="360363" indent="-360363">
              <a:buFont typeface="Arial" pitchFamily="34" charset="0"/>
              <a:buChar char="•"/>
            </a:pP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Logika merupakan suatu pengkajian ilmiah</a:t>
            </a:r>
          </a:p>
          <a:p>
            <a:pPr marL="360363" indent="-360363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	tentang serangkaian penalaran, sistem</a:t>
            </a:r>
          </a:p>
          <a:p>
            <a:pPr marL="360363" indent="-360363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	kaidah dan prosedur yang membantu</a:t>
            </a:r>
          </a:p>
          <a:p>
            <a:pPr marL="360363" indent="-360363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	proses penalaran	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621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987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9711" y="1714489"/>
            <a:ext cx="8498569" cy="285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621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089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85786" y="1500174"/>
            <a:ext cx="7577864" cy="34909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621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4" name="TextBox 43"/>
          <p:cNvSpPr txBox="1"/>
          <p:nvPr/>
        </p:nvSpPr>
        <p:spPr>
          <a:xfrm>
            <a:off x="357158" y="1000108"/>
            <a:ext cx="6845464" cy="48936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60363" indent="-360363">
              <a:buFont typeface="Arial" pitchFamily="34" charset="0"/>
              <a:buChar char="•"/>
            </a:pP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Untuk melakukan penalaran dengan komputer,</a:t>
            </a:r>
          </a:p>
          <a:p>
            <a:pPr marL="360363" indent="-360363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	komputer harus dapat mengubah penalaran </a:t>
            </a:r>
          </a:p>
          <a:p>
            <a:pPr marL="360363" indent="-360363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	deduktif dan induktif ke dalam bentuk yang</a:t>
            </a:r>
          </a:p>
          <a:p>
            <a:pPr marL="360363" indent="-360363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	sesuai dengan manipulasi komputer yakni</a:t>
            </a:r>
          </a:p>
          <a:p>
            <a:pPr marL="360363" indent="-360363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	dalam logika simbolik</a:t>
            </a:r>
          </a:p>
          <a:p>
            <a:pPr marL="360363" indent="-360363">
              <a:buFont typeface="Arial" pitchFamily="34" charset="0"/>
              <a:buChar char="•"/>
            </a:pPr>
            <a:endParaRPr lang="id-ID" sz="2400" dirty="0" smtClean="0">
              <a:solidFill>
                <a:schemeClr val="bg1"/>
              </a:solidFill>
              <a:latin typeface="Bradley Hand ITC" pitchFamily="66" charset="0"/>
            </a:endParaRPr>
          </a:p>
          <a:p>
            <a:pPr marL="360363" indent="-360363">
              <a:buFont typeface="Arial" pitchFamily="34" charset="0"/>
              <a:buChar char="•"/>
            </a:pP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Metodenya disebut </a:t>
            </a:r>
            <a:r>
              <a:rPr lang="id-ID" sz="2400" b="1" dirty="0" smtClean="0">
                <a:solidFill>
                  <a:schemeClr val="bg1"/>
                </a:solidFill>
                <a:latin typeface="Bradley Hand ITC" pitchFamily="66" charset="0"/>
              </a:rPr>
              <a:t>Logika</a:t>
            </a:r>
          </a:p>
          <a:p>
            <a:pPr marL="360363" indent="-360363"/>
            <a:r>
              <a:rPr lang="id-ID" sz="2400" b="1" dirty="0" smtClean="0">
                <a:solidFill>
                  <a:schemeClr val="bg1"/>
                </a:solidFill>
                <a:latin typeface="Bradley Hand ITC" pitchFamily="66" charset="0"/>
              </a:rPr>
              <a:t>	Komputasional</a:t>
            </a:r>
            <a:endParaRPr lang="id-ID" sz="2400" dirty="0" smtClean="0">
              <a:solidFill>
                <a:schemeClr val="bg1"/>
              </a:solidFill>
              <a:latin typeface="Bradley Hand ITC" pitchFamily="66" charset="0"/>
            </a:endParaRPr>
          </a:p>
          <a:p>
            <a:pPr marL="360363" indent="-360363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 </a:t>
            </a:r>
          </a:p>
          <a:p>
            <a:pPr marL="360363" indent="-360363">
              <a:buFont typeface="Arial" pitchFamily="34" charset="0"/>
              <a:buChar char="•"/>
            </a:pP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Logika komputasional :</a:t>
            </a:r>
          </a:p>
          <a:p>
            <a:pPr marL="900113" indent="-457200">
              <a:buFont typeface="+mj-lt"/>
              <a:buAutoNum type="arabicPeriod"/>
            </a:pP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Logika Proposisi</a:t>
            </a:r>
          </a:p>
          <a:p>
            <a:pPr marL="900113" indent="-457200">
              <a:buFont typeface="+mj-lt"/>
              <a:buAutoNum type="arabicPeriod"/>
            </a:pP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Logika Predikat</a:t>
            </a:r>
          </a:p>
          <a:p>
            <a:pPr marL="360363" indent="-360363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	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621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4" name="TextBox 43"/>
          <p:cNvSpPr txBox="1"/>
          <p:nvPr/>
        </p:nvSpPr>
        <p:spPr>
          <a:xfrm>
            <a:off x="357158" y="1442853"/>
            <a:ext cx="6430286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60363" indent="-360363">
              <a:buFont typeface="Arial" pitchFamily="34" charset="0"/>
              <a:buChar char="•"/>
            </a:pPr>
            <a:r>
              <a:rPr lang="id-ID" sz="2400" b="1" dirty="0" smtClean="0">
                <a:solidFill>
                  <a:schemeClr val="bg1"/>
                </a:solidFill>
                <a:latin typeface="Bradley Hand ITC" pitchFamily="66" charset="0"/>
              </a:rPr>
              <a:t>Proposisi</a:t>
            </a: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 </a:t>
            </a:r>
            <a:r>
              <a:rPr lang="id-ID" sz="2400" b="1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:</a:t>
            </a: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 pernyataan yang hanya memiliki</a:t>
            </a:r>
          </a:p>
          <a:p>
            <a:pPr marL="360363" indent="-360363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	satu nilai benar atau salah</a:t>
            </a:r>
          </a:p>
          <a:p>
            <a:pPr marL="360363" indent="-360363"/>
            <a:endParaRPr lang="id-ID" sz="2400" dirty="0" smtClean="0">
              <a:solidFill>
                <a:schemeClr val="bg1"/>
              </a:solidFill>
              <a:latin typeface="Bradley Hand ITC" pitchFamily="66" charset="0"/>
              <a:sym typeface="Wingdings" pitchFamily="2" charset="2"/>
            </a:endParaRPr>
          </a:p>
          <a:p>
            <a:pPr marL="360363" indent="-360363">
              <a:buFont typeface="Arial" pitchFamily="34" charset="0"/>
              <a:buChar char="•"/>
            </a:pPr>
            <a:r>
              <a:rPr lang="id-ID" sz="2400" b="1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Logika proposisi : </a:t>
            </a: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logika yang menangani</a:t>
            </a:r>
          </a:p>
          <a:p>
            <a:pPr marL="360363" indent="-360363"/>
            <a:r>
              <a:rPr lang="id-ID" sz="2400" b="1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	</a:t>
            </a: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atau memproses penarikan kesimpulan </a:t>
            </a:r>
          </a:p>
          <a:p>
            <a:pPr marL="360363" indent="-360363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	secara logis dari proposisi-proposisi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5074" y="4857760"/>
            <a:ext cx="2786340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id-ID" sz="5400" b="1" cap="none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radley Hand ITC" pitchFamily="66" charset="0"/>
              </a:rPr>
              <a:t>Logika</a:t>
            </a:r>
          </a:p>
          <a:p>
            <a:pPr algn="ctr"/>
            <a:r>
              <a:rPr lang="id-ID" sz="54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radley Hand ITC" pitchFamily="66" charset="0"/>
              </a:rPr>
              <a:t>Proposisi</a:t>
            </a:r>
            <a:endParaRPr lang="en-US" sz="5400" b="1" cap="none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glow rad="228600">
                  <a:schemeClr val="accent5">
                    <a:satMod val="175000"/>
                    <a:alpha val="40000"/>
                  </a:schemeClr>
                </a:glow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radley Hand ITC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68621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4" name="TextBox 43"/>
          <p:cNvSpPr txBox="1"/>
          <p:nvPr/>
        </p:nvSpPr>
        <p:spPr>
          <a:xfrm>
            <a:off x="357158" y="1442853"/>
            <a:ext cx="6269986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60363" indent="-360363">
              <a:buFont typeface="Arial" pitchFamily="34" charset="0"/>
              <a:buChar char="•"/>
            </a:pP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Dua atau lebih proposisi dapat digabungkan</a:t>
            </a:r>
          </a:p>
          <a:p>
            <a:pPr marL="360363" indent="-360363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	dengan menggunakan operator logika :</a:t>
            </a:r>
          </a:p>
          <a:p>
            <a:pPr marL="900113" indent="-457200">
              <a:buFont typeface="+mj-lt"/>
              <a:buAutoNum type="alphaLcPeriod"/>
            </a:pP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Konjungsi : </a:t>
            </a:r>
          </a:p>
          <a:p>
            <a:pPr marL="900113" indent="-457200">
              <a:buFont typeface="+mj-lt"/>
              <a:buAutoNum type="alphaLcPeriod"/>
            </a:pP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Disjungsi :</a:t>
            </a:r>
          </a:p>
          <a:p>
            <a:pPr marL="900113" indent="-457200">
              <a:buFont typeface="+mj-lt"/>
              <a:buAutoNum type="alphaLcPeriod"/>
            </a:pP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Negasi :</a:t>
            </a:r>
          </a:p>
          <a:p>
            <a:pPr marL="900113" indent="-457200">
              <a:buFont typeface="+mj-lt"/>
              <a:buAutoNum type="alphaLcPeriod"/>
            </a:pP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Implikasi :</a:t>
            </a:r>
          </a:p>
          <a:p>
            <a:pPr marL="900113" indent="-457200">
              <a:buFont typeface="+mj-lt"/>
              <a:buAutoNum type="alphaLcPeriod"/>
            </a:pP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Ekuivalensi :</a:t>
            </a: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2974817" y="2217733"/>
          <a:ext cx="3336925" cy="568325"/>
        </p:xfrm>
        <a:graphic>
          <a:graphicData uri="http://schemas.openxmlformats.org/presentationml/2006/ole">
            <p:oleObj spid="_x0000_s48131" name="Document" r:id="rId4" imgW="3337211" imgH="567740" progId="Word.Document.12">
              <p:embed/>
            </p:oleObj>
          </a:graphicData>
        </a:graphic>
      </p:graphicFrame>
      <p:graphicFrame>
        <p:nvGraphicFramePr>
          <p:cNvPr id="48132" name="Object 4"/>
          <p:cNvGraphicFramePr>
            <a:graphicFrameLocks noChangeAspect="1"/>
          </p:cNvGraphicFramePr>
          <p:nvPr/>
        </p:nvGraphicFramePr>
        <p:xfrm>
          <a:off x="2879725" y="2574493"/>
          <a:ext cx="3308350" cy="547687"/>
        </p:xfrm>
        <a:graphic>
          <a:graphicData uri="http://schemas.openxmlformats.org/presentationml/2006/ole">
            <p:oleObj spid="_x0000_s48132" name="Document" r:id="rId5" imgW="3327638" imgH="568460" progId="Word.Document.12">
              <p:embed/>
            </p:oleObj>
          </a:graphicData>
        </a:graphic>
      </p:graphicFrame>
      <p:graphicFrame>
        <p:nvGraphicFramePr>
          <p:cNvPr id="48133" name="Object 5"/>
          <p:cNvGraphicFramePr>
            <a:graphicFrameLocks noChangeAspect="1"/>
          </p:cNvGraphicFramePr>
          <p:nvPr/>
        </p:nvGraphicFramePr>
        <p:xfrm>
          <a:off x="2468563" y="2941638"/>
          <a:ext cx="3306762" cy="547687"/>
        </p:xfrm>
        <a:graphic>
          <a:graphicData uri="http://schemas.openxmlformats.org/presentationml/2006/ole">
            <p:oleObj spid="_x0000_s48133" name="Document" r:id="rId6" imgW="3327638" imgH="568460" progId="Word.Document.12">
              <p:embed/>
            </p:oleObj>
          </a:graphicData>
        </a:graphic>
      </p:graphicFrame>
      <p:graphicFrame>
        <p:nvGraphicFramePr>
          <p:cNvPr id="48134" name="Object 6"/>
          <p:cNvGraphicFramePr>
            <a:graphicFrameLocks noChangeAspect="1"/>
          </p:cNvGraphicFramePr>
          <p:nvPr/>
        </p:nvGraphicFramePr>
        <p:xfrm>
          <a:off x="2803525" y="3306763"/>
          <a:ext cx="3308350" cy="549275"/>
        </p:xfrm>
        <a:graphic>
          <a:graphicData uri="http://schemas.openxmlformats.org/presentationml/2006/ole">
            <p:oleObj spid="_x0000_s48134" name="Document" r:id="rId7" imgW="3327638" imgH="568460" progId="Word.Document.12">
              <p:embed/>
            </p:oleObj>
          </a:graphicData>
        </a:graphic>
      </p:graphicFrame>
      <p:graphicFrame>
        <p:nvGraphicFramePr>
          <p:cNvPr id="48135" name="Object 7"/>
          <p:cNvGraphicFramePr>
            <a:graphicFrameLocks noChangeAspect="1"/>
          </p:cNvGraphicFramePr>
          <p:nvPr/>
        </p:nvGraphicFramePr>
        <p:xfrm>
          <a:off x="3129385" y="3644330"/>
          <a:ext cx="3336925" cy="568325"/>
        </p:xfrm>
        <a:graphic>
          <a:graphicData uri="http://schemas.openxmlformats.org/presentationml/2006/ole">
            <p:oleObj spid="_x0000_s48135" name="Document" r:id="rId8" imgW="3327638" imgH="568460" progId="Word.Document.12">
              <p:embed/>
            </p:oleObj>
          </a:graphicData>
        </a:graphic>
      </p:graphicFrame>
      <p:sp>
        <p:nvSpPr>
          <p:cNvPr id="9" name="Rectangle 8"/>
          <p:cNvSpPr/>
          <p:nvPr/>
        </p:nvSpPr>
        <p:spPr>
          <a:xfrm>
            <a:off x="6215074" y="4857760"/>
            <a:ext cx="2786340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id-ID" sz="5400" b="1" cap="none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radley Hand ITC" pitchFamily="66" charset="0"/>
              </a:rPr>
              <a:t>Logika</a:t>
            </a:r>
          </a:p>
          <a:p>
            <a:pPr algn="ctr"/>
            <a:r>
              <a:rPr lang="id-ID" sz="54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radley Hand ITC" pitchFamily="66" charset="0"/>
              </a:rPr>
              <a:t>Proposisi</a:t>
            </a:r>
            <a:endParaRPr lang="en-US" sz="5400" b="1" cap="none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glow rad="228600">
                  <a:schemeClr val="accent5">
                    <a:satMod val="175000"/>
                    <a:alpha val="40000"/>
                  </a:schemeClr>
                </a:glow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radley Hand ITC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621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4" name="TextBox 43"/>
          <p:cNvSpPr txBox="1"/>
          <p:nvPr/>
        </p:nvSpPr>
        <p:spPr>
          <a:xfrm>
            <a:off x="357158" y="1442853"/>
            <a:ext cx="610167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60363" indent="-360363">
              <a:buFont typeface="Arial" pitchFamily="34" charset="0"/>
              <a:buChar char="•"/>
            </a:pPr>
            <a:r>
              <a:rPr lang="id-ID" sz="2400" b="1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Resolusi : </a:t>
            </a: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suatu aturan untuk melakukan</a:t>
            </a:r>
          </a:p>
          <a:p>
            <a:pPr marL="360363" indent="-360363"/>
            <a:r>
              <a:rPr lang="id-ID" sz="2400" b="1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	</a:t>
            </a: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inferensi yang dapat berjalan secara </a:t>
            </a:r>
          </a:p>
          <a:p>
            <a:pPr marL="360363" indent="-360363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	efisien dalam suatu bentuk khusus,</a:t>
            </a:r>
          </a:p>
          <a:p>
            <a:pPr marL="360363" indent="-360363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	</a:t>
            </a:r>
            <a:r>
              <a:rPr lang="id-ID" sz="2400" i="1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conjunctive normal form </a:t>
            </a: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(CNF)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5074" y="4857760"/>
            <a:ext cx="2786340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id-ID" sz="5400" b="1" cap="none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radley Hand ITC" pitchFamily="66" charset="0"/>
              </a:rPr>
              <a:t>Logika</a:t>
            </a:r>
          </a:p>
          <a:p>
            <a:pPr algn="ctr"/>
            <a:r>
              <a:rPr lang="id-ID" sz="54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radley Hand ITC" pitchFamily="66" charset="0"/>
              </a:rPr>
              <a:t>Proposisi</a:t>
            </a:r>
            <a:endParaRPr lang="en-US" sz="5400" b="1" cap="none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glow rad="228600">
                  <a:schemeClr val="accent5">
                    <a:satMod val="175000"/>
                    <a:alpha val="40000"/>
                  </a:schemeClr>
                </a:glow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radley Hand ITC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68621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4" name="TextBox 43"/>
          <p:cNvSpPr txBox="1"/>
          <p:nvPr/>
        </p:nvSpPr>
        <p:spPr>
          <a:xfrm>
            <a:off x="357158" y="1442853"/>
            <a:ext cx="6314870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60363" indent="-360363">
              <a:buFont typeface="Arial" pitchFamily="34" charset="0"/>
              <a:buChar char="•"/>
            </a:pP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Konversi kalimat dalam bentuk logika</a:t>
            </a:r>
          </a:p>
          <a:p>
            <a:pPr marL="360363" indent="-360363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	proposisi ke CNF :</a:t>
            </a:r>
          </a:p>
          <a:p>
            <a:pPr marL="900113" indent="-457200">
              <a:buFont typeface="+mj-lt"/>
              <a:buAutoNum type="arabicPeriod"/>
            </a:pP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Hilangkan implikasi dan ekuivalensi</a:t>
            </a:r>
          </a:p>
          <a:p>
            <a:pPr marL="1344613" indent="-457200">
              <a:buFont typeface="Arial" pitchFamily="34" charset="0"/>
              <a:buChar char="•"/>
            </a:pP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x       y menjadi     x    y</a:t>
            </a:r>
          </a:p>
          <a:p>
            <a:pPr marL="1344613" indent="-457200">
              <a:buFont typeface="Arial" pitchFamily="34" charset="0"/>
              <a:buChar char="•"/>
            </a:pP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x       y menjadi (    x    y)    (   y    x)</a:t>
            </a:r>
          </a:p>
          <a:p>
            <a:pPr marL="900113" indent="-457200">
              <a:buAutoNum type="arabicPeriod" startAt="2"/>
            </a:pP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Kurangi lingkup semua negasi</a:t>
            </a:r>
          </a:p>
          <a:p>
            <a:pPr marL="900113" indent="-457200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	menjadi satu negasi saja</a:t>
            </a:r>
          </a:p>
          <a:p>
            <a:pPr marL="1344613" indent="-457200" defTabSz="1441450">
              <a:buFont typeface="Arial" pitchFamily="34" charset="0"/>
              <a:buChar char="•"/>
            </a:pP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   (   x) menjadi x</a:t>
            </a:r>
          </a:p>
          <a:p>
            <a:pPr marL="1344613" indent="-457200" defTabSz="1441450">
              <a:buFont typeface="Arial" pitchFamily="34" charset="0"/>
              <a:buChar char="•"/>
            </a:pP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   (x     y) menjadi (   x       y)</a:t>
            </a:r>
          </a:p>
          <a:p>
            <a:pPr marL="1344613" indent="-457200" defTabSz="1441450">
              <a:buFont typeface="Arial" pitchFamily="34" charset="0"/>
              <a:buChar char="•"/>
            </a:pP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   (x     y) menjadi (   x       y)</a:t>
            </a:r>
          </a:p>
          <a:p>
            <a:pPr marL="1344613" indent="-457200" defTabSz="1441450">
              <a:buFont typeface="Arial" pitchFamily="34" charset="0"/>
              <a:buChar char="•"/>
            </a:pPr>
            <a:endParaRPr lang="id-ID" sz="2400" dirty="0" smtClean="0">
              <a:solidFill>
                <a:schemeClr val="bg1"/>
              </a:solidFill>
              <a:latin typeface="Bradley Hand ITC" pitchFamily="66" charset="0"/>
              <a:sym typeface="Wingdings" pitchFamily="2" charset="2"/>
            </a:endParaRPr>
          </a:p>
          <a:p>
            <a:pPr marL="1344613" indent="-457200" defTabSz="1260475">
              <a:buFont typeface="Arial" pitchFamily="34" charset="0"/>
              <a:buChar char="•"/>
            </a:pPr>
            <a:endParaRPr lang="id-ID" sz="2400" dirty="0" smtClean="0">
              <a:solidFill>
                <a:schemeClr val="bg1"/>
              </a:solidFill>
              <a:latin typeface="Bradley Hand ITC" pitchFamily="66" charset="0"/>
              <a:sym typeface="Wingdings" pitchFamily="2" charset="2"/>
            </a:endParaRPr>
          </a:p>
        </p:txBody>
      </p:sp>
      <p:graphicFrame>
        <p:nvGraphicFramePr>
          <p:cNvPr id="49154" name="Object 2"/>
          <p:cNvGraphicFramePr>
            <a:graphicFrameLocks noChangeAspect="1"/>
          </p:cNvGraphicFramePr>
          <p:nvPr/>
        </p:nvGraphicFramePr>
        <p:xfrm>
          <a:off x="2027942" y="2571744"/>
          <a:ext cx="3308350" cy="549275"/>
        </p:xfrm>
        <a:graphic>
          <a:graphicData uri="http://schemas.openxmlformats.org/presentationml/2006/ole">
            <p:oleObj spid="_x0000_s49154" name="Document" r:id="rId4" imgW="3327638" imgH="568460" progId="Word.Document.12">
              <p:embed/>
            </p:oleObj>
          </a:graphicData>
        </a:graphic>
      </p:graphicFrame>
      <p:graphicFrame>
        <p:nvGraphicFramePr>
          <p:cNvPr id="49155" name="Object 3"/>
          <p:cNvGraphicFramePr>
            <a:graphicFrameLocks noChangeAspect="1"/>
          </p:cNvGraphicFramePr>
          <p:nvPr/>
        </p:nvGraphicFramePr>
        <p:xfrm>
          <a:off x="3908444" y="2571744"/>
          <a:ext cx="3306762" cy="547687"/>
        </p:xfrm>
        <a:graphic>
          <a:graphicData uri="http://schemas.openxmlformats.org/presentationml/2006/ole">
            <p:oleObj spid="_x0000_s49155" name="Document" r:id="rId5" imgW="3327638" imgH="568460" progId="Word.Document.12">
              <p:embed/>
            </p:oleObj>
          </a:graphicData>
        </a:graphic>
      </p:graphicFrame>
      <p:graphicFrame>
        <p:nvGraphicFramePr>
          <p:cNvPr id="49156" name="Object 4"/>
          <p:cNvGraphicFramePr>
            <a:graphicFrameLocks noChangeAspect="1"/>
          </p:cNvGraphicFramePr>
          <p:nvPr/>
        </p:nvGraphicFramePr>
        <p:xfrm>
          <a:off x="4390904" y="2588780"/>
          <a:ext cx="3308350" cy="547688"/>
        </p:xfrm>
        <a:graphic>
          <a:graphicData uri="http://schemas.openxmlformats.org/presentationml/2006/ole">
            <p:oleObj spid="_x0000_s49156" name="Document" r:id="rId6" imgW="3327638" imgH="568460" progId="Word.Document.12">
              <p:embed/>
            </p:oleObj>
          </a:graphicData>
        </a:graphic>
      </p:graphicFrame>
      <p:graphicFrame>
        <p:nvGraphicFramePr>
          <p:cNvPr id="49157" name="Object 5"/>
          <p:cNvGraphicFramePr>
            <a:graphicFrameLocks noChangeAspect="1"/>
          </p:cNvGraphicFramePr>
          <p:nvPr/>
        </p:nvGraphicFramePr>
        <p:xfrm>
          <a:off x="2011924" y="2956644"/>
          <a:ext cx="3336925" cy="568325"/>
        </p:xfrm>
        <a:graphic>
          <a:graphicData uri="http://schemas.openxmlformats.org/presentationml/2006/ole">
            <p:oleObj spid="_x0000_s49157" name="Document" r:id="rId7" imgW="3327638" imgH="568460" progId="Word.Document.12">
              <p:embed/>
            </p:oleObj>
          </a:graphicData>
        </a:graphic>
      </p:graphicFrame>
      <p:graphicFrame>
        <p:nvGraphicFramePr>
          <p:cNvPr id="49158" name="Object 6"/>
          <p:cNvGraphicFramePr>
            <a:graphicFrameLocks noChangeAspect="1"/>
          </p:cNvGraphicFramePr>
          <p:nvPr/>
        </p:nvGraphicFramePr>
        <p:xfrm>
          <a:off x="4051319" y="2928934"/>
          <a:ext cx="3306763" cy="547688"/>
        </p:xfrm>
        <a:graphic>
          <a:graphicData uri="http://schemas.openxmlformats.org/presentationml/2006/ole">
            <p:oleObj spid="_x0000_s49158" name="Document" r:id="rId8" imgW="3327638" imgH="568460" progId="Word.Document.12">
              <p:embed/>
            </p:oleObj>
          </a:graphicData>
        </a:graphic>
      </p:graphicFrame>
      <p:graphicFrame>
        <p:nvGraphicFramePr>
          <p:cNvPr id="49159" name="Object 7"/>
          <p:cNvGraphicFramePr>
            <a:graphicFrameLocks noChangeAspect="1"/>
          </p:cNvGraphicFramePr>
          <p:nvPr/>
        </p:nvGraphicFramePr>
        <p:xfrm>
          <a:off x="4519925" y="2952751"/>
          <a:ext cx="3308350" cy="547687"/>
        </p:xfrm>
        <a:graphic>
          <a:graphicData uri="http://schemas.openxmlformats.org/presentationml/2006/ole">
            <p:oleObj spid="_x0000_s49159" name="Document" r:id="rId9" imgW="3327638" imgH="568460" progId="Word.Document.12">
              <p:embed/>
            </p:oleObj>
          </a:graphicData>
        </a:graphic>
      </p:graphicFrame>
      <p:graphicFrame>
        <p:nvGraphicFramePr>
          <p:cNvPr id="49160" name="Object 8"/>
          <p:cNvGraphicFramePr>
            <a:graphicFrameLocks noChangeAspect="1"/>
          </p:cNvGraphicFramePr>
          <p:nvPr/>
        </p:nvGraphicFramePr>
        <p:xfrm>
          <a:off x="5134292" y="2932113"/>
          <a:ext cx="3336925" cy="568325"/>
        </p:xfrm>
        <a:graphic>
          <a:graphicData uri="http://schemas.openxmlformats.org/presentationml/2006/ole">
            <p:oleObj spid="_x0000_s49160" name="Document" r:id="rId10" imgW="3337211" imgH="567740" progId="Word.Document.12">
              <p:embed/>
            </p:oleObj>
          </a:graphicData>
        </a:graphic>
      </p:graphicFrame>
      <p:graphicFrame>
        <p:nvGraphicFramePr>
          <p:cNvPr id="49161" name="Object 9"/>
          <p:cNvGraphicFramePr>
            <a:graphicFrameLocks noChangeAspect="1"/>
          </p:cNvGraphicFramePr>
          <p:nvPr/>
        </p:nvGraphicFramePr>
        <p:xfrm>
          <a:off x="5500694" y="2925041"/>
          <a:ext cx="3306763" cy="547687"/>
        </p:xfrm>
        <a:graphic>
          <a:graphicData uri="http://schemas.openxmlformats.org/presentationml/2006/ole">
            <p:oleObj spid="_x0000_s49161" name="Document" r:id="rId11" imgW="3327638" imgH="568460" progId="Word.Document.12">
              <p:embed/>
            </p:oleObj>
          </a:graphicData>
        </a:graphic>
      </p:graphicFrame>
      <p:graphicFrame>
        <p:nvGraphicFramePr>
          <p:cNvPr id="49162" name="Object 10"/>
          <p:cNvGraphicFramePr>
            <a:graphicFrameLocks noChangeAspect="1"/>
          </p:cNvGraphicFramePr>
          <p:nvPr/>
        </p:nvGraphicFramePr>
        <p:xfrm>
          <a:off x="5992413" y="2960970"/>
          <a:ext cx="3308350" cy="547688"/>
        </p:xfrm>
        <a:graphic>
          <a:graphicData uri="http://schemas.openxmlformats.org/presentationml/2006/ole">
            <p:oleObj spid="_x0000_s49162" name="Document" r:id="rId12" imgW="3327638" imgH="568460" progId="Word.Document.12">
              <p:embed/>
            </p:oleObj>
          </a:graphicData>
        </a:graphic>
      </p:graphicFrame>
      <p:graphicFrame>
        <p:nvGraphicFramePr>
          <p:cNvPr id="49163" name="Object 11"/>
          <p:cNvGraphicFramePr>
            <a:graphicFrameLocks noChangeAspect="1"/>
          </p:cNvGraphicFramePr>
          <p:nvPr/>
        </p:nvGraphicFramePr>
        <p:xfrm>
          <a:off x="1829646" y="4024320"/>
          <a:ext cx="3306763" cy="547688"/>
        </p:xfrm>
        <a:graphic>
          <a:graphicData uri="http://schemas.openxmlformats.org/presentationml/2006/ole">
            <p:oleObj spid="_x0000_s49163" name="Document" r:id="rId13" imgW="3327638" imgH="568460" progId="Word.Document.12">
              <p:embed/>
            </p:oleObj>
          </a:graphicData>
        </a:graphic>
      </p:graphicFrame>
      <p:graphicFrame>
        <p:nvGraphicFramePr>
          <p:cNvPr id="49164" name="Object 12"/>
          <p:cNvGraphicFramePr>
            <a:graphicFrameLocks noChangeAspect="1"/>
          </p:cNvGraphicFramePr>
          <p:nvPr/>
        </p:nvGraphicFramePr>
        <p:xfrm>
          <a:off x="2122493" y="4022157"/>
          <a:ext cx="3306763" cy="547688"/>
        </p:xfrm>
        <a:graphic>
          <a:graphicData uri="http://schemas.openxmlformats.org/presentationml/2006/ole">
            <p:oleObj spid="_x0000_s49164" name="Document" r:id="rId14" imgW="3327638" imgH="568460" progId="Word.Document.12">
              <p:embed/>
            </p:oleObj>
          </a:graphicData>
        </a:graphic>
      </p:graphicFrame>
      <p:graphicFrame>
        <p:nvGraphicFramePr>
          <p:cNvPr id="49165" name="Object 13"/>
          <p:cNvGraphicFramePr>
            <a:graphicFrameLocks noChangeAspect="1"/>
          </p:cNvGraphicFramePr>
          <p:nvPr/>
        </p:nvGraphicFramePr>
        <p:xfrm>
          <a:off x="2378948" y="4417440"/>
          <a:ext cx="3308350" cy="547687"/>
        </p:xfrm>
        <a:graphic>
          <a:graphicData uri="http://schemas.openxmlformats.org/presentationml/2006/ole">
            <p:oleObj spid="_x0000_s49165" name="Document" r:id="rId15" imgW="3327638" imgH="568460" progId="Word.Document.12">
              <p:embed/>
            </p:oleObj>
          </a:graphicData>
        </a:graphic>
      </p:graphicFrame>
      <p:graphicFrame>
        <p:nvGraphicFramePr>
          <p:cNvPr id="49167" name="Object 15"/>
          <p:cNvGraphicFramePr>
            <a:graphicFrameLocks noChangeAspect="1"/>
          </p:cNvGraphicFramePr>
          <p:nvPr/>
        </p:nvGraphicFramePr>
        <p:xfrm>
          <a:off x="1822886" y="4381510"/>
          <a:ext cx="3306763" cy="547688"/>
        </p:xfrm>
        <a:graphic>
          <a:graphicData uri="http://schemas.openxmlformats.org/presentationml/2006/ole">
            <p:oleObj spid="_x0000_s49167" name="Document" r:id="rId16" imgW="3327638" imgH="568460" progId="Word.Document.12">
              <p:embed/>
            </p:oleObj>
          </a:graphicData>
        </a:graphic>
      </p:graphicFrame>
      <p:graphicFrame>
        <p:nvGraphicFramePr>
          <p:cNvPr id="49168" name="Object 16"/>
          <p:cNvGraphicFramePr>
            <a:graphicFrameLocks noChangeAspect="1"/>
          </p:cNvGraphicFramePr>
          <p:nvPr/>
        </p:nvGraphicFramePr>
        <p:xfrm>
          <a:off x="4265633" y="4379347"/>
          <a:ext cx="3306763" cy="547688"/>
        </p:xfrm>
        <a:graphic>
          <a:graphicData uri="http://schemas.openxmlformats.org/presentationml/2006/ole">
            <p:oleObj spid="_x0000_s49168" name="Document" r:id="rId17" imgW="3327638" imgH="568460" progId="Word.Document.12">
              <p:embed/>
            </p:oleObj>
          </a:graphicData>
        </a:graphic>
      </p:graphicFrame>
      <p:graphicFrame>
        <p:nvGraphicFramePr>
          <p:cNvPr id="49169" name="Object 17"/>
          <p:cNvGraphicFramePr>
            <a:graphicFrameLocks noChangeAspect="1"/>
          </p:cNvGraphicFramePr>
          <p:nvPr/>
        </p:nvGraphicFramePr>
        <p:xfrm>
          <a:off x="4768133" y="4388583"/>
          <a:ext cx="3336925" cy="568325"/>
        </p:xfrm>
        <a:graphic>
          <a:graphicData uri="http://schemas.openxmlformats.org/presentationml/2006/ole">
            <p:oleObj spid="_x0000_s49169" name="Document" r:id="rId18" imgW="3337211" imgH="567740" progId="Word.Document.12">
              <p:embed/>
            </p:oleObj>
          </a:graphicData>
        </a:graphic>
      </p:graphicFrame>
      <p:graphicFrame>
        <p:nvGraphicFramePr>
          <p:cNvPr id="49170" name="Object 18"/>
          <p:cNvGraphicFramePr>
            <a:graphicFrameLocks noChangeAspect="1"/>
          </p:cNvGraphicFramePr>
          <p:nvPr/>
        </p:nvGraphicFramePr>
        <p:xfrm>
          <a:off x="5007723" y="4383674"/>
          <a:ext cx="3306763" cy="547687"/>
        </p:xfrm>
        <a:graphic>
          <a:graphicData uri="http://schemas.openxmlformats.org/presentationml/2006/ole">
            <p:oleObj spid="_x0000_s49170" name="Document" r:id="rId19" imgW="3327638" imgH="568460" progId="Word.Document.12">
              <p:embed/>
            </p:oleObj>
          </a:graphicData>
        </a:graphic>
      </p:graphicFrame>
      <p:graphicFrame>
        <p:nvGraphicFramePr>
          <p:cNvPr id="49171" name="Object 19"/>
          <p:cNvGraphicFramePr>
            <a:graphicFrameLocks noChangeAspect="1"/>
          </p:cNvGraphicFramePr>
          <p:nvPr/>
        </p:nvGraphicFramePr>
        <p:xfrm>
          <a:off x="1822886" y="4738700"/>
          <a:ext cx="3306763" cy="547688"/>
        </p:xfrm>
        <a:graphic>
          <a:graphicData uri="http://schemas.openxmlformats.org/presentationml/2006/ole">
            <p:oleObj spid="_x0000_s49171" name="Document" r:id="rId20" imgW="3327638" imgH="568460" progId="Word.Document.12">
              <p:embed/>
            </p:oleObj>
          </a:graphicData>
        </a:graphic>
      </p:graphicFrame>
      <p:graphicFrame>
        <p:nvGraphicFramePr>
          <p:cNvPr id="49172" name="Object 20"/>
          <p:cNvGraphicFramePr>
            <a:graphicFrameLocks noChangeAspect="1"/>
          </p:cNvGraphicFramePr>
          <p:nvPr/>
        </p:nvGraphicFramePr>
        <p:xfrm>
          <a:off x="2385132" y="4773483"/>
          <a:ext cx="3336925" cy="568325"/>
        </p:xfrm>
        <a:graphic>
          <a:graphicData uri="http://schemas.openxmlformats.org/presentationml/2006/ole">
            <p:oleObj spid="_x0000_s49172" name="Document" r:id="rId21" imgW="3337211" imgH="567740" progId="Word.Document.12">
              <p:embed/>
            </p:oleObj>
          </a:graphicData>
        </a:graphic>
      </p:graphicFrame>
      <p:graphicFrame>
        <p:nvGraphicFramePr>
          <p:cNvPr id="49174" name="Object 22"/>
          <p:cNvGraphicFramePr>
            <a:graphicFrameLocks noChangeAspect="1"/>
          </p:cNvGraphicFramePr>
          <p:nvPr/>
        </p:nvGraphicFramePr>
        <p:xfrm>
          <a:off x="4763223" y="4796283"/>
          <a:ext cx="3308350" cy="547688"/>
        </p:xfrm>
        <a:graphic>
          <a:graphicData uri="http://schemas.openxmlformats.org/presentationml/2006/ole">
            <p:oleObj spid="_x0000_s49174" name="Document" r:id="rId22" imgW="3327638" imgH="568460" progId="Word.Document.12">
              <p:embed/>
            </p:oleObj>
          </a:graphicData>
        </a:graphic>
      </p:graphicFrame>
      <p:graphicFrame>
        <p:nvGraphicFramePr>
          <p:cNvPr id="49175" name="Object 23"/>
          <p:cNvGraphicFramePr>
            <a:graphicFrameLocks noChangeAspect="1"/>
          </p:cNvGraphicFramePr>
          <p:nvPr/>
        </p:nvGraphicFramePr>
        <p:xfrm>
          <a:off x="4286248" y="4768574"/>
          <a:ext cx="3306762" cy="547687"/>
        </p:xfrm>
        <a:graphic>
          <a:graphicData uri="http://schemas.openxmlformats.org/presentationml/2006/ole">
            <p:oleObj spid="_x0000_s49175" name="Document" r:id="rId23" imgW="3327638" imgH="568460" progId="Word.Document.12">
              <p:embed/>
            </p:oleObj>
          </a:graphicData>
        </a:graphic>
      </p:graphicFrame>
      <p:graphicFrame>
        <p:nvGraphicFramePr>
          <p:cNvPr id="49176" name="Object 24"/>
          <p:cNvGraphicFramePr>
            <a:graphicFrameLocks noChangeAspect="1"/>
          </p:cNvGraphicFramePr>
          <p:nvPr/>
        </p:nvGraphicFramePr>
        <p:xfrm>
          <a:off x="5007724" y="4766411"/>
          <a:ext cx="3306762" cy="547687"/>
        </p:xfrm>
        <a:graphic>
          <a:graphicData uri="http://schemas.openxmlformats.org/presentationml/2006/ole">
            <p:oleObj spid="_x0000_s49176" name="Document" r:id="rId24" imgW="3327638" imgH="568460" progId="Word.Document.12">
              <p:embed/>
            </p:oleObj>
          </a:graphicData>
        </a:graphic>
      </p:graphicFrame>
      <p:sp>
        <p:nvSpPr>
          <p:cNvPr id="25" name="Rectangle 24"/>
          <p:cNvSpPr/>
          <p:nvPr/>
        </p:nvSpPr>
        <p:spPr>
          <a:xfrm>
            <a:off x="6215074" y="4857760"/>
            <a:ext cx="2786340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id-ID" sz="5400" b="1" cap="none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radley Hand ITC" pitchFamily="66" charset="0"/>
              </a:rPr>
              <a:t>Logika</a:t>
            </a:r>
          </a:p>
          <a:p>
            <a:pPr algn="ctr"/>
            <a:r>
              <a:rPr lang="id-ID" sz="54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radley Hand ITC" pitchFamily="66" charset="0"/>
              </a:rPr>
              <a:t>Proposisi</a:t>
            </a:r>
            <a:endParaRPr lang="en-US" sz="5400" b="1" cap="none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glow rad="228600">
                  <a:schemeClr val="accent5">
                    <a:satMod val="175000"/>
                    <a:alpha val="40000"/>
                  </a:schemeClr>
                </a:glow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radley Hand ITC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68621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4" name="TextBox 43"/>
          <p:cNvSpPr txBox="1"/>
          <p:nvPr/>
        </p:nvSpPr>
        <p:spPr>
          <a:xfrm>
            <a:off x="357158" y="1442853"/>
            <a:ext cx="7358425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900113" indent="-457200">
              <a:buAutoNum type="arabicPeriod" startAt="3"/>
            </a:pP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Gunakan aturan asosiatif dan distributif</a:t>
            </a:r>
          </a:p>
          <a:p>
            <a:pPr marL="900113" indent="-457200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	untuk mengkonversi menjadi </a:t>
            </a:r>
            <a:r>
              <a:rPr lang="id-ID" sz="2400" i="1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conjunction</a:t>
            </a:r>
          </a:p>
          <a:p>
            <a:pPr marL="900113" indent="-457200"/>
            <a:r>
              <a:rPr lang="id-ID" sz="2400" i="1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	of disjunction</a:t>
            </a: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 </a:t>
            </a:r>
            <a:endParaRPr lang="id-ID" sz="2400" i="1" dirty="0" smtClean="0">
              <a:solidFill>
                <a:schemeClr val="bg1"/>
              </a:solidFill>
              <a:latin typeface="Bradley Hand ITC" pitchFamily="66" charset="0"/>
              <a:sym typeface="Wingdings" pitchFamily="2" charset="2"/>
            </a:endParaRPr>
          </a:p>
          <a:p>
            <a:pPr marL="1344613" indent="-457200">
              <a:buFont typeface="Arial" pitchFamily="34" charset="0"/>
              <a:buChar char="•"/>
            </a:pP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Asosiatif : (A     B)    C = A    (B     C)</a:t>
            </a:r>
          </a:p>
          <a:p>
            <a:pPr marL="1344613" indent="-457200">
              <a:buFont typeface="Arial" pitchFamily="34" charset="0"/>
              <a:buChar char="•"/>
            </a:pP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Distributif : (A     B)    C = (A    C)    (B    C)</a:t>
            </a:r>
          </a:p>
          <a:p>
            <a:pPr marL="900113" indent="-457200">
              <a:buAutoNum type="arabicPeriod" startAt="4"/>
            </a:pP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Buat satu kalimat terpisah untuk </a:t>
            </a:r>
          </a:p>
          <a:p>
            <a:pPr marL="900113" indent="-457200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	tiap-tiap konjungsi</a:t>
            </a:r>
          </a:p>
          <a:p>
            <a:pPr marL="900113" indent="-457200"/>
            <a:endParaRPr lang="id-ID" sz="2400" dirty="0" smtClean="0">
              <a:solidFill>
                <a:schemeClr val="bg1"/>
              </a:solidFill>
              <a:latin typeface="Bradley Hand ITC" pitchFamily="66" charset="0"/>
              <a:sym typeface="Wingdings" pitchFamily="2" charset="2"/>
            </a:endParaRPr>
          </a:p>
          <a:p>
            <a:pPr marL="1344613" indent="-457200" defTabSz="1441450">
              <a:buFont typeface="Arial" pitchFamily="34" charset="0"/>
              <a:buChar char="•"/>
            </a:pPr>
            <a:endParaRPr lang="id-ID" sz="2400" dirty="0" smtClean="0">
              <a:solidFill>
                <a:schemeClr val="bg1"/>
              </a:solidFill>
              <a:latin typeface="Bradley Hand ITC" pitchFamily="66" charset="0"/>
              <a:sym typeface="Wingdings" pitchFamily="2" charset="2"/>
            </a:endParaRPr>
          </a:p>
          <a:p>
            <a:pPr marL="1344613" indent="-457200" defTabSz="1260475">
              <a:buFont typeface="Arial" pitchFamily="34" charset="0"/>
              <a:buChar char="•"/>
            </a:pPr>
            <a:endParaRPr lang="id-ID" sz="2400" dirty="0" smtClean="0">
              <a:solidFill>
                <a:schemeClr val="bg1"/>
              </a:solidFill>
              <a:latin typeface="Bradley Hand ITC" pitchFamily="66" charset="0"/>
              <a:sym typeface="Wingdings" pitchFamily="2" charset="2"/>
            </a:endParaRPr>
          </a:p>
        </p:txBody>
      </p:sp>
      <p:graphicFrame>
        <p:nvGraphicFramePr>
          <p:cNvPr id="71703" name="Object 23"/>
          <p:cNvGraphicFramePr>
            <a:graphicFrameLocks noChangeAspect="1"/>
          </p:cNvGraphicFramePr>
          <p:nvPr/>
        </p:nvGraphicFramePr>
        <p:xfrm>
          <a:off x="3615596" y="2575358"/>
          <a:ext cx="3308350" cy="547687"/>
        </p:xfrm>
        <a:graphic>
          <a:graphicData uri="http://schemas.openxmlformats.org/presentationml/2006/ole">
            <p:oleObj spid="_x0000_s71703" name="Document" r:id="rId4" imgW="3327638" imgH="568460" progId="Word.Document.12">
              <p:embed/>
            </p:oleObj>
          </a:graphicData>
        </a:graphic>
      </p:graphicFrame>
      <p:graphicFrame>
        <p:nvGraphicFramePr>
          <p:cNvPr id="71704" name="Object 24"/>
          <p:cNvGraphicFramePr>
            <a:graphicFrameLocks noChangeAspect="1"/>
          </p:cNvGraphicFramePr>
          <p:nvPr/>
        </p:nvGraphicFramePr>
        <p:xfrm>
          <a:off x="4277901" y="2575358"/>
          <a:ext cx="3308350" cy="547687"/>
        </p:xfrm>
        <a:graphic>
          <a:graphicData uri="http://schemas.openxmlformats.org/presentationml/2006/ole">
            <p:oleObj spid="_x0000_s71704" name="Document" r:id="rId5" imgW="3327638" imgH="568460" progId="Word.Document.12">
              <p:embed/>
            </p:oleObj>
          </a:graphicData>
        </a:graphic>
      </p:graphicFrame>
      <p:graphicFrame>
        <p:nvGraphicFramePr>
          <p:cNvPr id="71705" name="Object 25"/>
          <p:cNvGraphicFramePr>
            <a:graphicFrameLocks noChangeAspect="1"/>
          </p:cNvGraphicFramePr>
          <p:nvPr/>
        </p:nvGraphicFramePr>
        <p:xfrm>
          <a:off x="5432601" y="2575358"/>
          <a:ext cx="3308350" cy="547687"/>
        </p:xfrm>
        <a:graphic>
          <a:graphicData uri="http://schemas.openxmlformats.org/presentationml/2006/ole">
            <p:oleObj spid="_x0000_s71705" name="Document" r:id="rId6" imgW="3327638" imgH="568460" progId="Word.Document.12">
              <p:embed/>
            </p:oleObj>
          </a:graphicData>
        </a:graphic>
      </p:graphicFrame>
      <p:graphicFrame>
        <p:nvGraphicFramePr>
          <p:cNvPr id="71706" name="Object 26"/>
          <p:cNvGraphicFramePr>
            <a:graphicFrameLocks noChangeAspect="1"/>
          </p:cNvGraphicFramePr>
          <p:nvPr/>
        </p:nvGraphicFramePr>
        <p:xfrm>
          <a:off x="6079869" y="2575358"/>
          <a:ext cx="3308350" cy="547687"/>
        </p:xfrm>
        <a:graphic>
          <a:graphicData uri="http://schemas.openxmlformats.org/presentationml/2006/ole">
            <p:oleObj spid="_x0000_s71706" name="Document" r:id="rId7" imgW="3327638" imgH="568460" progId="Word.Document.12">
              <p:embed/>
            </p:oleObj>
          </a:graphicData>
        </a:graphic>
      </p:graphicFrame>
      <p:graphicFrame>
        <p:nvGraphicFramePr>
          <p:cNvPr id="71707" name="Object 27"/>
          <p:cNvGraphicFramePr>
            <a:graphicFrameLocks noChangeAspect="1"/>
          </p:cNvGraphicFramePr>
          <p:nvPr/>
        </p:nvGraphicFramePr>
        <p:xfrm>
          <a:off x="3816055" y="2918258"/>
          <a:ext cx="3336925" cy="568325"/>
        </p:xfrm>
        <a:graphic>
          <a:graphicData uri="http://schemas.openxmlformats.org/presentationml/2006/ole">
            <p:oleObj spid="_x0000_s71707" name="Document" r:id="rId8" imgW="3337211" imgH="567740" progId="Word.Document.12">
              <p:embed/>
            </p:oleObj>
          </a:graphicData>
        </a:graphic>
      </p:graphicFrame>
      <p:graphicFrame>
        <p:nvGraphicFramePr>
          <p:cNvPr id="71708" name="Object 28"/>
          <p:cNvGraphicFramePr>
            <a:graphicFrameLocks noChangeAspect="1"/>
          </p:cNvGraphicFramePr>
          <p:nvPr/>
        </p:nvGraphicFramePr>
        <p:xfrm>
          <a:off x="4483258" y="2922877"/>
          <a:ext cx="3308350" cy="547688"/>
        </p:xfrm>
        <a:graphic>
          <a:graphicData uri="http://schemas.openxmlformats.org/presentationml/2006/ole">
            <p:oleObj spid="_x0000_s71708" name="Document" r:id="rId9" imgW="3327638" imgH="568460" progId="Word.Document.12">
              <p:embed/>
            </p:oleObj>
          </a:graphicData>
        </a:graphic>
      </p:graphicFrame>
      <p:graphicFrame>
        <p:nvGraphicFramePr>
          <p:cNvPr id="71709" name="Object 29"/>
          <p:cNvGraphicFramePr>
            <a:graphicFrameLocks noChangeAspect="1"/>
          </p:cNvGraphicFramePr>
          <p:nvPr/>
        </p:nvGraphicFramePr>
        <p:xfrm>
          <a:off x="5715008" y="2925040"/>
          <a:ext cx="3308350" cy="547688"/>
        </p:xfrm>
        <a:graphic>
          <a:graphicData uri="http://schemas.openxmlformats.org/presentationml/2006/ole">
            <p:oleObj spid="_x0000_s71709" name="Document" r:id="rId10" imgW="3327638" imgH="568460" progId="Word.Document.12">
              <p:embed/>
            </p:oleObj>
          </a:graphicData>
        </a:graphic>
      </p:graphicFrame>
      <p:graphicFrame>
        <p:nvGraphicFramePr>
          <p:cNvPr id="71710" name="Object 30"/>
          <p:cNvGraphicFramePr>
            <a:graphicFrameLocks noChangeAspect="1"/>
          </p:cNvGraphicFramePr>
          <p:nvPr/>
        </p:nvGraphicFramePr>
        <p:xfrm>
          <a:off x="6363470" y="2918258"/>
          <a:ext cx="3336925" cy="568325"/>
        </p:xfrm>
        <a:graphic>
          <a:graphicData uri="http://schemas.openxmlformats.org/presentationml/2006/ole">
            <p:oleObj spid="_x0000_s71710" name="Document" r:id="rId11" imgW="3337211" imgH="567740" progId="Word.Document.12">
              <p:embed/>
            </p:oleObj>
          </a:graphicData>
        </a:graphic>
      </p:graphicFrame>
      <p:graphicFrame>
        <p:nvGraphicFramePr>
          <p:cNvPr id="71711" name="Object 31"/>
          <p:cNvGraphicFramePr>
            <a:graphicFrameLocks noChangeAspect="1"/>
          </p:cNvGraphicFramePr>
          <p:nvPr/>
        </p:nvGraphicFramePr>
        <p:xfrm>
          <a:off x="6989096" y="2925040"/>
          <a:ext cx="3308350" cy="547688"/>
        </p:xfrm>
        <a:graphic>
          <a:graphicData uri="http://schemas.openxmlformats.org/presentationml/2006/ole">
            <p:oleObj spid="_x0000_s71711" name="Document" r:id="rId12" imgW="3327638" imgH="568460" progId="Word.Document.12">
              <p:embed/>
            </p:oleObj>
          </a:graphicData>
        </a:graphic>
      </p:graphicFrame>
      <p:sp>
        <p:nvSpPr>
          <p:cNvPr id="13" name="Rectangle 12"/>
          <p:cNvSpPr/>
          <p:nvPr/>
        </p:nvSpPr>
        <p:spPr>
          <a:xfrm>
            <a:off x="6215074" y="4857760"/>
            <a:ext cx="2786340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id-ID" sz="5400" b="1" cap="none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radley Hand ITC" pitchFamily="66" charset="0"/>
              </a:rPr>
              <a:t>Logika</a:t>
            </a:r>
          </a:p>
          <a:p>
            <a:pPr algn="ctr"/>
            <a:r>
              <a:rPr lang="id-ID" sz="54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radley Hand ITC" pitchFamily="66" charset="0"/>
              </a:rPr>
              <a:t>Proposisi</a:t>
            </a:r>
            <a:endParaRPr lang="en-US" sz="5400" b="1" cap="none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glow rad="228600">
                  <a:schemeClr val="accent5">
                    <a:satMod val="175000"/>
                    <a:alpha val="40000"/>
                  </a:schemeClr>
                </a:glow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radley Hand ITC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68621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4" name="TextBox 43"/>
          <p:cNvSpPr txBox="1"/>
          <p:nvPr/>
        </p:nvSpPr>
        <p:spPr>
          <a:xfrm>
            <a:off x="-32" y="928670"/>
            <a:ext cx="6689652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60363" indent="-360363"/>
            <a:r>
              <a:rPr lang="id-ID" sz="2400" b="1" u="sng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Algoritma resolusi :</a:t>
            </a:r>
          </a:p>
          <a:p>
            <a:pPr marL="457200" indent="-457200">
              <a:buFont typeface="+mj-lt"/>
              <a:buAutoNum type="arabicPeriod"/>
            </a:pP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Konversikan semua proposisi F ke bentuk CNF</a:t>
            </a:r>
          </a:p>
          <a:p>
            <a:pPr marL="457200" indent="-457200">
              <a:buFont typeface="+mj-lt"/>
              <a:buAutoNum type="arabicPeriod"/>
            </a:pP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Negasikan P, dan konversikan hasil negasi </a:t>
            </a:r>
          </a:p>
          <a:p>
            <a:pPr marL="457200" indent="-457200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	tersebut ke bentuk klausa. Tambahkan ke</a:t>
            </a:r>
          </a:p>
          <a:p>
            <a:pPr marL="457200" indent="-457200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	himpunan klausa yang telah ada pada</a:t>
            </a:r>
          </a:p>
          <a:p>
            <a:pPr marL="457200" indent="-457200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	langkah 1</a:t>
            </a:r>
          </a:p>
          <a:p>
            <a:pPr marL="457200" indent="-457200">
              <a:buAutoNum type="arabicPeriod" startAt="3"/>
            </a:pP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Kerjakan hingga terjadi kontradiksi atau</a:t>
            </a:r>
          </a:p>
          <a:p>
            <a:pPr marL="457200" indent="-457200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	proses tidak mengalami kemajuan :</a:t>
            </a:r>
          </a:p>
          <a:p>
            <a:pPr marL="900113" indent="-457200">
              <a:buFont typeface="+mj-lt"/>
              <a:buAutoNum type="alphaLcPeriod"/>
            </a:pP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	Seleksi 2 klausa sebagai klausa </a:t>
            </a:r>
          </a:p>
          <a:p>
            <a:pPr marL="900113" indent="-457200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	parent</a:t>
            </a:r>
          </a:p>
          <a:p>
            <a:pPr marL="900113" indent="-457200">
              <a:buAutoNum type="alphaLcPeriod" startAt="2"/>
            </a:pP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Bandingkan </a:t>
            </a:r>
            <a:r>
              <a:rPr lang="id-ID" sz="2400" i="1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(resolve) </a:t>
            </a: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secara </a:t>
            </a:r>
          </a:p>
          <a:p>
            <a:pPr marL="900113" indent="-457200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	bersama-sama. Jika ada pasangan </a:t>
            </a:r>
          </a:p>
          <a:p>
            <a:pPr marL="900113" indent="-457200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	literal L dan    L, eliminir dari </a:t>
            </a:r>
          </a:p>
          <a:p>
            <a:pPr marL="900113" indent="-457200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	</a:t>
            </a:r>
            <a:r>
              <a:rPr lang="id-ID" sz="2400" i="1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resolvent</a:t>
            </a:r>
            <a:endParaRPr lang="id-ID" sz="2400" dirty="0" smtClean="0">
              <a:solidFill>
                <a:schemeClr val="bg1"/>
              </a:solidFill>
              <a:latin typeface="Bradley Hand ITC" pitchFamily="66" charset="0"/>
              <a:sym typeface="Wingdings" pitchFamily="2" charset="2"/>
            </a:endParaRPr>
          </a:p>
          <a:p>
            <a:pPr marL="900113" indent="-457200"/>
            <a:endParaRPr lang="id-ID" sz="2400" dirty="0" smtClean="0">
              <a:solidFill>
                <a:schemeClr val="bg1"/>
              </a:solidFill>
              <a:latin typeface="Bradley Hand ITC" pitchFamily="66" charset="0"/>
              <a:sym typeface="Wingdings" pitchFamily="2" charset="2"/>
            </a:endParaRPr>
          </a:p>
        </p:txBody>
      </p:sp>
      <p:graphicFrame>
        <p:nvGraphicFramePr>
          <p:cNvPr id="74754" name="Object 2"/>
          <p:cNvGraphicFramePr>
            <a:graphicFrameLocks noChangeAspect="1"/>
          </p:cNvGraphicFramePr>
          <p:nvPr/>
        </p:nvGraphicFramePr>
        <p:xfrm>
          <a:off x="2693998" y="5357826"/>
          <a:ext cx="3306762" cy="547687"/>
        </p:xfrm>
        <a:graphic>
          <a:graphicData uri="http://schemas.openxmlformats.org/presentationml/2006/ole">
            <p:oleObj spid="_x0000_s74754" name="Document" r:id="rId4" imgW="3327638" imgH="568460" progId="Word.Document.12">
              <p:embed/>
            </p:oleObj>
          </a:graphicData>
        </a:graphic>
      </p:graphicFrame>
      <p:sp>
        <p:nvSpPr>
          <p:cNvPr id="5" name="Rectangle 4"/>
          <p:cNvSpPr/>
          <p:nvPr/>
        </p:nvSpPr>
        <p:spPr>
          <a:xfrm>
            <a:off x="6215074" y="4857760"/>
            <a:ext cx="2786340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id-ID" sz="5400" b="1" cap="none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radley Hand ITC" pitchFamily="66" charset="0"/>
              </a:rPr>
              <a:t>Logika</a:t>
            </a:r>
          </a:p>
          <a:p>
            <a:pPr algn="ctr"/>
            <a:r>
              <a:rPr lang="id-ID" sz="54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radley Hand ITC" pitchFamily="66" charset="0"/>
              </a:rPr>
              <a:t>Proposisi</a:t>
            </a:r>
            <a:endParaRPr lang="en-US" sz="5400" b="1" cap="none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glow rad="228600">
                  <a:schemeClr val="accent5">
                    <a:satMod val="175000"/>
                    <a:alpha val="40000"/>
                  </a:schemeClr>
                </a:glow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radley Hand ITC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621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4" name="TextBox 43"/>
          <p:cNvSpPr txBox="1"/>
          <p:nvPr/>
        </p:nvSpPr>
        <p:spPr>
          <a:xfrm>
            <a:off x="-32" y="928670"/>
            <a:ext cx="663226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60363" indent="-360363"/>
            <a:r>
              <a:rPr lang="id-ID" sz="2400" b="1" u="sng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Algoritma resolusi :</a:t>
            </a:r>
          </a:p>
          <a:p>
            <a:pPr marL="900113" indent="-457200">
              <a:buAutoNum type="alphaLcPeriod" startAt="3"/>
            </a:pP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Jika </a:t>
            </a:r>
            <a:r>
              <a:rPr lang="id-ID" sz="2400" i="1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resolvent </a:t>
            </a: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berupa klausa kosong, maka</a:t>
            </a:r>
          </a:p>
          <a:p>
            <a:pPr marL="900113" indent="-457200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	ditemukan kontradiksi. Jika tidak, </a:t>
            </a:r>
          </a:p>
          <a:p>
            <a:pPr marL="900113" indent="-457200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	tambahkan ke himpunan klausa yang </a:t>
            </a:r>
          </a:p>
          <a:p>
            <a:pPr marL="900113" indent="-457200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	telah ada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5074" y="4857760"/>
            <a:ext cx="2786340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id-ID" sz="5400" b="1" cap="none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radley Hand ITC" pitchFamily="66" charset="0"/>
              </a:rPr>
              <a:t>Logika</a:t>
            </a:r>
          </a:p>
          <a:p>
            <a:pPr algn="ctr"/>
            <a:r>
              <a:rPr lang="id-ID" sz="54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radley Hand ITC" pitchFamily="66" charset="0"/>
              </a:rPr>
              <a:t>Proposisi</a:t>
            </a:r>
            <a:endParaRPr lang="en-US" sz="5400" b="1" cap="none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glow rad="228600">
                  <a:schemeClr val="accent5">
                    <a:satMod val="175000"/>
                    <a:alpha val="40000"/>
                  </a:schemeClr>
                </a:glow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radley Hand ITC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-4157"/>
            <a:ext cx="9144000" cy="68621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4" name="TextBox 43"/>
          <p:cNvSpPr txBox="1"/>
          <p:nvPr/>
        </p:nvSpPr>
        <p:spPr>
          <a:xfrm>
            <a:off x="357158" y="1442853"/>
            <a:ext cx="5679760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60363" indent="-360363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Diketahui basis pengetahuan (fakta-fakta</a:t>
            </a:r>
          </a:p>
          <a:p>
            <a:pPr marL="360363" indent="-360363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yang bernilai benar) sebagai berikut :</a:t>
            </a:r>
          </a:p>
          <a:p>
            <a:pPr marL="900113" indent="-457200">
              <a:buFont typeface="+mj-lt"/>
              <a:buAutoNum type="arabicPeriod"/>
            </a:pP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P</a:t>
            </a:r>
          </a:p>
          <a:p>
            <a:pPr marL="900113" indent="-457200">
              <a:buFont typeface="+mj-lt"/>
              <a:buAutoNum type="arabicPeriod"/>
            </a:pP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(P     Q)      R</a:t>
            </a:r>
          </a:p>
          <a:p>
            <a:pPr marL="900113" indent="-457200">
              <a:buFont typeface="+mj-lt"/>
              <a:buAutoNum type="arabicPeriod"/>
            </a:pP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(P     Q)      R</a:t>
            </a:r>
          </a:p>
          <a:p>
            <a:pPr marL="900113" indent="-457200">
              <a:buFont typeface="+mj-lt"/>
              <a:buAutoNum type="arabicPeriod"/>
            </a:pP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T</a:t>
            </a:r>
          </a:p>
          <a:p>
            <a:pPr defTabSz="984250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Buktikan kebenaran R!</a:t>
            </a:r>
          </a:p>
        </p:txBody>
      </p:sp>
      <p:graphicFrame>
        <p:nvGraphicFramePr>
          <p:cNvPr id="72706" name="Object 2"/>
          <p:cNvGraphicFramePr>
            <a:graphicFrameLocks noChangeAspect="1"/>
          </p:cNvGraphicFramePr>
          <p:nvPr/>
        </p:nvGraphicFramePr>
        <p:xfrm>
          <a:off x="1728335" y="2555726"/>
          <a:ext cx="3336925" cy="568325"/>
        </p:xfrm>
        <a:graphic>
          <a:graphicData uri="http://schemas.openxmlformats.org/presentationml/2006/ole">
            <p:oleObj spid="_x0000_s72706" name="Document" r:id="rId4" imgW="3337211" imgH="567740" progId="Word.Document.12">
              <p:embed/>
            </p:oleObj>
          </a:graphicData>
        </a:graphic>
      </p:graphicFrame>
      <p:graphicFrame>
        <p:nvGraphicFramePr>
          <p:cNvPr id="72707" name="Object 3"/>
          <p:cNvGraphicFramePr>
            <a:graphicFrameLocks noChangeAspect="1"/>
          </p:cNvGraphicFramePr>
          <p:nvPr/>
        </p:nvGraphicFramePr>
        <p:xfrm>
          <a:off x="2392803" y="2557895"/>
          <a:ext cx="3308350" cy="549275"/>
        </p:xfrm>
        <a:graphic>
          <a:graphicData uri="http://schemas.openxmlformats.org/presentationml/2006/ole">
            <p:oleObj spid="_x0000_s72707" name="Document" r:id="rId5" imgW="3327638" imgH="568460" progId="Word.Document.12">
              <p:embed/>
            </p:oleObj>
          </a:graphicData>
        </a:graphic>
      </p:graphicFrame>
      <p:graphicFrame>
        <p:nvGraphicFramePr>
          <p:cNvPr id="72708" name="Object 4"/>
          <p:cNvGraphicFramePr>
            <a:graphicFrameLocks noChangeAspect="1"/>
          </p:cNvGraphicFramePr>
          <p:nvPr/>
        </p:nvGraphicFramePr>
        <p:xfrm>
          <a:off x="1728335" y="2950155"/>
          <a:ext cx="3308350" cy="547688"/>
        </p:xfrm>
        <a:graphic>
          <a:graphicData uri="http://schemas.openxmlformats.org/presentationml/2006/ole">
            <p:oleObj spid="_x0000_s72708" name="Document" r:id="rId6" imgW="3327638" imgH="568460" progId="Word.Document.12">
              <p:embed/>
            </p:oleObj>
          </a:graphicData>
        </a:graphic>
      </p:graphicFrame>
      <p:graphicFrame>
        <p:nvGraphicFramePr>
          <p:cNvPr id="72709" name="Object 5"/>
          <p:cNvGraphicFramePr>
            <a:graphicFrameLocks noChangeAspect="1"/>
          </p:cNvGraphicFramePr>
          <p:nvPr/>
        </p:nvGraphicFramePr>
        <p:xfrm>
          <a:off x="2400438" y="2938185"/>
          <a:ext cx="3308350" cy="549275"/>
        </p:xfrm>
        <a:graphic>
          <a:graphicData uri="http://schemas.openxmlformats.org/presentationml/2006/ole">
            <p:oleObj spid="_x0000_s72709" name="Document" r:id="rId7" imgW="3327638" imgH="568460" progId="Word.Document.12">
              <p:embed/>
            </p:oleObj>
          </a:graphicData>
        </a:graphic>
      </p:graphicFrame>
      <p:sp>
        <p:nvSpPr>
          <p:cNvPr id="9" name="Rectangle 8"/>
          <p:cNvSpPr/>
          <p:nvPr/>
        </p:nvSpPr>
        <p:spPr>
          <a:xfrm>
            <a:off x="6215074" y="4857760"/>
            <a:ext cx="2786340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id-ID" sz="5400" b="1" cap="none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radley Hand ITC" pitchFamily="66" charset="0"/>
              </a:rPr>
              <a:t>Logika</a:t>
            </a:r>
          </a:p>
          <a:p>
            <a:pPr algn="ctr"/>
            <a:r>
              <a:rPr lang="id-ID" sz="54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radley Hand ITC" pitchFamily="66" charset="0"/>
              </a:rPr>
              <a:t>Proposisi</a:t>
            </a:r>
            <a:endParaRPr lang="en-US" sz="5400" b="1" cap="none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glow rad="228600">
                  <a:schemeClr val="accent5">
                    <a:satMod val="175000"/>
                    <a:alpha val="40000"/>
                  </a:schemeClr>
                </a:glow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radley Hand ITC" pitchFamily="66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28443" y="1071546"/>
            <a:ext cx="12431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Contoh :</a:t>
            </a:r>
            <a:endParaRPr lang="id-ID" sz="2400" dirty="0">
              <a:solidFill>
                <a:schemeClr val="bg1"/>
              </a:solidFill>
              <a:latin typeface="Bradley Hand ITC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68621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28203" y="1327576"/>
          <a:ext cx="7715304" cy="458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/>
                <a:gridCol w="3754478"/>
                <a:gridCol w="1928826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d-ID" b="1" dirty="0" smtClean="0">
                          <a:latin typeface="Bradley Hand ITC" pitchFamily="66" charset="0"/>
                        </a:rPr>
                        <a:t>Kalimat</a:t>
                      </a:r>
                      <a:endParaRPr lang="id-ID" b="1" dirty="0">
                        <a:latin typeface="Bradley Hand ITC" pitchFamily="66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dirty="0" smtClean="0">
                          <a:latin typeface="Bradley Hand ITC" pitchFamily="66" charset="0"/>
                        </a:rPr>
                        <a:t>Langkah-langkah</a:t>
                      </a:r>
                      <a:endParaRPr lang="id-ID" dirty="0">
                        <a:latin typeface="Bradley Hand ITC" pitchFamily="66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dirty="0" smtClean="0">
                          <a:latin typeface="Bradley Hand ITC" pitchFamily="66" charset="0"/>
                        </a:rPr>
                        <a:t>CNF</a:t>
                      </a:r>
                      <a:endParaRPr lang="id-ID" dirty="0">
                        <a:latin typeface="Bradley Hand ITC" pitchFamily="66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342900" indent="-342900" algn="l">
                        <a:buFont typeface="+mj-lt"/>
                        <a:buAutoNum type="arabicPeriod"/>
                      </a:pPr>
                      <a:r>
                        <a:rPr lang="id-ID" dirty="0" smtClean="0">
                          <a:latin typeface="Bradley Hand ITC" pitchFamily="66" charset="0"/>
                        </a:rPr>
                        <a:t>P</a:t>
                      </a:r>
                      <a:endParaRPr lang="id-ID" dirty="0">
                        <a:latin typeface="Bradley Hand ITC" pitchFamily="66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id-ID" dirty="0" smtClean="0">
                          <a:latin typeface="Bradley Hand ITC" pitchFamily="66" charset="0"/>
                        </a:rPr>
                        <a:t>Sudah CNF</a:t>
                      </a:r>
                      <a:endParaRPr lang="id-ID" dirty="0">
                        <a:latin typeface="Bradley Hand ITC" pitchFamily="66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id-ID" dirty="0" smtClean="0">
                          <a:latin typeface="Bradley Hand ITC" pitchFamily="66" charset="0"/>
                        </a:rPr>
                        <a:t>P</a:t>
                      </a:r>
                      <a:endParaRPr lang="id-ID" dirty="0">
                        <a:latin typeface="Bradley Hand ITC" pitchFamily="66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342900" indent="-342900" algn="l">
                        <a:buFont typeface="+mj-lt"/>
                        <a:buAutoNum type="arabicPeriod" startAt="2"/>
                      </a:pPr>
                      <a:r>
                        <a:rPr lang="id-ID" dirty="0" smtClean="0">
                          <a:latin typeface="Bradley Hand ITC" pitchFamily="66" charset="0"/>
                        </a:rPr>
                        <a:t>(P      Q)       R</a:t>
                      </a:r>
                      <a:endParaRPr lang="id-ID" dirty="0">
                        <a:latin typeface="Bradley Hand ITC" pitchFamily="66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9388" indent="-179388" algn="l">
                        <a:buFont typeface="Arial" pitchFamily="34" charset="0"/>
                        <a:buChar char="•"/>
                      </a:pPr>
                      <a:r>
                        <a:rPr lang="id-ID" dirty="0" smtClean="0">
                          <a:latin typeface="Bradley Hand ITC" pitchFamily="66" charset="0"/>
                        </a:rPr>
                        <a:t>Hilangkan</a:t>
                      </a:r>
                      <a:r>
                        <a:rPr lang="id-ID" baseline="0" dirty="0" smtClean="0">
                          <a:latin typeface="Bradley Hand ITC" pitchFamily="66" charset="0"/>
                        </a:rPr>
                        <a:t> implikasi :</a:t>
                      </a:r>
                    </a:p>
                    <a:p>
                      <a:pPr marL="539750" indent="0" algn="l">
                        <a:buFont typeface="Arial" pitchFamily="34" charset="0"/>
                        <a:buNone/>
                      </a:pPr>
                      <a:r>
                        <a:rPr lang="id-ID" dirty="0" smtClean="0">
                          <a:latin typeface="Bradley Hand ITC" pitchFamily="66" charset="0"/>
                        </a:rPr>
                        <a:t>(P      Q)      R</a:t>
                      </a:r>
                    </a:p>
                    <a:p>
                      <a:pPr marL="179388" indent="-179388" algn="l">
                        <a:buFont typeface="Arial" pitchFamily="34" charset="0"/>
                        <a:buChar char="•"/>
                      </a:pPr>
                      <a:r>
                        <a:rPr lang="id-ID" dirty="0" smtClean="0">
                          <a:latin typeface="Bradley Hand ITC" pitchFamily="66" charset="0"/>
                        </a:rPr>
                        <a:t>Kurangi lingkup negasi :</a:t>
                      </a:r>
                    </a:p>
                    <a:p>
                      <a:pPr marL="360363" indent="0" algn="l">
                        <a:buFont typeface="Arial" pitchFamily="34" charset="0"/>
                        <a:buNone/>
                      </a:pPr>
                      <a:r>
                        <a:rPr lang="id-ID" dirty="0" smtClean="0">
                          <a:latin typeface="Bradley Hand ITC" pitchFamily="66" charset="0"/>
                        </a:rPr>
                        <a:t>(    </a:t>
                      </a:r>
                      <a:r>
                        <a:rPr lang="id-ID" baseline="0" dirty="0" smtClean="0">
                          <a:latin typeface="Bradley Hand ITC" pitchFamily="66" charset="0"/>
                        </a:rPr>
                        <a:t> </a:t>
                      </a:r>
                      <a:r>
                        <a:rPr lang="id-ID" dirty="0" smtClean="0">
                          <a:latin typeface="Bradley Hand ITC" pitchFamily="66" charset="0"/>
                        </a:rPr>
                        <a:t>P         Q)      R</a:t>
                      </a:r>
                    </a:p>
                    <a:p>
                      <a:pPr marL="179388" indent="-179388" algn="l">
                        <a:buFont typeface="Arial" pitchFamily="34" charset="0"/>
                        <a:buChar char="•"/>
                      </a:pPr>
                      <a:r>
                        <a:rPr lang="id-ID" dirty="0" smtClean="0">
                          <a:latin typeface="Bradley Hand ITC" pitchFamily="66" charset="0"/>
                        </a:rPr>
                        <a:t>Asosiatif</a:t>
                      </a:r>
                      <a:r>
                        <a:rPr lang="id-ID" baseline="0" dirty="0" smtClean="0">
                          <a:latin typeface="Bradley Hand ITC" pitchFamily="66" charset="0"/>
                        </a:rPr>
                        <a:t> :</a:t>
                      </a:r>
                    </a:p>
                    <a:p>
                      <a:pPr marL="539750" indent="0" algn="l">
                        <a:buFont typeface="Arial" pitchFamily="34" charset="0"/>
                        <a:buNone/>
                      </a:pPr>
                      <a:r>
                        <a:rPr lang="id-ID" dirty="0" smtClean="0">
                          <a:latin typeface="Bradley Hand ITC" pitchFamily="66" charset="0"/>
                        </a:rPr>
                        <a:t>P          Q      R</a:t>
                      </a:r>
                      <a:endParaRPr lang="id-ID" dirty="0">
                        <a:latin typeface="Bradley Hand ITC" pitchFamily="66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id-ID" dirty="0" smtClean="0">
                          <a:latin typeface="Bradley Hand ITC" pitchFamily="66" charset="0"/>
                        </a:rPr>
                        <a:t>P      Q      R</a:t>
                      </a:r>
                      <a:endParaRPr lang="id-ID" dirty="0">
                        <a:latin typeface="Bradley Hand ITC" pitchFamily="66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342900" marR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id-ID" dirty="0" smtClean="0">
                          <a:latin typeface="Bradley Hand ITC" pitchFamily="66" charset="0"/>
                        </a:rPr>
                        <a:t>(S      T)       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9388" indent="-179388" algn="l">
                        <a:buFont typeface="Arial" pitchFamily="34" charset="0"/>
                        <a:buChar char="•"/>
                      </a:pPr>
                      <a:r>
                        <a:rPr lang="id-ID" dirty="0" smtClean="0">
                          <a:latin typeface="Bradley Hand ITC" pitchFamily="66" charset="0"/>
                        </a:rPr>
                        <a:t>Hilangkan</a:t>
                      </a:r>
                      <a:r>
                        <a:rPr lang="id-ID" baseline="0" dirty="0" smtClean="0">
                          <a:latin typeface="Bradley Hand ITC" pitchFamily="66" charset="0"/>
                        </a:rPr>
                        <a:t> implikasi :</a:t>
                      </a:r>
                    </a:p>
                    <a:p>
                      <a:pPr marL="539750" indent="0" algn="l">
                        <a:buFont typeface="Arial" pitchFamily="34" charset="0"/>
                        <a:buNone/>
                      </a:pPr>
                      <a:r>
                        <a:rPr lang="id-ID" dirty="0" smtClean="0">
                          <a:latin typeface="Bradley Hand ITC" pitchFamily="66" charset="0"/>
                        </a:rPr>
                        <a:t>(S      T)      Q</a:t>
                      </a:r>
                    </a:p>
                    <a:p>
                      <a:pPr marL="179388" indent="-179388" algn="l">
                        <a:buFont typeface="Arial" pitchFamily="34" charset="0"/>
                        <a:buChar char="•"/>
                      </a:pPr>
                      <a:r>
                        <a:rPr lang="id-ID" dirty="0" smtClean="0">
                          <a:latin typeface="Bradley Hand ITC" pitchFamily="66" charset="0"/>
                        </a:rPr>
                        <a:t>Kurangi lingkup negasi :</a:t>
                      </a:r>
                    </a:p>
                    <a:p>
                      <a:pPr marL="360363" indent="0" algn="l">
                        <a:buFont typeface="Arial" pitchFamily="34" charset="0"/>
                        <a:buNone/>
                      </a:pPr>
                      <a:r>
                        <a:rPr lang="id-ID" dirty="0" smtClean="0">
                          <a:latin typeface="Bradley Hand ITC" pitchFamily="66" charset="0"/>
                        </a:rPr>
                        <a:t>(     S        T)      Q</a:t>
                      </a:r>
                    </a:p>
                    <a:p>
                      <a:pPr marL="179388" indent="-179388" algn="l">
                        <a:buFont typeface="Arial" pitchFamily="34" charset="0"/>
                        <a:buChar char="•"/>
                      </a:pPr>
                      <a:r>
                        <a:rPr lang="id-ID" dirty="0" smtClean="0">
                          <a:latin typeface="Bradley Hand ITC" pitchFamily="66" charset="0"/>
                        </a:rPr>
                        <a:t>Distributif</a:t>
                      </a:r>
                      <a:r>
                        <a:rPr lang="id-ID" baseline="0" dirty="0" smtClean="0">
                          <a:latin typeface="Bradley Hand ITC" pitchFamily="66" charset="0"/>
                        </a:rPr>
                        <a:t> :</a:t>
                      </a:r>
                    </a:p>
                    <a:p>
                      <a:pPr marL="360363" indent="0" algn="l">
                        <a:buFont typeface="Arial" pitchFamily="34" charset="0"/>
                        <a:buNone/>
                      </a:pPr>
                      <a:r>
                        <a:rPr lang="id-ID" dirty="0" smtClean="0">
                          <a:latin typeface="Bradley Hand ITC" pitchFamily="66" charset="0"/>
                        </a:rPr>
                        <a:t>(     S     Q)      (     T     Q)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id-ID" dirty="0" smtClean="0">
                          <a:latin typeface="Bradley Hand ITC" pitchFamily="66" charset="0"/>
                        </a:rPr>
                        <a:t>     S      Q</a:t>
                      </a:r>
                    </a:p>
                    <a:p>
                      <a:pPr algn="l"/>
                      <a:r>
                        <a:rPr lang="id-ID" dirty="0" smtClean="0">
                          <a:latin typeface="Bradley Hand ITC" pitchFamily="66" charset="0"/>
                        </a:rPr>
                        <a:t>     T      Q</a:t>
                      </a:r>
                    </a:p>
                    <a:p>
                      <a:pPr algn="l"/>
                      <a:endParaRPr lang="id-ID" dirty="0">
                        <a:latin typeface="Bradley Hand ITC" pitchFamily="66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342900" indent="-342900" algn="l">
                        <a:buFont typeface="+mj-lt"/>
                        <a:buAutoNum type="arabicPeriod" startAt="4"/>
                      </a:pPr>
                      <a:r>
                        <a:rPr lang="id-ID" dirty="0" smtClean="0">
                          <a:latin typeface="Bradley Hand ITC" pitchFamily="66" charset="0"/>
                        </a:rPr>
                        <a:t>T</a:t>
                      </a:r>
                      <a:endParaRPr lang="id-ID" dirty="0">
                        <a:latin typeface="Bradley Hand ITC" pitchFamily="66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id-ID" dirty="0" smtClean="0">
                          <a:latin typeface="Bradley Hand ITC" pitchFamily="66" charset="0"/>
                        </a:rPr>
                        <a:t>Sudah CNF</a:t>
                      </a:r>
                      <a:endParaRPr lang="id-ID" dirty="0">
                        <a:latin typeface="Bradley Hand ITC" pitchFamily="66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id-ID" dirty="0" smtClean="0">
                          <a:latin typeface="Bradley Hand ITC" pitchFamily="66" charset="0"/>
                        </a:rPr>
                        <a:t>T</a:t>
                      </a:r>
                      <a:endParaRPr lang="id-ID" dirty="0">
                        <a:latin typeface="Bradley Hand ITC" pitchFamily="66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3734" name="Object 6"/>
          <p:cNvGraphicFramePr>
            <a:graphicFrameLocks noChangeAspect="1"/>
          </p:cNvGraphicFramePr>
          <p:nvPr/>
        </p:nvGraphicFramePr>
        <p:xfrm>
          <a:off x="1463244" y="2074857"/>
          <a:ext cx="3336925" cy="568325"/>
        </p:xfrm>
        <a:graphic>
          <a:graphicData uri="http://schemas.openxmlformats.org/presentationml/2006/ole">
            <p:oleObj spid="_x0000_s73734" name="Document" r:id="rId4" imgW="3327638" imgH="568460" progId="Word.Document.12">
              <p:embed/>
            </p:oleObj>
          </a:graphicData>
        </a:graphic>
      </p:graphicFrame>
      <p:graphicFrame>
        <p:nvGraphicFramePr>
          <p:cNvPr id="73735" name="Object 7"/>
          <p:cNvGraphicFramePr>
            <a:graphicFrameLocks noChangeAspect="1"/>
          </p:cNvGraphicFramePr>
          <p:nvPr/>
        </p:nvGraphicFramePr>
        <p:xfrm>
          <a:off x="2005740" y="2085533"/>
          <a:ext cx="3308350" cy="549275"/>
        </p:xfrm>
        <a:graphic>
          <a:graphicData uri="http://schemas.openxmlformats.org/presentationml/2006/ole">
            <p:oleObj spid="_x0000_s73735" name="Document" r:id="rId5" imgW="3337211" imgH="568460" progId="Word.Document.12">
              <p:embed/>
            </p:oleObj>
          </a:graphicData>
        </a:graphic>
      </p:graphicFrame>
      <p:graphicFrame>
        <p:nvGraphicFramePr>
          <p:cNvPr id="73736" name="Object 8"/>
          <p:cNvGraphicFramePr>
            <a:graphicFrameLocks noChangeAspect="1"/>
          </p:cNvGraphicFramePr>
          <p:nvPr/>
        </p:nvGraphicFramePr>
        <p:xfrm>
          <a:off x="3194064" y="2351374"/>
          <a:ext cx="3306762" cy="547687"/>
        </p:xfrm>
        <a:graphic>
          <a:graphicData uri="http://schemas.openxmlformats.org/presentationml/2006/ole">
            <p:oleObj spid="_x0000_s73736" name="Document" r:id="rId6" imgW="3337211" imgH="568460" progId="Word.Document.12">
              <p:embed/>
            </p:oleObj>
          </a:graphicData>
        </a:graphic>
      </p:graphicFrame>
      <p:graphicFrame>
        <p:nvGraphicFramePr>
          <p:cNvPr id="73737" name="Object 9"/>
          <p:cNvGraphicFramePr>
            <a:graphicFrameLocks noChangeAspect="1"/>
          </p:cNvGraphicFramePr>
          <p:nvPr/>
        </p:nvGraphicFramePr>
        <p:xfrm>
          <a:off x="3693840" y="2342428"/>
          <a:ext cx="3336925" cy="568325"/>
        </p:xfrm>
        <a:graphic>
          <a:graphicData uri="http://schemas.openxmlformats.org/presentationml/2006/ole">
            <p:oleObj spid="_x0000_s73737" name="Document" r:id="rId7" imgW="3327638" imgH="568460" progId="Word.Document.12">
              <p:embed/>
            </p:oleObj>
          </a:graphicData>
        </a:graphic>
      </p:graphicFrame>
      <p:graphicFrame>
        <p:nvGraphicFramePr>
          <p:cNvPr id="73738" name="Object 10"/>
          <p:cNvGraphicFramePr>
            <a:graphicFrameLocks noChangeAspect="1"/>
          </p:cNvGraphicFramePr>
          <p:nvPr/>
        </p:nvGraphicFramePr>
        <p:xfrm>
          <a:off x="4296654" y="2349210"/>
          <a:ext cx="3308350" cy="547688"/>
        </p:xfrm>
        <a:graphic>
          <a:graphicData uri="http://schemas.openxmlformats.org/presentationml/2006/ole">
            <p:oleObj spid="_x0000_s73738" name="Document" r:id="rId8" imgW="3337211" imgH="568460" progId="Word.Document.12">
              <p:embed/>
            </p:oleObj>
          </a:graphicData>
        </a:graphic>
      </p:graphicFrame>
      <p:graphicFrame>
        <p:nvGraphicFramePr>
          <p:cNvPr id="73739" name="Object 11"/>
          <p:cNvGraphicFramePr>
            <a:graphicFrameLocks noChangeAspect="1"/>
          </p:cNvGraphicFramePr>
          <p:nvPr/>
        </p:nvGraphicFramePr>
        <p:xfrm>
          <a:off x="3326820" y="2915079"/>
          <a:ext cx="3306763" cy="547687"/>
        </p:xfrm>
        <a:graphic>
          <a:graphicData uri="http://schemas.openxmlformats.org/presentationml/2006/ole">
            <p:oleObj spid="_x0000_s73739" name="Document" r:id="rId9" imgW="3337211" imgH="568460" progId="Word.Document.12">
              <p:embed/>
            </p:oleObj>
          </a:graphicData>
        </a:graphic>
      </p:graphicFrame>
      <p:graphicFrame>
        <p:nvGraphicFramePr>
          <p:cNvPr id="73740" name="Object 12"/>
          <p:cNvGraphicFramePr>
            <a:graphicFrameLocks noChangeAspect="1"/>
          </p:cNvGraphicFramePr>
          <p:nvPr/>
        </p:nvGraphicFramePr>
        <p:xfrm>
          <a:off x="3772327" y="2909022"/>
          <a:ext cx="3308350" cy="547688"/>
        </p:xfrm>
        <a:graphic>
          <a:graphicData uri="http://schemas.openxmlformats.org/presentationml/2006/ole">
            <p:oleObj spid="_x0000_s73740" name="Document" r:id="rId10" imgW="3337211" imgH="568460" progId="Word.Document.12">
              <p:embed/>
            </p:oleObj>
          </a:graphicData>
        </a:graphic>
      </p:graphicFrame>
      <p:graphicFrame>
        <p:nvGraphicFramePr>
          <p:cNvPr id="73741" name="Object 13"/>
          <p:cNvGraphicFramePr>
            <a:graphicFrameLocks noChangeAspect="1"/>
          </p:cNvGraphicFramePr>
          <p:nvPr/>
        </p:nvGraphicFramePr>
        <p:xfrm>
          <a:off x="3979881" y="2915079"/>
          <a:ext cx="3306763" cy="547688"/>
        </p:xfrm>
        <a:graphic>
          <a:graphicData uri="http://schemas.openxmlformats.org/presentationml/2006/ole">
            <p:oleObj spid="_x0000_s73741" name="Document" r:id="rId11" imgW="3337211" imgH="568460" progId="Word.Document.12">
              <p:embed/>
            </p:oleObj>
          </a:graphicData>
        </a:graphic>
      </p:graphicFrame>
      <p:graphicFrame>
        <p:nvGraphicFramePr>
          <p:cNvPr id="73742" name="Object 14"/>
          <p:cNvGraphicFramePr>
            <a:graphicFrameLocks noChangeAspect="1"/>
          </p:cNvGraphicFramePr>
          <p:nvPr/>
        </p:nvGraphicFramePr>
        <p:xfrm>
          <a:off x="4568683" y="2915079"/>
          <a:ext cx="3308350" cy="547688"/>
        </p:xfrm>
        <a:graphic>
          <a:graphicData uri="http://schemas.openxmlformats.org/presentationml/2006/ole">
            <p:oleObj spid="_x0000_s73742" name="Document" r:id="rId12" imgW="3337211" imgH="568460" progId="Word.Document.12">
              <p:embed/>
            </p:oleObj>
          </a:graphicData>
        </a:graphic>
      </p:graphicFrame>
      <p:graphicFrame>
        <p:nvGraphicFramePr>
          <p:cNvPr id="73743" name="Object 15"/>
          <p:cNvGraphicFramePr>
            <a:graphicFrameLocks noChangeAspect="1"/>
          </p:cNvGraphicFramePr>
          <p:nvPr/>
        </p:nvGraphicFramePr>
        <p:xfrm>
          <a:off x="3173113" y="3438962"/>
          <a:ext cx="3306763" cy="547687"/>
        </p:xfrm>
        <a:graphic>
          <a:graphicData uri="http://schemas.openxmlformats.org/presentationml/2006/ole">
            <p:oleObj spid="_x0000_s73743" name="Document" r:id="rId13" imgW="3337211" imgH="568460" progId="Word.Document.12">
              <p:embed/>
            </p:oleObj>
          </a:graphicData>
        </a:graphic>
      </p:graphicFrame>
      <p:graphicFrame>
        <p:nvGraphicFramePr>
          <p:cNvPr id="73744" name="Object 16"/>
          <p:cNvGraphicFramePr>
            <a:graphicFrameLocks noChangeAspect="1"/>
          </p:cNvGraphicFramePr>
          <p:nvPr/>
        </p:nvGraphicFramePr>
        <p:xfrm>
          <a:off x="3601741" y="3456710"/>
          <a:ext cx="3308350" cy="547688"/>
        </p:xfrm>
        <a:graphic>
          <a:graphicData uri="http://schemas.openxmlformats.org/presentationml/2006/ole">
            <p:oleObj spid="_x0000_s73744" name="Document" r:id="rId14" imgW="3337211" imgH="568460" progId="Word.Document.12">
              <p:embed/>
            </p:oleObj>
          </a:graphicData>
        </a:graphic>
      </p:graphicFrame>
      <p:graphicFrame>
        <p:nvGraphicFramePr>
          <p:cNvPr id="73746" name="Object 18"/>
          <p:cNvGraphicFramePr>
            <a:graphicFrameLocks noChangeAspect="1"/>
          </p:cNvGraphicFramePr>
          <p:nvPr/>
        </p:nvGraphicFramePr>
        <p:xfrm>
          <a:off x="3817539" y="3438961"/>
          <a:ext cx="3306762" cy="547688"/>
        </p:xfrm>
        <a:graphic>
          <a:graphicData uri="http://schemas.openxmlformats.org/presentationml/2006/ole">
            <p:oleObj spid="_x0000_s73746" name="Document" r:id="rId15" imgW="3337211" imgH="568460" progId="Word.Document.12">
              <p:embed/>
            </p:oleObj>
          </a:graphicData>
        </a:graphic>
      </p:graphicFrame>
      <p:graphicFrame>
        <p:nvGraphicFramePr>
          <p:cNvPr id="73747" name="Object 19"/>
          <p:cNvGraphicFramePr>
            <a:graphicFrameLocks noChangeAspect="1"/>
          </p:cNvGraphicFramePr>
          <p:nvPr/>
        </p:nvGraphicFramePr>
        <p:xfrm>
          <a:off x="4345585" y="3452816"/>
          <a:ext cx="3308350" cy="547688"/>
        </p:xfrm>
        <a:graphic>
          <a:graphicData uri="http://schemas.openxmlformats.org/presentationml/2006/ole">
            <p:oleObj spid="_x0000_s73747" name="Document" r:id="rId16" imgW="3337211" imgH="568460" progId="Word.Document.12">
              <p:embed/>
            </p:oleObj>
          </a:graphicData>
        </a:graphic>
      </p:graphicFrame>
      <p:graphicFrame>
        <p:nvGraphicFramePr>
          <p:cNvPr id="73748" name="Object 20"/>
          <p:cNvGraphicFramePr>
            <a:graphicFrameLocks noChangeAspect="1"/>
          </p:cNvGraphicFramePr>
          <p:nvPr/>
        </p:nvGraphicFramePr>
        <p:xfrm>
          <a:off x="3200823" y="4095759"/>
          <a:ext cx="3306763" cy="547687"/>
        </p:xfrm>
        <a:graphic>
          <a:graphicData uri="http://schemas.openxmlformats.org/presentationml/2006/ole">
            <p:oleObj spid="_x0000_s73748" name="Document" r:id="rId17" imgW="3337211" imgH="568460" progId="Word.Document.12">
              <p:embed/>
            </p:oleObj>
          </a:graphicData>
        </a:graphic>
      </p:graphicFrame>
      <p:graphicFrame>
        <p:nvGraphicFramePr>
          <p:cNvPr id="73750" name="Object 22"/>
          <p:cNvGraphicFramePr>
            <a:graphicFrameLocks noChangeAspect="1"/>
          </p:cNvGraphicFramePr>
          <p:nvPr/>
        </p:nvGraphicFramePr>
        <p:xfrm>
          <a:off x="3731944" y="4095758"/>
          <a:ext cx="3308350" cy="547688"/>
        </p:xfrm>
        <a:graphic>
          <a:graphicData uri="http://schemas.openxmlformats.org/presentationml/2006/ole">
            <p:oleObj spid="_x0000_s73750" name="Document" r:id="rId18" imgW="3337211" imgH="568460" progId="Word.Document.12">
              <p:embed/>
            </p:oleObj>
          </a:graphicData>
        </a:graphic>
      </p:graphicFrame>
      <p:graphicFrame>
        <p:nvGraphicFramePr>
          <p:cNvPr id="73751" name="Object 23"/>
          <p:cNvGraphicFramePr>
            <a:graphicFrameLocks noChangeAspect="1"/>
          </p:cNvGraphicFramePr>
          <p:nvPr/>
        </p:nvGraphicFramePr>
        <p:xfrm>
          <a:off x="4296082" y="4095758"/>
          <a:ext cx="3308350" cy="547688"/>
        </p:xfrm>
        <a:graphic>
          <a:graphicData uri="http://schemas.openxmlformats.org/presentationml/2006/ole">
            <p:oleObj spid="_x0000_s73751" name="Document" r:id="rId19" imgW="3337211" imgH="568460" progId="Word.Document.12">
              <p:embed/>
            </p:oleObj>
          </a:graphicData>
        </a:graphic>
      </p:graphicFrame>
      <p:graphicFrame>
        <p:nvGraphicFramePr>
          <p:cNvPr id="73752" name="Object 24"/>
          <p:cNvGraphicFramePr>
            <a:graphicFrameLocks noChangeAspect="1"/>
          </p:cNvGraphicFramePr>
          <p:nvPr/>
        </p:nvGraphicFramePr>
        <p:xfrm>
          <a:off x="3343699" y="4653407"/>
          <a:ext cx="3306763" cy="547688"/>
        </p:xfrm>
        <a:graphic>
          <a:graphicData uri="http://schemas.openxmlformats.org/presentationml/2006/ole">
            <p:oleObj spid="_x0000_s73752" name="Document" r:id="rId20" imgW="3337211" imgH="568460" progId="Word.Document.12">
              <p:embed/>
            </p:oleObj>
          </a:graphicData>
        </a:graphic>
      </p:graphicFrame>
      <p:graphicFrame>
        <p:nvGraphicFramePr>
          <p:cNvPr id="73753" name="Object 25"/>
          <p:cNvGraphicFramePr>
            <a:graphicFrameLocks noChangeAspect="1"/>
          </p:cNvGraphicFramePr>
          <p:nvPr/>
        </p:nvGraphicFramePr>
        <p:xfrm>
          <a:off x="3800037" y="4632770"/>
          <a:ext cx="3336925" cy="568325"/>
        </p:xfrm>
        <a:graphic>
          <a:graphicData uri="http://schemas.openxmlformats.org/presentationml/2006/ole">
            <p:oleObj spid="_x0000_s73753" name="Document" r:id="rId21" imgW="3327638" imgH="568460" progId="Word.Document.12">
              <p:embed/>
            </p:oleObj>
          </a:graphicData>
        </a:graphic>
      </p:graphicFrame>
      <p:graphicFrame>
        <p:nvGraphicFramePr>
          <p:cNvPr id="73754" name="Object 26"/>
          <p:cNvGraphicFramePr>
            <a:graphicFrameLocks noChangeAspect="1"/>
          </p:cNvGraphicFramePr>
          <p:nvPr/>
        </p:nvGraphicFramePr>
        <p:xfrm>
          <a:off x="4023610" y="4653407"/>
          <a:ext cx="3306762" cy="547688"/>
        </p:xfrm>
        <a:graphic>
          <a:graphicData uri="http://schemas.openxmlformats.org/presentationml/2006/ole">
            <p:oleObj spid="_x0000_s73754" name="Document" r:id="rId22" imgW="3337211" imgH="568460" progId="Word.Document.12">
              <p:embed/>
            </p:oleObj>
          </a:graphicData>
        </a:graphic>
      </p:graphicFrame>
      <p:graphicFrame>
        <p:nvGraphicFramePr>
          <p:cNvPr id="73755" name="Object 27"/>
          <p:cNvGraphicFramePr>
            <a:graphicFrameLocks noChangeAspect="1"/>
          </p:cNvGraphicFramePr>
          <p:nvPr/>
        </p:nvGraphicFramePr>
        <p:xfrm>
          <a:off x="4526414" y="4633063"/>
          <a:ext cx="3308350" cy="547688"/>
        </p:xfrm>
        <a:graphic>
          <a:graphicData uri="http://schemas.openxmlformats.org/presentationml/2006/ole">
            <p:oleObj spid="_x0000_s73755" name="Document" r:id="rId23" imgW="3337211" imgH="568460" progId="Word.Document.12">
              <p:embed/>
            </p:oleObj>
          </a:graphicData>
        </a:graphic>
      </p:graphicFrame>
      <p:graphicFrame>
        <p:nvGraphicFramePr>
          <p:cNvPr id="73756" name="Object 28"/>
          <p:cNvGraphicFramePr>
            <a:graphicFrameLocks noChangeAspect="1"/>
          </p:cNvGraphicFramePr>
          <p:nvPr/>
        </p:nvGraphicFramePr>
        <p:xfrm>
          <a:off x="3336939" y="5181184"/>
          <a:ext cx="3306763" cy="547687"/>
        </p:xfrm>
        <a:graphic>
          <a:graphicData uri="http://schemas.openxmlformats.org/presentationml/2006/ole">
            <p:oleObj spid="_x0000_s73756" name="Document" r:id="rId24" imgW="3337211" imgH="568460" progId="Word.Document.12">
              <p:embed/>
            </p:oleObj>
          </a:graphicData>
        </a:graphic>
      </p:graphicFrame>
      <p:graphicFrame>
        <p:nvGraphicFramePr>
          <p:cNvPr id="73757" name="Object 29"/>
          <p:cNvGraphicFramePr>
            <a:graphicFrameLocks noChangeAspect="1"/>
          </p:cNvGraphicFramePr>
          <p:nvPr/>
        </p:nvGraphicFramePr>
        <p:xfrm>
          <a:off x="3791690" y="5167328"/>
          <a:ext cx="3308350" cy="547688"/>
        </p:xfrm>
        <a:graphic>
          <a:graphicData uri="http://schemas.openxmlformats.org/presentationml/2006/ole">
            <p:oleObj spid="_x0000_s73757" name="Document" r:id="rId25" imgW="3337211" imgH="568460" progId="Word.Document.12">
              <p:embed/>
            </p:oleObj>
          </a:graphicData>
        </a:graphic>
      </p:graphicFrame>
      <p:graphicFrame>
        <p:nvGraphicFramePr>
          <p:cNvPr id="73758" name="Object 30"/>
          <p:cNvGraphicFramePr>
            <a:graphicFrameLocks noChangeAspect="1"/>
          </p:cNvGraphicFramePr>
          <p:nvPr/>
        </p:nvGraphicFramePr>
        <p:xfrm>
          <a:off x="4390039" y="5160546"/>
          <a:ext cx="3336925" cy="568325"/>
        </p:xfrm>
        <a:graphic>
          <a:graphicData uri="http://schemas.openxmlformats.org/presentationml/2006/ole">
            <p:oleObj spid="_x0000_s73758" name="Document" r:id="rId26" imgW="3327638" imgH="568460" progId="Word.Document.12">
              <p:embed/>
            </p:oleObj>
          </a:graphicData>
        </a:graphic>
      </p:graphicFrame>
      <p:graphicFrame>
        <p:nvGraphicFramePr>
          <p:cNvPr id="73759" name="Object 31"/>
          <p:cNvGraphicFramePr>
            <a:graphicFrameLocks noChangeAspect="1"/>
          </p:cNvGraphicFramePr>
          <p:nvPr/>
        </p:nvGraphicFramePr>
        <p:xfrm>
          <a:off x="4779554" y="5181183"/>
          <a:ext cx="3306763" cy="547688"/>
        </p:xfrm>
        <a:graphic>
          <a:graphicData uri="http://schemas.openxmlformats.org/presentationml/2006/ole">
            <p:oleObj spid="_x0000_s73759" name="Document" r:id="rId27" imgW="3337211" imgH="568460" progId="Word.Document.12">
              <p:embed/>
            </p:oleObj>
          </a:graphicData>
        </a:graphic>
      </p:graphicFrame>
      <p:graphicFrame>
        <p:nvGraphicFramePr>
          <p:cNvPr id="73760" name="Object 32"/>
          <p:cNvGraphicFramePr>
            <a:graphicFrameLocks noChangeAspect="1"/>
          </p:cNvGraphicFramePr>
          <p:nvPr/>
        </p:nvGraphicFramePr>
        <p:xfrm>
          <a:off x="5236468" y="5171222"/>
          <a:ext cx="3308350" cy="547687"/>
        </p:xfrm>
        <a:graphic>
          <a:graphicData uri="http://schemas.openxmlformats.org/presentationml/2006/ole">
            <p:oleObj spid="_x0000_s73760" name="Document" r:id="rId28" imgW="3337211" imgH="568460" progId="Word.Document.12">
              <p:embed/>
            </p:oleObj>
          </a:graphicData>
        </a:graphic>
      </p:graphicFrame>
      <p:graphicFrame>
        <p:nvGraphicFramePr>
          <p:cNvPr id="73761" name="Object 33"/>
          <p:cNvGraphicFramePr>
            <a:graphicFrameLocks noChangeAspect="1"/>
          </p:cNvGraphicFramePr>
          <p:nvPr/>
        </p:nvGraphicFramePr>
        <p:xfrm>
          <a:off x="6623087" y="3816063"/>
          <a:ext cx="3306763" cy="547688"/>
        </p:xfrm>
        <a:graphic>
          <a:graphicData uri="http://schemas.openxmlformats.org/presentationml/2006/ole">
            <p:oleObj spid="_x0000_s73761" name="Document" r:id="rId29" imgW="3337211" imgH="568460" progId="Word.Document.12">
              <p:embed/>
            </p:oleObj>
          </a:graphicData>
        </a:graphic>
      </p:graphicFrame>
      <p:graphicFrame>
        <p:nvGraphicFramePr>
          <p:cNvPr id="73762" name="Object 34"/>
          <p:cNvGraphicFramePr>
            <a:graphicFrameLocks noChangeAspect="1"/>
          </p:cNvGraphicFramePr>
          <p:nvPr/>
        </p:nvGraphicFramePr>
        <p:xfrm>
          <a:off x="7129913" y="3816063"/>
          <a:ext cx="3308350" cy="547687"/>
        </p:xfrm>
        <a:graphic>
          <a:graphicData uri="http://schemas.openxmlformats.org/presentationml/2006/ole">
            <p:oleObj spid="_x0000_s73762" name="Document" r:id="rId30" imgW="3337211" imgH="568460" progId="Word.Document.12">
              <p:embed/>
            </p:oleObj>
          </a:graphicData>
        </a:graphic>
      </p:graphicFrame>
      <p:graphicFrame>
        <p:nvGraphicFramePr>
          <p:cNvPr id="73763" name="Object 35"/>
          <p:cNvGraphicFramePr>
            <a:graphicFrameLocks noChangeAspect="1"/>
          </p:cNvGraphicFramePr>
          <p:nvPr/>
        </p:nvGraphicFramePr>
        <p:xfrm>
          <a:off x="6629847" y="4097921"/>
          <a:ext cx="3306763" cy="547688"/>
        </p:xfrm>
        <a:graphic>
          <a:graphicData uri="http://schemas.openxmlformats.org/presentationml/2006/ole">
            <p:oleObj spid="_x0000_s73763" name="Document" r:id="rId31" imgW="3337211" imgH="568460" progId="Word.Document.12">
              <p:embed/>
            </p:oleObj>
          </a:graphicData>
        </a:graphic>
      </p:graphicFrame>
      <p:graphicFrame>
        <p:nvGraphicFramePr>
          <p:cNvPr id="73764" name="Object 36"/>
          <p:cNvGraphicFramePr>
            <a:graphicFrameLocks noChangeAspect="1"/>
          </p:cNvGraphicFramePr>
          <p:nvPr/>
        </p:nvGraphicFramePr>
        <p:xfrm>
          <a:off x="7122405" y="4097921"/>
          <a:ext cx="3308350" cy="547688"/>
        </p:xfrm>
        <a:graphic>
          <a:graphicData uri="http://schemas.openxmlformats.org/presentationml/2006/ole">
            <p:oleObj spid="_x0000_s73764" name="Document" r:id="rId32" imgW="3337211" imgH="568460" progId="Word.Document.12">
              <p:embed/>
            </p:oleObj>
          </a:graphicData>
        </a:graphic>
      </p:graphicFrame>
      <p:sp>
        <p:nvSpPr>
          <p:cNvPr id="41" name="TextBox 40"/>
          <p:cNvSpPr txBox="1"/>
          <p:nvPr/>
        </p:nvSpPr>
        <p:spPr>
          <a:xfrm>
            <a:off x="714348" y="857232"/>
            <a:ext cx="23679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2400" b="1" dirty="0" smtClean="0">
                <a:solidFill>
                  <a:schemeClr val="bg1"/>
                </a:solidFill>
                <a:latin typeface="Bradley Hand ITC" pitchFamily="66" charset="0"/>
              </a:rPr>
              <a:t>Konversi ke CNF</a:t>
            </a:r>
            <a:endParaRPr lang="id-ID" sz="2400" b="1" dirty="0">
              <a:solidFill>
                <a:schemeClr val="bg1"/>
              </a:solidFill>
              <a:latin typeface="Bradley Hand ITC" pitchFamily="66" charset="0"/>
            </a:endParaRPr>
          </a:p>
        </p:txBody>
      </p:sp>
      <p:graphicFrame>
        <p:nvGraphicFramePr>
          <p:cNvPr id="73765" name="Object 37"/>
          <p:cNvGraphicFramePr>
            <a:graphicFrameLocks noChangeAspect="1"/>
          </p:cNvGraphicFramePr>
          <p:nvPr/>
        </p:nvGraphicFramePr>
        <p:xfrm>
          <a:off x="1514021" y="3782297"/>
          <a:ext cx="3308350" cy="547687"/>
        </p:xfrm>
        <a:graphic>
          <a:graphicData uri="http://schemas.openxmlformats.org/presentationml/2006/ole">
            <p:oleObj spid="_x0000_s73765" name="Document" r:id="rId33" imgW="3337211" imgH="568460" progId="Word.Document.12">
              <p:embed/>
            </p:oleObj>
          </a:graphicData>
        </a:graphic>
      </p:graphicFrame>
      <p:graphicFrame>
        <p:nvGraphicFramePr>
          <p:cNvPr id="73766" name="Object 38"/>
          <p:cNvGraphicFramePr>
            <a:graphicFrameLocks noChangeAspect="1"/>
          </p:cNvGraphicFramePr>
          <p:nvPr/>
        </p:nvGraphicFramePr>
        <p:xfrm>
          <a:off x="2016250" y="3780709"/>
          <a:ext cx="3308350" cy="549275"/>
        </p:xfrm>
        <a:graphic>
          <a:graphicData uri="http://schemas.openxmlformats.org/presentationml/2006/ole">
            <p:oleObj spid="_x0000_s73766" name="Document" r:id="rId34" imgW="3337211" imgH="568460" progId="Word.Document.12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68621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4" name="TextBox 43"/>
          <p:cNvSpPr txBox="1"/>
          <p:nvPr/>
        </p:nvSpPr>
        <p:spPr>
          <a:xfrm>
            <a:off x="714348" y="928670"/>
            <a:ext cx="6160661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60363" indent="-360363"/>
            <a:r>
              <a:rPr lang="id-ID" sz="2400" b="1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Tambahkan hasil negasi dari R ke himpunan</a:t>
            </a:r>
          </a:p>
          <a:p>
            <a:pPr marL="360363" indent="-360363"/>
            <a:r>
              <a:rPr lang="id-ID" sz="2400" b="1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klausa :</a:t>
            </a:r>
          </a:p>
          <a:p>
            <a:pPr marL="457200" indent="-457200">
              <a:buFont typeface="+mj-lt"/>
              <a:buAutoNum type="arabicPeriod"/>
            </a:pP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P</a:t>
            </a:r>
          </a:p>
          <a:p>
            <a:pPr marL="457200" indent="-457200">
              <a:buFont typeface="+mj-lt"/>
              <a:buAutoNum type="arabicPeriod"/>
            </a:pP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   P       Q     R</a:t>
            </a:r>
          </a:p>
          <a:p>
            <a:pPr marL="457200" indent="-457200">
              <a:buFont typeface="+mj-lt"/>
              <a:buAutoNum type="arabicPeriod"/>
            </a:pP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   S    Q</a:t>
            </a:r>
          </a:p>
          <a:p>
            <a:pPr marL="457200" indent="-457200">
              <a:buFont typeface="+mj-lt"/>
              <a:buAutoNum type="arabicPeriod"/>
            </a:pP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   T     Q</a:t>
            </a:r>
          </a:p>
          <a:p>
            <a:pPr marL="457200" indent="-457200">
              <a:buFont typeface="+mj-lt"/>
              <a:buAutoNum type="arabicPeriod"/>
            </a:pP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T</a:t>
            </a:r>
          </a:p>
          <a:p>
            <a:pPr marL="457200" indent="-457200">
              <a:buFont typeface="+mj-lt"/>
              <a:buAutoNum type="arabicPeriod"/>
            </a:pP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   R</a:t>
            </a:r>
          </a:p>
        </p:txBody>
      </p:sp>
      <p:graphicFrame>
        <p:nvGraphicFramePr>
          <p:cNvPr id="77827" name="Object 3"/>
          <p:cNvGraphicFramePr>
            <a:graphicFrameLocks noChangeAspect="1"/>
          </p:cNvGraphicFramePr>
          <p:nvPr/>
        </p:nvGraphicFramePr>
        <p:xfrm>
          <a:off x="1214414" y="2057823"/>
          <a:ext cx="3306763" cy="547688"/>
        </p:xfrm>
        <a:graphic>
          <a:graphicData uri="http://schemas.openxmlformats.org/presentationml/2006/ole">
            <p:oleObj spid="_x0000_s77827" name="Document" r:id="rId4" imgW="3327638" imgH="568460" progId="Word.Document.12">
              <p:embed/>
            </p:oleObj>
          </a:graphicData>
        </a:graphic>
      </p:graphicFrame>
      <p:graphicFrame>
        <p:nvGraphicFramePr>
          <p:cNvPr id="77830" name="Object 6"/>
          <p:cNvGraphicFramePr>
            <a:graphicFrameLocks noChangeAspect="1"/>
          </p:cNvGraphicFramePr>
          <p:nvPr/>
        </p:nvGraphicFramePr>
        <p:xfrm>
          <a:off x="1746516" y="2046131"/>
          <a:ext cx="3308350" cy="547688"/>
        </p:xfrm>
        <a:graphic>
          <a:graphicData uri="http://schemas.openxmlformats.org/presentationml/2006/ole">
            <p:oleObj spid="_x0000_s77830" name="Document" r:id="rId5" imgW="3327638" imgH="568460" progId="Word.Document.12">
              <p:embed/>
            </p:oleObj>
          </a:graphicData>
        </a:graphic>
      </p:graphicFrame>
      <p:graphicFrame>
        <p:nvGraphicFramePr>
          <p:cNvPr id="77831" name="Object 7"/>
          <p:cNvGraphicFramePr>
            <a:graphicFrameLocks noChangeAspect="1"/>
          </p:cNvGraphicFramePr>
          <p:nvPr/>
        </p:nvGraphicFramePr>
        <p:xfrm>
          <a:off x="1979618" y="2043968"/>
          <a:ext cx="3306762" cy="547688"/>
        </p:xfrm>
        <a:graphic>
          <a:graphicData uri="http://schemas.openxmlformats.org/presentationml/2006/ole">
            <p:oleObj spid="_x0000_s77831" name="Document" r:id="rId6" imgW="3327638" imgH="568460" progId="Word.Document.12">
              <p:embed/>
            </p:oleObj>
          </a:graphicData>
        </a:graphic>
      </p:graphicFrame>
      <p:graphicFrame>
        <p:nvGraphicFramePr>
          <p:cNvPr id="77832" name="Object 8"/>
          <p:cNvGraphicFramePr>
            <a:graphicFrameLocks noChangeAspect="1"/>
          </p:cNvGraphicFramePr>
          <p:nvPr/>
        </p:nvGraphicFramePr>
        <p:xfrm>
          <a:off x="2500298" y="2057823"/>
          <a:ext cx="3308350" cy="547688"/>
        </p:xfrm>
        <a:graphic>
          <a:graphicData uri="http://schemas.openxmlformats.org/presentationml/2006/ole">
            <p:oleObj spid="_x0000_s77832" name="Document" r:id="rId7" imgW="3327638" imgH="568460" progId="Word.Document.12">
              <p:embed/>
            </p:oleObj>
          </a:graphicData>
        </a:graphic>
      </p:graphicFrame>
      <p:graphicFrame>
        <p:nvGraphicFramePr>
          <p:cNvPr id="77833" name="Object 9"/>
          <p:cNvGraphicFramePr>
            <a:graphicFrameLocks noChangeAspect="1"/>
          </p:cNvGraphicFramePr>
          <p:nvPr/>
        </p:nvGraphicFramePr>
        <p:xfrm>
          <a:off x="1214414" y="2411119"/>
          <a:ext cx="3306762" cy="547688"/>
        </p:xfrm>
        <a:graphic>
          <a:graphicData uri="http://schemas.openxmlformats.org/presentationml/2006/ole">
            <p:oleObj spid="_x0000_s77833" name="Document" r:id="rId8" imgW="3327638" imgH="568460" progId="Word.Document.12">
              <p:embed/>
            </p:oleObj>
          </a:graphicData>
        </a:graphic>
      </p:graphicFrame>
      <p:graphicFrame>
        <p:nvGraphicFramePr>
          <p:cNvPr id="77834" name="Object 10"/>
          <p:cNvGraphicFramePr>
            <a:graphicFrameLocks noChangeAspect="1"/>
          </p:cNvGraphicFramePr>
          <p:nvPr/>
        </p:nvGraphicFramePr>
        <p:xfrm>
          <a:off x="1742190" y="2424975"/>
          <a:ext cx="3308350" cy="547687"/>
        </p:xfrm>
        <a:graphic>
          <a:graphicData uri="http://schemas.openxmlformats.org/presentationml/2006/ole">
            <p:oleObj spid="_x0000_s77834" name="Document" r:id="rId9" imgW="3327638" imgH="568460" progId="Word.Document.12">
              <p:embed/>
            </p:oleObj>
          </a:graphicData>
        </a:graphic>
      </p:graphicFrame>
      <p:graphicFrame>
        <p:nvGraphicFramePr>
          <p:cNvPr id="77835" name="Object 11"/>
          <p:cNvGraphicFramePr>
            <a:graphicFrameLocks noChangeAspect="1"/>
          </p:cNvGraphicFramePr>
          <p:nvPr/>
        </p:nvGraphicFramePr>
        <p:xfrm>
          <a:off x="1216577" y="2781732"/>
          <a:ext cx="3306762" cy="547687"/>
        </p:xfrm>
        <a:graphic>
          <a:graphicData uri="http://schemas.openxmlformats.org/presentationml/2006/ole">
            <p:oleObj spid="_x0000_s77835" name="Document" r:id="rId10" imgW="3327638" imgH="568460" progId="Word.Document.12">
              <p:embed/>
            </p:oleObj>
          </a:graphicData>
        </a:graphic>
      </p:graphicFrame>
      <p:graphicFrame>
        <p:nvGraphicFramePr>
          <p:cNvPr id="77836" name="Object 12"/>
          <p:cNvGraphicFramePr>
            <a:graphicFrameLocks noChangeAspect="1"/>
          </p:cNvGraphicFramePr>
          <p:nvPr/>
        </p:nvGraphicFramePr>
        <p:xfrm>
          <a:off x="1743627" y="2796019"/>
          <a:ext cx="3308350" cy="547688"/>
        </p:xfrm>
        <a:graphic>
          <a:graphicData uri="http://schemas.openxmlformats.org/presentationml/2006/ole">
            <p:oleObj spid="_x0000_s77836" name="Document" r:id="rId11" imgW="3327638" imgH="568460" progId="Word.Document.12">
              <p:embed/>
            </p:oleObj>
          </a:graphicData>
        </a:graphic>
      </p:graphicFrame>
      <p:graphicFrame>
        <p:nvGraphicFramePr>
          <p:cNvPr id="77837" name="Object 13"/>
          <p:cNvGraphicFramePr>
            <a:graphicFrameLocks noChangeAspect="1"/>
          </p:cNvGraphicFramePr>
          <p:nvPr/>
        </p:nvGraphicFramePr>
        <p:xfrm>
          <a:off x="1216577" y="3524254"/>
          <a:ext cx="3306763" cy="547688"/>
        </p:xfrm>
        <a:graphic>
          <a:graphicData uri="http://schemas.openxmlformats.org/presentationml/2006/ole">
            <p:oleObj spid="_x0000_s77837" name="Document" r:id="rId12" imgW="3327638" imgH="568460" progId="Word.Document.12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68621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4" name="TextBox 43"/>
          <p:cNvSpPr txBox="1"/>
          <p:nvPr/>
        </p:nvSpPr>
        <p:spPr>
          <a:xfrm>
            <a:off x="797255" y="928670"/>
            <a:ext cx="56621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60363" indent="-360363"/>
            <a:r>
              <a:rPr lang="id-ID" sz="2400" b="1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Lakukan resolusi untuk membuktikan R</a:t>
            </a:r>
          </a:p>
        </p:txBody>
      </p:sp>
      <p:sp>
        <p:nvSpPr>
          <p:cNvPr id="5" name="Rectangle 4"/>
          <p:cNvSpPr/>
          <p:nvPr/>
        </p:nvSpPr>
        <p:spPr>
          <a:xfrm>
            <a:off x="928662" y="1643050"/>
            <a:ext cx="2439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 </a:t>
            </a:r>
            <a:endParaRPr lang="id-ID" dirty="0"/>
          </a:p>
        </p:txBody>
      </p:sp>
      <p:graphicFrame>
        <p:nvGraphicFramePr>
          <p:cNvPr id="78858" name="Object 10"/>
          <p:cNvGraphicFramePr>
            <a:graphicFrameLocks noChangeAspect="1"/>
          </p:cNvGraphicFramePr>
          <p:nvPr/>
        </p:nvGraphicFramePr>
        <p:xfrm>
          <a:off x="714348" y="1571612"/>
          <a:ext cx="1874838" cy="533400"/>
        </p:xfrm>
        <a:graphic>
          <a:graphicData uri="http://schemas.openxmlformats.org/presentationml/2006/ole">
            <p:oleObj spid="_x0000_s78858" name="Document" r:id="rId4" imgW="1899827" imgH="552620" progId="Word.Document.12">
              <p:embed/>
            </p:oleObj>
          </a:graphicData>
        </a:graphic>
      </p:graphicFrame>
      <p:graphicFrame>
        <p:nvGraphicFramePr>
          <p:cNvPr id="78859" name="Object 11"/>
          <p:cNvGraphicFramePr>
            <a:graphicFrameLocks noChangeAspect="1"/>
          </p:cNvGraphicFramePr>
          <p:nvPr/>
        </p:nvGraphicFramePr>
        <p:xfrm>
          <a:off x="3124200" y="1570038"/>
          <a:ext cx="1096963" cy="533400"/>
        </p:xfrm>
        <a:graphic>
          <a:graphicData uri="http://schemas.openxmlformats.org/presentationml/2006/ole">
            <p:oleObj spid="_x0000_s78859" name="Document" r:id="rId5" imgW="1140261" imgH="555500" progId="Word.Document.12">
              <p:embed/>
            </p:oleObj>
          </a:graphicData>
        </a:graphic>
      </p:graphicFrame>
      <p:graphicFrame>
        <p:nvGraphicFramePr>
          <p:cNvPr id="78860" name="Object 12"/>
          <p:cNvGraphicFramePr>
            <a:graphicFrameLocks noChangeAspect="1"/>
          </p:cNvGraphicFramePr>
          <p:nvPr/>
        </p:nvGraphicFramePr>
        <p:xfrm>
          <a:off x="1928794" y="2466972"/>
          <a:ext cx="1843088" cy="533400"/>
        </p:xfrm>
        <a:graphic>
          <a:graphicData uri="http://schemas.openxmlformats.org/presentationml/2006/ole">
            <p:oleObj spid="_x0000_s78860" name="Document" r:id="rId6" imgW="1895868" imgH="552620" progId="Word.Document.12">
              <p:embed/>
            </p:oleObj>
          </a:graphicData>
        </a:graphic>
      </p:graphicFrame>
      <p:graphicFrame>
        <p:nvGraphicFramePr>
          <p:cNvPr id="78861" name="Object 13"/>
          <p:cNvGraphicFramePr>
            <a:graphicFrameLocks noChangeAspect="1"/>
          </p:cNvGraphicFramePr>
          <p:nvPr/>
        </p:nvGraphicFramePr>
        <p:xfrm>
          <a:off x="3903665" y="2466972"/>
          <a:ext cx="1096963" cy="533400"/>
        </p:xfrm>
        <a:graphic>
          <a:graphicData uri="http://schemas.openxmlformats.org/presentationml/2006/ole">
            <p:oleObj spid="_x0000_s78861" name="Document" r:id="rId7" imgW="1140261" imgH="555500" progId="Word.Document.12">
              <p:embed/>
            </p:oleObj>
          </a:graphicData>
        </a:graphic>
      </p:graphicFrame>
      <p:graphicFrame>
        <p:nvGraphicFramePr>
          <p:cNvPr id="78862" name="Object 14"/>
          <p:cNvGraphicFramePr>
            <a:graphicFrameLocks noChangeAspect="1"/>
          </p:cNvGraphicFramePr>
          <p:nvPr/>
        </p:nvGraphicFramePr>
        <p:xfrm>
          <a:off x="3216275" y="3352800"/>
          <a:ext cx="1081088" cy="517525"/>
        </p:xfrm>
        <a:graphic>
          <a:graphicData uri="http://schemas.openxmlformats.org/presentationml/2006/ole">
            <p:oleObj spid="_x0000_s78862" name="Document" r:id="rId8" imgW="1140261" imgH="555500" progId="Word.Document.12">
              <p:embed/>
            </p:oleObj>
          </a:graphicData>
        </a:graphic>
      </p:graphicFrame>
      <p:graphicFrame>
        <p:nvGraphicFramePr>
          <p:cNvPr id="78863" name="Object 15"/>
          <p:cNvGraphicFramePr>
            <a:graphicFrameLocks noChangeAspect="1"/>
          </p:cNvGraphicFramePr>
          <p:nvPr/>
        </p:nvGraphicFramePr>
        <p:xfrm>
          <a:off x="1085839" y="3357562"/>
          <a:ext cx="1843087" cy="533400"/>
        </p:xfrm>
        <a:graphic>
          <a:graphicData uri="http://schemas.openxmlformats.org/presentationml/2006/ole">
            <p:oleObj spid="_x0000_s78863" name="Document" r:id="rId9" imgW="1899827" imgH="552620" progId="Word.Document.12">
              <p:embed/>
            </p:oleObj>
          </a:graphicData>
        </a:graphic>
      </p:graphicFrame>
      <p:graphicFrame>
        <p:nvGraphicFramePr>
          <p:cNvPr id="78864" name="Object 16"/>
          <p:cNvGraphicFramePr>
            <a:graphicFrameLocks noChangeAspect="1"/>
          </p:cNvGraphicFramePr>
          <p:nvPr/>
        </p:nvGraphicFramePr>
        <p:xfrm>
          <a:off x="2346325" y="4283075"/>
          <a:ext cx="1066800" cy="517525"/>
        </p:xfrm>
        <a:graphic>
          <a:graphicData uri="http://schemas.openxmlformats.org/presentationml/2006/ole">
            <p:oleObj spid="_x0000_s78864" name="Document" r:id="rId10" imgW="1140261" imgH="555500" progId="Word.Document.12">
              <p:embed/>
            </p:oleObj>
          </a:graphicData>
        </a:graphic>
      </p:graphicFrame>
      <p:graphicFrame>
        <p:nvGraphicFramePr>
          <p:cNvPr id="78865" name="Object 17"/>
          <p:cNvGraphicFramePr>
            <a:graphicFrameLocks noChangeAspect="1"/>
          </p:cNvGraphicFramePr>
          <p:nvPr/>
        </p:nvGraphicFramePr>
        <p:xfrm>
          <a:off x="4000496" y="4286256"/>
          <a:ext cx="1096962" cy="533400"/>
        </p:xfrm>
        <a:graphic>
          <a:graphicData uri="http://schemas.openxmlformats.org/presentationml/2006/ole">
            <p:oleObj spid="_x0000_s78865" name="Document" r:id="rId11" imgW="1140261" imgH="555500" progId="Word.Document.12">
              <p:embed/>
            </p:oleObj>
          </a:graphicData>
        </a:graphic>
      </p:graphicFrame>
      <p:cxnSp>
        <p:nvCxnSpPr>
          <p:cNvPr id="25" name="Straight Connector 24"/>
          <p:cNvCxnSpPr/>
          <p:nvPr/>
        </p:nvCxnSpPr>
        <p:spPr>
          <a:xfrm>
            <a:off x="1643042" y="2071678"/>
            <a:ext cx="1143008" cy="285752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rot="10800000" flipV="1">
            <a:off x="2786050" y="2071678"/>
            <a:ext cx="928694" cy="285752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2857488" y="3000372"/>
            <a:ext cx="857256" cy="285752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rot="10800000" flipV="1">
            <a:off x="3714744" y="3000372"/>
            <a:ext cx="714380" cy="285752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>
            <a:off x="2000232" y="3857628"/>
            <a:ext cx="857256" cy="35719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 rot="10800000" flipV="1">
            <a:off x="2857488" y="3857628"/>
            <a:ext cx="928694" cy="35719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3571868" y="5214950"/>
            <a:ext cx="428628" cy="35719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cxnSp>
        <p:nvCxnSpPr>
          <p:cNvPr id="42" name="Straight Connector 41"/>
          <p:cNvCxnSpPr>
            <a:endCxn id="40" idx="0"/>
          </p:cNvCxnSpPr>
          <p:nvPr/>
        </p:nvCxnSpPr>
        <p:spPr>
          <a:xfrm>
            <a:off x="2857488" y="4786322"/>
            <a:ext cx="928694" cy="428628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45" name="Straight Connector 44"/>
          <p:cNvCxnSpPr>
            <a:endCxn id="40" idx="0"/>
          </p:cNvCxnSpPr>
          <p:nvPr/>
        </p:nvCxnSpPr>
        <p:spPr>
          <a:xfrm rot="10800000" flipV="1">
            <a:off x="3786182" y="4786322"/>
            <a:ext cx="714380" cy="428628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621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4" name="TextBox 43"/>
          <p:cNvSpPr txBox="1"/>
          <p:nvPr/>
        </p:nvSpPr>
        <p:spPr>
          <a:xfrm>
            <a:off x="793058" y="967071"/>
            <a:ext cx="5945858" cy="48936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60363" indent="-360363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Jika Lady Gaga mengadakan konser, maka</a:t>
            </a:r>
          </a:p>
          <a:p>
            <a:pPr marL="360363" indent="-360363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penggemarnya akan datang jika harga </a:t>
            </a:r>
          </a:p>
          <a:p>
            <a:pPr marL="360363" indent="-360363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tiket tidak mahal. Jika Lady Gaga</a:t>
            </a:r>
          </a:p>
          <a:p>
            <a:pPr marL="360363" indent="-360363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mengadakan konser, harga tiket tidak</a:t>
            </a:r>
          </a:p>
          <a:p>
            <a:pPr marL="360363" indent="-360363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mahal. </a:t>
            </a:r>
            <a:r>
              <a:rPr lang="id-ID" sz="2400" i="1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Dengan demikian, </a:t>
            </a: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jika Lady Gaga</a:t>
            </a:r>
          </a:p>
          <a:p>
            <a:pPr marL="360363" indent="-360363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mengadakan konser, penggemarnya akan</a:t>
            </a:r>
          </a:p>
          <a:p>
            <a:pPr marL="360363" indent="-360363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datang.</a:t>
            </a:r>
          </a:p>
          <a:p>
            <a:pPr marL="360363" indent="-360363"/>
            <a:endParaRPr lang="id-ID" sz="2400" dirty="0" smtClean="0">
              <a:solidFill>
                <a:schemeClr val="bg1"/>
              </a:solidFill>
              <a:latin typeface="Bradley Hand ITC" pitchFamily="66" charset="0"/>
              <a:sym typeface="Wingdings" pitchFamily="2" charset="2"/>
            </a:endParaRPr>
          </a:p>
          <a:p>
            <a:pPr marL="360363" indent="-360363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Buktikan bahwa proposisi </a:t>
            </a:r>
            <a:r>
              <a:rPr lang="id-ID" sz="2400" i="1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“ </a:t>
            </a: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jika </a:t>
            </a:r>
          </a:p>
          <a:p>
            <a:pPr marL="360363" indent="-360363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Lady Gaga mengadakan konser, </a:t>
            </a:r>
          </a:p>
          <a:p>
            <a:pPr marL="360363" indent="-360363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penggemarnya akan datang” </a:t>
            </a:r>
          </a:p>
          <a:p>
            <a:pPr marL="360363" indent="-360363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bernilai valid!</a:t>
            </a:r>
          </a:p>
          <a:p>
            <a:pPr marL="360363" indent="-360363"/>
            <a:endParaRPr lang="id-ID" sz="2400" dirty="0" smtClean="0">
              <a:solidFill>
                <a:schemeClr val="bg1"/>
              </a:solidFill>
              <a:latin typeface="Bradley Hand ITC" pitchFamily="66" charset="0"/>
              <a:sym typeface="Wingdings" pitchFamily="2" charset="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286512" y="4857760"/>
            <a:ext cx="258115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id-ID" sz="5400" b="1" cap="none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radley Hand ITC" pitchFamily="66" charset="0"/>
              </a:rPr>
              <a:t>Latihan</a:t>
            </a:r>
            <a:endParaRPr lang="en-US" sz="5400" b="1" cap="none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glow rad="228600">
                  <a:schemeClr val="accent5">
                    <a:satMod val="175000"/>
                    <a:alpha val="40000"/>
                  </a:schemeClr>
                </a:glow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radley Hand ITC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621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4" name="TextBox 43"/>
          <p:cNvSpPr txBox="1"/>
          <p:nvPr/>
        </p:nvSpPr>
        <p:spPr>
          <a:xfrm>
            <a:off x="357158" y="1442853"/>
            <a:ext cx="564481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60363" indent="-360363">
              <a:buFont typeface="Arial" pitchFamily="34" charset="0"/>
              <a:buChar char="•"/>
            </a:pP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Diketahui fakta-fakta sebagai berikut :</a:t>
            </a:r>
          </a:p>
          <a:p>
            <a:pPr marL="900113" indent="-457200">
              <a:buFont typeface="+mj-lt"/>
              <a:buAutoNum type="arabicPeriod"/>
              <a:tabLst>
                <a:tab pos="4932363" algn="l"/>
              </a:tabLst>
            </a:pP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Andi adalah seorang laki-laki	: A</a:t>
            </a:r>
          </a:p>
          <a:p>
            <a:pPr marL="900113" indent="-457200">
              <a:buFont typeface="+mj-lt"/>
              <a:buAutoNum type="arabicPeriod"/>
              <a:tabLst>
                <a:tab pos="4932363" algn="l"/>
              </a:tabLst>
            </a:pP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Ali adalah seorang laki-laki	: B</a:t>
            </a:r>
          </a:p>
          <a:p>
            <a:pPr marL="900113" indent="-457200">
              <a:buFont typeface="+mj-lt"/>
              <a:buAutoNum type="arabicPeriod"/>
              <a:tabLst>
                <a:tab pos="4932363" algn="l"/>
              </a:tabLst>
            </a:pP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Amir adalah seorang laki-laki	: C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5074" y="4857760"/>
            <a:ext cx="2719014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id-ID" sz="5400" b="1" cap="none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radley Hand ITC" pitchFamily="66" charset="0"/>
              </a:rPr>
              <a:t>Logika</a:t>
            </a:r>
          </a:p>
          <a:p>
            <a:pPr algn="ctr"/>
            <a:r>
              <a:rPr lang="id-ID" sz="54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radley Hand ITC" pitchFamily="66" charset="0"/>
              </a:rPr>
              <a:t>Predikat</a:t>
            </a:r>
            <a:endParaRPr lang="en-US" sz="5400" b="1" cap="none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glow rad="228600">
                  <a:schemeClr val="accent5">
                    <a:satMod val="175000"/>
                    <a:alpha val="40000"/>
                  </a:schemeClr>
                </a:glow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radley Hand ITC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621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4" name="TextBox 43"/>
          <p:cNvSpPr txBox="1"/>
          <p:nvPr/>
        </p:nvSpPr>
        <p:spPr>
          <a:xfrm>
            <a:off x="357158" y="1442853"/>
            <a:ext cx="6340518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60363" indent="-360363">
              <a:buFont typeface="Arial" pitchFamily="34" charset="0"/>
              <a:buChar char="•"/>
            </a:pPr>
            <a:r>
              <a:rPr lang="id-ID" sz="2400" b="1" dirty="0" smtClean="0">
                <a:solidFill>
                  <a:schemeClr val="bg1"/>
                </a:solidFill>
                <a:latin typeface="Bradley Hand ITC" pitchFamily="66" charset="0"/>
              </a:rPr>
              <a:t>Logika predikat </a:t>
            </a: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digunakan untuk </a:t>
            </a:r>
          </a:p>
          <a:p>
            <a:pPr marL="360363" indent="-360363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	merepresentasikan hal-hal yang tidak dapat</a:t>
            </a:r>
          </a:p>
          <a:p>
            <a:pPr marL="360363" indent="-360363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	direpresentasikan dengan menggunakan</a:t>
            </a:r>
          </a:p>
          <a:p>
            <a:pPr marL="360363" indent="-360363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	logika proposisi</a:t>
            </a:r>
          </a:p>
          <a:p>
            <a:pPr marL="360363" indent="-360363"/>
            <a:endParaRPr lang="id-ID" sz="2400" dirty="0" smtClean="0">
              <a:solidFill>
                <a:schemeClr val="bg1"/>
              </a:solidFill>
              <a:latin typeface="Bradley Hand ITC" pitchFamily="66" charset="0"/>
              <a:sym typeface="Wingdings" pitchFamily="2" charset="2"/>
            </a:endParaRPr>
          </a:p>
          <a:p>
            <a:pPr marL="360363" indent="-360363">
              <a:buFont typeface="Arial" pitchFamily="34" charset="0"/>
              <a:buChar char="•"/>
            </a:pPr>
            <a:r>
              <a:rPr lang="id-ID" sz="2400" b="1" i="1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wff  (well –formed formula)</a:t>
            </a:r>
            <a:r>
              <a:rPr lang="id-ID" sz="2400" b="1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 </a:t>
            </a: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: </a:t>
            </a:r>
          </a:p>
          <a:p>
            <a:pPr marL="360363" indent="-360363"/>
            <a:r>
              <a:rPr lang="id-ID" sz="2400" i="1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	</a:t>
            </a: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representasi fakta-fakta dalam bentuk</a:t>
            </a:r>
          </a:p>
          <a:p>
            <a:pPr marL="360363" indent="-360363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	pernyataan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5074" y="4857760"/>
            <a:ext cx="2719014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id-ID" sz="5400" b="1" cap="none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radley Hand ITC" pitchFamily="66" charset="0"/>
              </a:rPr>
              <a:t>Logika</a:t>
            </a:r>
          </a:p>
          <a:p>
            <a:pPr algn="ctr"/>
            <a:r>
              <a:rPr lang="id-ID" sz="54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radley Hand ITC" pitchFamily="66" charset="0"/>
              </a:rPr>
              <a:t>Predikat</a:t>
            </a:r>
            <a:endParaRPr lang="en-US" sz="5400" b="1" cap="none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glow rad="228600">
                  <a:schemeClr val="accent5">
                    <a:satMod val="175000"/>
                    <a:alpha val="40000"/>
                  </a:schemeClr>
                </a:glow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radley Hand ITC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621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4" name="TextBox 43"/>
          <p:cNvSpPr txBox="1"/>
          <p:nvPr/>
        </p:nvSpPr>
        <p:spPr>
          <a:xfrm>
            <a:off x="357158" y="1442853"/>
            <a:ext cx="5781070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60363" indent="-360363">
              <a:buFont typeface="Arial" pitchFamily="34" charset="0"/>
              <a:buChar char="•"/>
            </a:pP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Diketahui fakta-fakta sebagai berikut :</a:t>
            </a:r>
          </a:p>
          <a:p>
            <a:pPr marL="900113" indent="-457200">
              <a:buFont typeface="+mj-lt"/>
              <a:buAutoNum type="arabicPeriod"/>
              <a:tabLst>
                <a:tab pos="4932363" algn="l"/>
              </a:tabLst>
            </a:pP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Semua gajah memiliki belalai	</a:t>
            </a:r>
          </a:p>
          <a:p>
            <a:pPr marL="900113" indent="-457200">
              <a:buFont typeface="+mj-lt"/>
              <a:buAutoNum type="arabicPeriod"/>
              <a:tabLst>
                <a:tab pos="4932363" algn="l"/>
              </a:tabLst>
            </a:pP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Dumbo seekor gajah	</a:t>
            </a:r>
          </a:p>
          <a:p>
            <a:pPr marL="900113" indent="-457200">
              <a:buFont typeface="+mj-lt"/>
              <a:buAutoNum type="arabicPeriod"/>
              <a:tabLst>
                <a:tab pos="4932363" algn="l"/>
              </a:tabLst>
            </a:pPr>
            <a:r>
              <a:rPr lang="id-ID" sz="2400" i="1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Dengan demikian, </a:t>
            </a: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Dumbo memiliki</a:t>
            </a:r>
          </a:p>
          <a:p>
            <a:pPr marL="900113" indent="-457200">
              <a:tabLst>
                <a:tab pos="4932363" algn="l"/>
              </a:tabLst>
            </a:pPr>
            <a:r>
              <a:rPr lang="id-ID" sz="2400" i="1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	</a:t>
            </a: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belalai</a:t>
            </a:r>
          </a:p>
          <a:p>
            <a:pPr marL="900113" indent="-457200">
              <a:tabLst>
                <a:tab pos="4932363" algn="l"/>
              </a:tabLst>
            </a:pPr>
            <a:endParaRPr lang="id-ID" sz="2400" dirty="0" smtClean="0">
              <a:solidFill>
                <a:schemeClr val="bg1"/>
              </a:solidFill>
              <a:latin typeface="Bradley Hand ITC" pitchFamily="66" charset="0"/>
              <a:sym typeface="Wingdings" pitchFamily="2" charset="2"/>
            </a:endParaRPr>
          </a:p>
          <a:p>
            <a:pPr marL="900113" indent="-457200">
              <a:tabLst>
                <a:tab pos="4932363" algn="l"/>
              </a:tabLst>
            </a:pPr>
            <a:endParaRPr lang="id-ID" sz="2400" dirty="0" smtClean="0">
              <a:solidFill>
                <a:schemeClr val="bg1"/>
              </a:solidFill>
              <a:latin typeface="Bradley Hand ITC" pitchFamily="66" charset="0"/>
              <a:sym typeface="Wingdings" pitchFamily="2" charset="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215074" y="4857760"/>
            <a:ext cx="2719014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id-ID" sz="5400" b="1" cap="none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radley Hand ITC" pitchFamily="66" charset="0"/>
              </a:rPr>
              <a:t>Logika</a:t>
            </a:r>
          </a:p>
          <a:p>
            <a:pPr algn="ctr"/>
            <a:r>
              <a:rPr lang="id-ID" sz="54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radley Hand ITC" pitchFamily="66" charset="0"/>
              </a:rPr>
              <a:t>Predikat</a:t>
            </a:r>
            <a:endParaRPr lang="en-US" sz="5400" b="1" cap="none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glow rad="228600">
                  <a:schemeClr val="accent5">
                    <a:satMod val="175000"/>
                    <a:alpha val="40000"/>
                  </a:schemeClr>
                </a:glow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radley Hand ITC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68621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4" name="TextBox 43"/>
          <p:cNvSpPr txBox="1"/>
          <p:nvPr/>
        </p:nvSpPr>
        <p:spPr>
          <a:xfrm>
            <a:off x="357158" y="1442853"/>
            <a:ext cx="5165517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60363" indent="-360363">
              <a:buFont typeface="Arial" pitchFamily="34" charset="0"/>
              <a:buChar char="•"/>
            </a:pP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Dalam logika predikat :</a:t>
            </a:r>
          </a:p>
          <a:p>
            <a:pPr marL="900113" indent="-457200">
              <a:buFont typeface="+mj-lt"/>
              <a:buAutoNum type="arabicPeriod"/>
              <a:tabLst>
                <a:tab pos="4932363" algn="l"/>
              </a:tabLst>
            </a:pP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Semua gajah memiliki belalai</a:t>
            </a:r>
          </a:p>
          <a:p>
            <a:pPr marL="900113" indent="-457200">
              <a:buFont typeface="+mj-lt"/>
              <a:buAutoNum type="arabicPeriod"/>
              <a:tabLst>
                <a:tab pos="4932363" algn="l"/>
              </a:tabLst>
            </a:pPr>
            <a:endParaRPr lang="id-ID" sz="2400" dirty="0" smtClean="0">
              <a:solidFill>
                <a:schemeClr val="bg1"/>
              </a:solidFill>
              <a:latin typeface="Bradley Hand ITC" pitchFamily="66" charset="0"/>
              <a:sym typeface="Wingdings" pitchFamily="2" charset="2"/>
            </a:endParaRPr>
          </a:p>
          <a:p>
            <a:pPr marL="900113" indent="-457200">
              <a:buFont typeface="+mj-lt"/>
              <a:buAutoNum type="arabicPeriod"/>
              <a:tabLst>
                <a:tab pos="4932363" algn="l"/>
              </a:tabLst>
            </a:pPr>
            <a:endParaRPr lang="id-ID" sz="2400" dirty="0" smtClean="0">
              <a:solidFill>
                <a:schemeClr val="bg1"/>
              </a:solidFill>
              <a:latin typeface="Bradley Hand ITC" pitchFamily="66" charset="0"/>
              <a:sym typeface="Wingdings" pitchFamily="2" charset="2"/>
            </a:endParaRPr>
          </a:p>
          <a:p>
            <a:pPr marL="900113" indent="-457200">
              <a:buFont typeface="+mj-lt"/>
              <a:buAutoNum type="arabicPeriod"/>
              <a:tabLst>
                <a:tab pos="4932363" algn="l"/>
              </a:tabLst>
            </a:pP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Dumbo seekor gajah</a:t>
            </a:r>
          </a:p>
          <a:p>
            <a:pPr marL="900113" indent="-457200">
              <a:buFont typeface="+mj-lt"/>
              <a:buAutoNum type="arabicPeriod"/>
              <a:tabLst>
                <a:tab pos="4932363" algn="l"/>
              </a:tabLst>
            </a:pPr>
            <a:endParaRPr lang="id-ID" sz="2400" dirty="0" smtClean="0">
              <a:solidFill>
                <a:schemeClr val="bg1"/>
              </a:solidFill>
              <a:latin typeface="Bradley Hand ITC" pitchFamily="66" charset="0"/>
              <a:sym typeface="Wingdings" pitchFamily="2" charset="2"/>
            </a:endParaRPr>
          </a:p>
          <a:p>
            <a:pPr marL="900113" indent="-457200">
              <a:buFont typeface="+mj-lt"/>
              <a:buAutoNum type="arabicPeriod"/>
              <a:tabLst>
                <a:tab pos="4932363" algn="l"/>
              </a:tabLst>
            </a:pPr>
            <a:endParaRPr lang="id-ID" sz="2400" dirty="0" smtClean="0">
              <a:solidFill>
                <a:schemeClr val="bg1"/>
              </a:solidFill>
              <a:latin typeface="Bradley Hand ITC" pitchFamily="66" charset="0"/>
              <a:sym typeface="Wingdings" pitchFamily="2" charset="2"/>
            </a:endParaRPr>
          </a:p>
          <a:p>
            <a:pPr marL="900113" indent="-457200">
              <a:buFont typeface="+mj-lt"/>
              <a:buAutoNum type="arabicPeriod"/>
              <a:tabLst>
                <a:tab pos="4932363" algn="l"/>
              </a:tabLst>
            </a:pPr>
            <a:r>
              <a:rPr lang="id-ID" sz="2400" i="1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Dengan demikian</a:t>
            </a: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, Dumbo</a:t>
            </a:r>
          </a:p>
          <a:p>
            <a:pPr marL="900113" indent="-457200">
              <a:tabLst>
                <a:tab pos="4932363" algn="l"/>
              </a:tabLst>
            </a:pP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	memiliki belalai	</a:t>
            </a:r>
          </a:p>
          <a:p>
            <a:pPr marL="900113" indent="-457200">
              <a:tabLst>
                <a:tab pos="4932363" algn="l"/>
              </a:tabLst>
            </a:pPr>
            <a:endParaRPr lang="id-ID" sz="2400" dirty="0" smtClean="0">
              <a:solidFill>
                <a:schemeClr val="bg1"/>
              </a:solidFill>
              <a:latin typeface="Bradley Hand ITC" pitchFamily="66" charset="0"/>
              <a:sym typeface="Wingdings" pitchFamily="2" charset="2"/>
            </a:endParaRPr>
          </a:p>
          <a:p>
            <a:pPr marL="900113" indent="-457200">
              <a:tabLst>
                <a:tab pos="4932363" algn="l"/>
              </a:tabLst>
            </a:pPr>
            <a:endParaRPr lang="id-ID" sz="2400" dirty="0" smtClean="0">
              <a:solidFill>
                <a:schemeClr val="bg1"/>
              </a:solidFill>
              <a:latin typeface="Bradley Hand ITC" pitchFamily="66" charset="0"/>
              <a:sym typeface="Wingdings" pitchFamily="2" charset="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215074" y="4857760"/>
            <a:ext cx="2719014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id-ID" sz="5400" b="1" cap="none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radley Hand ITC" pitchFamily="66" charset="0"/>
              </a:rPr>
              <a:t>Logika</a:t>
            </a:r>
          </a:p>
          <a:p>
            <a:pPr algn="ctr"/>
            <a:r>
              <a:rPr lang="id-ID" sz="54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radley Hand ITC" pitchFamily="66" charset="0"/>
              </a:rPr>
              <a:t>Predikat</a:t>
            </a:r>
            <a:endParaRPr lang="en-US" sz="5400" b="1" cap="none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glow rad="228600">
                  <a:schemeClr val="accent5">
                    <a:satMod val="175000"/>
                    <a:alpha val="40000"/>
                  </a:schemeClr>
                </a:glow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radley Hand ITC" pitchFamily="66" charset="0"/>
            </a:endParaRP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2184407" y="2270696"/>
          <a:ext cx="3459163" cy="517525"/>
        </p:xfrm>
        <a:graphic>
          <a:graphicData uri="http://schemas.openxmlformats.org/presentationml/2006/ole">
            <p:oleObj spid="_x0000_s81922" name="Document" r:id="rId4" imgW="3489020" imgH="538219" progId="Word.Document.12">
              <p:embed/>
            </p:oleObj>
          </a:graphicData>
        </a:graphic>
      </p:graphicFrame>
      <p:graphicFrame>
        <p:nvGraphicFramePr>
          <p:cNvPr id="81923" name="Object 3"/>
          <p:cNvGraphicFramePr>
            <a:graphicFrameLocks noChangeAspect="1"/>
          </p:cNvGraphicFramePr>
          <p:nvPr/>
        </p:nvGraphicFramePr>
        <p:xfrm>
          <a:off x="2143108" y="3357562"/>
          <a:ext cx="1858962" cy="519112"/>
        </p:xfrm>
        <a:graphic>
          <a:graphicData uri="http://schemas.openxmlformats.org/presentationml/2006/ole">
            <p:oleObj spid="_x0000_s81923" name="Document" r:id="rId5" imgW="1859282" imgH="522379" progId="Word.Document.12">
              <p:embed/>
            </p:oleObj>
          </a:graphicData>
        </a:graphic>
      </p:graphicFrame>
      <p:graphicFrame>
        <p:nvGraphicFramePr>
          <p:cNvPr id="81924" name="Object 4"/>
          <p:cNvGraphicFramePr>
            <a:graphicFrameLocks noChangeAspect="1"/>
          </p:cNvGraphicFramePr>
          <p:nvPr/>
        </p:nvGraphicFramePr>
        <p:xfrm>
          <a:off x="2128838" y="4774630"/>
          <a:ext cx="2514600" cy="503237"/>
        </p:xfrm>
        <a:graphic>
          <a:graphicData uri="http://schemas.openxmlformats.org/presentationml/2006/ole">
            <p:oleObj spid="_x0000_s81924" name="Document" r:id="rId6" imgW="2543783" imgH="522379" progId="Word.Document.12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621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4" name="TextBox 43"/>
          <p:cNvSpPr txBox="1"/>
          <p:nvPr/>
        </p:nvSpPr>
        <p:spPr>
          <a:xfrm>
            <a:off x="357158" y="1442853"/>
            <a:ext cx="6417462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60363" indent="-360363">
              <a:buFont typeface="Arial" pitchFamily="34" charset="0"/>
              <a:buChar char="•"/>
            </a:pP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Resolusi pada logika predikat pada dasarnya</a:t>
            </a:r>
          </a:p>
          <a:p>
            <a:pPr marL="360363" indent="-360363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	sama dengan resolusi pada logika proposisi,</a:t>
            </a:r>
          </a:p>
          <a:p>
            <a:pPr marL="360363" indent="-360363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	hanya saja ditambah unifikasi</a:t>
            </a:r>
          </a:p>
          <a:p>
            <a:pPr marL="900113" indent="-457200">
              <a:tabLst>
                <a:tab pos="4932363" algn="l"/>
              </a:tabLst>
            </a:pPr>
            <a:endParaRPr lang="id-ID" sz="2400" dirty="0" smtClean="0">
              <a:solidFill>
                <a:schemeClr val="bg1"/>
              </a:solidFill>
              <a:latin typeface="Bradley Hand ITC" pitchFamily="66" charset="0"/>
              <a:sym typeface="Wingdings" pitchFamily="2" charset="2"/>
            </a:endParaRPr>
          </a:p>
          <a:p>
            <a:pPr marL="900113" indent="-457200">
              <a:tabLst>
                <a:tab pos="4932363" algn="l"/>
              </a:tabLst>
            </a:pPr>
            <a:endParaRPr lang="id-ID" sz="2400" dirty="0" smtClean="0">
              <a:solidFill>
                <a:schemeClr val="bg1"/>
              </a:solidFill>
              <a:latin typeface="Bradley Hand ITC" pitchFamily="66" charset="0"/>
              <a:sym typeface="Wingdings" pitchFamily="2" charset="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215074" y="4857760"/>
            <a:ext cx="2719014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id-ID" sz="5400" b="1" cap="none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radley Hand ITC" pitchFamily="66" charset="0"/>
              </a:rPr>
              <a:t>Logika</a:t>
            </a:r>
          </a:p>
          <a:p>
            <a:pPr algn="ctr"/>
            <a:r>
              <a:rPr lang="id-ID" sz="54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radley Hand ITC" pitchFamily="66" charset="0"/>
              </a:rPr>
              <a:t>Predikat</a:t>
            </a:r>
            <a:endParaRPr lang="en-US" sz="5400" b="1" cap="none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glow rad="228600">
                  <a:schemeClr val="accent5">
                    <a:satMod val="175000"/>
                    <a:alpha val="40000"/>
                  </a:schemeClr>
                </a:glow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radley Hand ITC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68621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Rectangle 3"/>
          <p:cNvSpPr/>
          <p:nvPr/>
        </p:nvSpPr>
        <p:spPr>
          <a:xfrm>
            <a:off x="6215074" y="4857760"/>
            <a:ext cx="2719014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id-ID" sz="5400" b="1" cap="none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radley Hand ITC" pitchFamily="66" charset="0"/>
              </a:rPr>
              <a:t>Logika</a:t>
            </a:r>
          </a:p>
          <a:p>
            <a:pPr algn="ctr"/>
            <a:r>
              <a:rPr lang="id-ID" sz="54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radley Hand ITC" pitchFamily="66" charset="0"/>
              </a:rPr>
              <a:t>Predikat</a:t>
            </a:r>
            <a:endParaRPr lang="en-US" sz="5400" b="1" cap="none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glow rad="228600">
                  <a:schemeClr val="accent5">
                    <a:satMod val="175000"/>
                    <a:alpha val="40000"/>
                  </a:schemeClr>
                </a:glow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radley Hand ITC" pitchFamily="66" charset="0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-32" y="1428736"/>
            <a:ext cx="5569473" cy="4286280"/>
            <a:chOff x="-32" y="1357298"/>
            <a:chExt cx="5569473" cy="4286280"/>
          </a:xfrm>
        </p:grpSpPr>
        <p:sp>
          <p:nvSpPr>
            <p:cNvPr id="44" name="TextBox 43"/>
            <p:cNvSpPr txBox="1"/>
            <p:nvPr/>
          </p:nvSpPr>
          <p:spPr>
            <a:xfrm>
              <a:off x="-32" y="1357298"/>
              <a:ext cx="5569473" cy="26776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360363" indent="-360363">
                <a:buFont typeface="Arial" pitchFamily="34" charset="0"/>
                <a:buChar char="•"/>
              </a:pPr>
              <a:r>
                <a:rPr lang="id-ID" sz="2400" dirty="0" smtClean="0">
                  <a:solidFill>
                    <a:schemeClr val="bg1"/>
                  </a:solidFill>
                  <a:latin typeface="Bradley Hand ITC" pitchFamily="66" charset="0"/>
                  <a:sym typeface="Wingdings" pitchFamily="2" charset="2"/>
                </a:rPr>
                <a:t>Algoritma konversi ke bentuk klausa :</a:t>
              </a:r>
            </a:p>
            <a:p>
              <a:pPr marL="900113" indent="-457200">
                <a:buFont typeface="+mj-lt"/>
                <a:buAutoNum type="arabicPeriod"/>
              </a:pPr>
              <a:r>
                <a:rPr lang="id-ID" sz="2400" dirty="0" smtClean="0">
                  <a:solidFill>
                    <a:schemeClr val="bg1"/>
                  </a:solidFill>
                  <a:latin typeface="Bradley Hand ITC" pitchFamily="66" charset="0"/>
                  <a:sym typeface="Wingdings" pitchFamily="2" charset="2"/>
                </a:rPr>
                <a:t>Eliminir            menjadi</a:t>
              </a:r>
            </a:p>
            <a:p>
              <a:pPr marL="900113" indent="-457200">
                <a:buFont typeface="+mj-lt"/>
                <a:buAutoNum type="arabicPeriod"/>
              </a:pPr>
              <a:r>
                <a:rPr lang="id-ID" sz="2400" dirty="0" smtClean="0">
                  <a:solidFill>
                    <a:schemeClr val="bg1"/>
                  </a:solidFill>
                  <a:latin typeface="Bradley Hand ITC" pitchFamily="66" charset="0"/>
                  <a:sym typeface="Wingdings" pitchFamily="2" charset="2"/>
                </a:rPr>
                <a:t>Reduksi lingkup dari negasi :</a:t>
              </a:r>
            </a:p>
            <a:p>
              <a:pPr marL="1344613" indent="-457200" defTabSz="1344613"/>
              <a:endParaRPr lang="id-ID" sz="24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endParaRPr>
            </a:p>
            <a:p>
              <a:pPr marL="360363" indent="-360363"/>
              <a:endParaRPr lang="id-ID" sz="24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endParaRPr>
            </a:p>
            <a:p>
              <a:pPr marL="900113" indent="-457200">
                <a:tabLst>
                  <a:tab pos="4932363" algn="l"/>
                </a:tabLst>
              </a:pPr>
              <a:endParaRPr lang="id-ID" sz="24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endParaRPr>
            </a:p>
            <a:p>
              <a:pPr marL="900113" indent="-457200">
                <a:tabLst>
                  <a:tab pos="4932363" algn="l"/>
                </a:tabLst>
              </a:pPr>
              <a:endParaRPr lang="id-ID" sz="24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endParaRPr>
            </a:p>
          </p:txBody>
        </p:sp>
        <p:graphicFrame>
          <p:nvGraphicFramePr>
            <p:cNvPr id="82946" name="Object 2"/>
            <p:cNvGraphicFramePr>
              <a:graphicFrameLocks noChangeAspect="1"/>
            </p:cNvGraphicFramePr>
            <p:nvPr/>
          </p:nvGraphicFramePr>
          <p:xfrm>
            <a:off x="2285991" y="1785926"/>
            <a:ext cx="928687" cy="503238"/>
          </p:xfrm>
          <a:graphic>
            <a:graphicData uri="http://schemas.openxmlformats.org/presentationml/2006/ole">
              <p:oleObj spid="_x0000_s82946" name="Document" r:id="rId4" imgW="954510" imgH="522019" progId="Word.Document.12">
                <p:embed/>
              </p:oleObj>
            </a:graphicData>
          </a:graphic>
        </p:graphicFrame>
        <p:graphicFrame>
          <p:nvGraphicFramePr>
            <p:cNvPr id="82947" name="Object 3"/>
            <p:cNvGraphicFramePr>
              <a:graphicFrameLocks noChangeAspect="1"/>
            </p:cNvGraphicFramePr>
            <p:nvPr/>
          </p:nvGraphicFramePr>
          <p:xfrm>
            <a:off x="4071940" y="1785926"/>
            <a:ext cx="928688" cy="503237"/>
          </p:xfrm>
          <a:graphic>
            <a:graphicData uri="http://schemas.openxmlformats.org/presentationml/2006/ole">
              <p:oleObj spid="_x0000_s82947" name="Document" r:id="rId5" imgW="967429" imgH="522379" progId="Word.Document.12">
                <p:embed/>
              </p:oleObj>
            </a:graphicData>
          </a:graphic>
        </p:graphicFrame>
        <p:graphicFrame>
          <p:nvGraphicFramePr>
            <p:cNvPr id="82948" name="Object 4"/>
            <p:cNvGraphicFramePr>
              <a:graphicFrameLocks noChangeAspect="1"/>
            </p:cNvGraphicFramePr>
            <p:nvPr/>
          </p:nvGraphicFramePr>
          <p:xfrm>
            <a:off x="1447800" y="2622552"/>
            <a:ext cx="2835275" cy="3021026"/>
          </p:xfrm>
          <a:graphic>
            <a:graphicData uri="http://schemas.openxmlformats.org/presentationml/2006/ole">
              <p:oleObj spid="_x0000_s82948" name="Document" r:id="rId6" imgW="2948001" imgH="3491405" progId="Word.Document.12">
                <p:embed/>
              </p:oleObj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68621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Rectangle 3"/>
          <p:cNvSpPr/>
          <p:nvPr/>
        </p:nvSpPr>
        <p:spPr>
          <a:xfrm>
            <a:off x="6215074" y="4857760"/>
            <a:ext cx="2719014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id-ID" sz="5400" b="1" cap="none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radley Hand ITC" pitchFamily="66" charset="0"/>
              </a:rPr>
              <a:t>Logika</a:t>
            </a:r>
          </a:p>
          <a:p>
            <a:pPr algn="ctr"/>
            <a:r>
              <a:rPr lang="id-ID" sz="54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radley Hand ITC" pitchFamily="66" charset="0"/>
              </a:rPr>
              <a:t>Predikat</a:t>
            </a:r>
            <a:endParaRPr lang="en-US" sz="5400" b="1" cap="none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glow rad="228600">
                  <a:schemeClr val="accent5">
                    <a:satMod val="175000"/>
                    <a:alpha val="40000"/>
                  </a:schemeClr>
                </a:glow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radley Hand ITC" pitchFamily="66" charset="0"/>
            </a:endParaRPr>
          </a:p>
        </p:txBody>
      </p:sp>
      <p:grpSp>
        <p:nvGrpSpPr>
          <p:cNvPr id="3" name="Group 7"/>
          <p:cNvGrpSpPr/>
          <p:nvPr/>
        </p:nvGrpSpPr>
        <p:grpSpPr>
          <a:xfrm>
            <a:off x="-32" y="1428736"/>
            <a:ext cx="6085640" cy="4591064"/>
            <a:chOff x="-32" y="1357298"/>
            <a:chExt cx="6085640" cy="4591064"/>
          </a:xfrm>
        </p:grpSpPr>
        <p:sp>
          <p:nvSpPr>
            <p:cNvPr id="44" name="TextBox 43"/>
            <p:cNvSpPr txBox="1"/>
            <p:nvPr/>
          </p:nvSpPr>
          <p:spPr>
            <a:xfrm>
              <a:off x="-32" y="1357298"/>
              <a:ext cx="6085640" cy="45243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900113" indent="-457200">
                <a:buAutoNum type="arabicPeriod" startAt="3"/>
              </a:pPr>
              <a:r>
                <a:rPr lang="id-ID" sz="2400" dirty="0" smtClean="0">
                  <a:solidFill>
                    <a:schemeClr val="bg1"/>
                  </a:solidFill>
                  <a:latin typeface="Bradley Hand ITC" pitchFamily="66" charset="0"/>
                  <a:sym typeface="Wingdings" pitchFamily="2" charset="2"/>
                </a:rPr>
                <a:t>Standarisasi variabel sehingga semua</a:t>
              </a:r>
            </a:p>
            <a:p>
              <a:pPr marL="900113" indent="-457200"/>
              <a:r>
                <a:rPr lang="id-ID" sz="2400" dirty="0" smtClean="0">
                  <a:solidFill>
                    <a:schemeClr val="bg1"/>
                  </a:solidFill>
                  <a:latin typeface="Bradley Hand ITC" pitchFamily="66" charset="0"/>
                  <a:sym typeface="Wingdings" pitchFamily="2" charset="2"/>
                </a:rPr>
                <a:t>	qualifier            terletak pada satu</a:t>
              </a:r>
            </a:p>
            <a:p>
              <a:pPr marL="900113" indent="-457200"/>
              <a:r>
                <a:rPr lang="id-ID" sz="2400" dirty="0" smtClean="0">
                  <a:solidFill>
                    <a:schemeClr val="bg1"/>
                  </a:solidFill>
                  <a:latin typeface="Bradley Hand ITC" pitchFamily="66" charset="0"/>
                  <a:sym typeface="Wingdings" pitchFamily="2" charset="2"/>
                </a:rPr>
                <a:t>	variabel yang unik</a:t>
              </a:r>
            </a:p>
            <a:p>
              <a:pPr marL="900113" indent="-457200"/>
              <a:endParaRPr lang="id-ID" sz="24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endParaRPr>
            </a:p>
            <a:p>
              <a:pPr marL="900113" indent="-457200"/>
              <a:endParaRPr lang="id-ID" sz="24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endParaRPr>
            </a:p>
            <a:p>
              <a:pPr marL="900113" indent="-457200"/>
              <a:endParaRPr lang="id-ID" sz="24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endParaRPr>
            </a:p>
            <a:p>
              <a:pPr marL="900113" indent="-457200">
                <a:buAutoNum type="arabicPeriod" startAt="4"/>
              </a:pPr>
              <a:r>
                <a:rPr lang="id-ID" sz="2400" dirty="0" smtClean="0">
                  <a:solidFill>
                    <a:schemeClr val="bg1"/>
                  </a:solidFill>
                  <a:latin typeface="Bradley Hand ITC" pitchFamily="66" charset="0"/>
                  <a:sym typeface="Wingdings" pitchFamily="2" charset="2"/>
                </a:rPr>
                <a:t>Pindahkan semua qualifier ke depan</a:t>
              </a:r>
            </a:p>
            <a:p>
              <a:pPr marL="900113" indent="-457200"/>
              <a:r>
                <a:rPr lang="id-ID" sz="2400" dirty="0" smtClean="0">
                  <a:solidFill>
                    <a:schemeClr val="bg1"/>
                  </a:solidFill>
                  <a:latin typeface="Bradley Hand ITC" pitchFamily="66" charset="0"/>
                  <a:sym typeface="Wingdings" pitchFamily="2" charset="2"/>
                </a:rPr>
                <a:t>	tanpa mengubah urutan relatifnya</a:t>
              </a:r>
            </a:p>
            <a:p>
              <a:pPr marL="1344613" indent="-457200" defTabSz="1344613"/>
              <a:endParaRPr lang="id-ID" sz="24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endParaRPr>
            </a:p>
            <a:p>
              <a:pPr marL="360363" indent="-360363"/>
              <a:endParaRPr lang="id-ID" sz="24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endParaRPr>
            </a:p>
            <a:p>
              <a:pPr marL="900113" indent="-457200">
                <a:tabLst>
                  <a:tab pos="4932363" algn="l"/>
                </a:tabLst>
              </a:pPr>
              <a:endParaRPr lang="id-ID" sz="24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endParaRPr>
            </a:p>
            <a:p>
              <a:pPr marL="900113" indent="-457200">
                <a:tabLst>
                  <a:tab pos="4932363" algn="l"/>
                </a:tabLst>
              </a:pPr>
              <a:endParaRPr lang="id-ID" sz="24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endParaRPr>
            </a:p>
          </p:txBody>
        </p:sp>
        <p:graphicFrame>
          <p:nvGraphicFramePr>
            <p:cNvPr id="82948" name="Object 4"/>
            <p:cNvGraphicFramePr>
              <a:graphicFrameLocks noChangeAspect="1"/>
            </p:cNvGraphicFramePr>
            <p:nvPr/>
          </p:nvGraphicFramePr>
          <p:xfrm>
            <a:off x="1571604" y="2641600"/>
            <a:ext cx="3276600" cy="3306762"/>
          </p:xfrm>
          <a:graphic>
            <a:graphicData uri="http://schemas.openxmlformats.org/presentationml/2006/ole">
              <p:oleObj spid="_x0000_s83972" name="Document" r:id="rId4" imgW="3405510" imgH="3460084" progId="Word.Document.12">
                <p:embed/>
              </p:oleObj>
            </a:graphicData>
          </a:graphic>
        </p:graphicFrame>
      </p:grpSp>
      <p:graphicFrame>
        <p:nvGraphicFramePr>
          <p:cNvPr id="9" name="Object 2"/>
          <p:cNvGraphicFramePr>
            <a:graphicFrameLocks noChangeAspect="1"/>
          </p:cNvGraphicFramePr>
          <p:nvPr/>
        </p:nvGraphicFramePr>
        <p:xfrm>
          <a:off x="2214546" y="1858963"/>
          <a:ext cx="898525" cy="487362"/>
        </p:xfrm>
        <a:graphic>
          <a:graphicData uri="http://schemas.openxmlformats.org/presentationml/2006/ole">
            <p:oleObj spid="_x0000_s83973" name="Document" r:id="rId5" imgW="967429" imgH="522379" progId="Word.Document.12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68621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Rectangle 3"/>
          <p:cNvSpPr/>
          <p:nvPr/>
        </p:nvSpPr>
        <p:spPr>
          <a:xfrm>
            <a:off x="6215074" y="4857760"/>
            <a:ext cx="2719014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id-ID" sz="5400" b="1" cap="none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radley Hand ITC" pitchFamily="66" charset="0"/>
              </a:rPr>
              <a:t>Logika</a:t>
            </a:r>
          </a:p>
          <a:p>
            <a:pPr algn="ctr"/>
            <a:r>
              <a:rPr lang="id-ID" sz="54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radley Hand ITC" pitchFamily="66" charset="0"/>
              </a:rPr>
              <a:t>Predikat</a:t>
            </a:r>
            <a:endParaRPr lang="en-US" sz="5400" b="1" cap="none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glow rad="228600">
                  <a:schemeClr val="accent5">
                    <a:satMod val="175000"/>
                    <a:alpha val="40000"/>
                  </a:schemeClr>
                </a:glow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radley Hand ITC" pitchFamily="66" charset="0"/>
            </a:endParaRPr>
          </a:p>
        </p:txBody>
      </p:sp>
      <p:grpSp>
        <p:nvGrpSpPr>
          <p:cNvPr id="3" name="Group 7"/>
          <p:cNvGrpSpPr/>
          <p:nvPr/>
        </p:nvGrpSpPr>
        <p:grpSpPr>
          <a:xfrm>
            <a:off x="-32" y="1071546"/>
            <a:ext cx="5774658" cy="7478970"/>
            <a:chOff x="-32" y="1357298"/>
            <a:chExt cx="5774658" cy="7478970"/>
          </a:xfrm>
        </p:grpSpPr>
        <p:sp>
          <p:nvSpPr>
            <p:cNvPr id="44" name="TextBox 43"/>
            <p:cNvSpPr txBox="1"/>
            <p:nvPr/>
          </p:nvSpPr>
          <p:spPr>
            <a:xfrm>
              <a:off x="-32" y="1357298"/>
              <a:ext cx="5774658" cy="74789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900113" indent="-457200">
                <a:buAutoNum type="arabicPeriod" startAt="5"/>
              </a:pPr>
              <a:r>
                <a:rPr lang="id-ID" sz="2400" dirty="0" smtClean="0">
                  <a:solidFill>
                    <a:schemeClr val="bg1"/>
                  </a:solidFill>
                  <a:latin typeface="Bradley Hand ITC" pitchFamily="66" charset="0"/>
                  <a:sym typeface="Wingdings" pitchFamily="2" charset="2"/>
                </a:rPr>
                <a:t>Eliminasi qualifier “    ”</a:t>
              </a:r>
            </a:p>
            <a:p>
              <a:pPr marL="900113" indent="-457200">
                <a:buAutoNum type="arabicPeriod" startAt="5"/>
              </a:pPr>
              <a:endParaRPr lang="id-ID" sz="24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endParaRPr>
            </a:p>
            <a:p>
              <a:pPr marL="900113" indent="-457200">
                <a:buAutoNum type="arabicPeriod" startAt="5"/>
              </a:pPr>
              <a:endParaRPr lang="id-ID" sz="24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endParaRPr>
            </a:p>
            <a:p>
              <a:pPr marL="900113" indent="-457200">
                <a:buAutoNum type="arabicPeriod" startAt="5"/>
              </a:pPr>
              <a:endParaRPr lang="id-ID" sz="24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endParaRPr>
            </a:p>
            <a:p>
              <a:pPr marL="900113" indent="-457200">
                <a:buFontTx/>
                <a:buAutoNum type="arabicPeriod" startAt="5"/>
              </a:pPr>
              <a:r>
                <a:rPr lang="id-ID" sz="2400" dirty="0" smtClean="0">
                  <a:solidFill>
                    <a:schemeClr val="bg1"/>
                  </a:solidFill>
                  <a:latin typeface="Bradley Hand ITC" pitchFamily="66" charset="0"/>
                  <a:sym typeface="Wingdings" pitchFamily="2" charset="2"/>
                </a:rPr>
                <a:t>Eliminasi qualifier “    ”</a:t>
              </a:r>
            </a:p>
            <a:p>
              <a:pPr marL="900113" indent="-457200">
                <a:buFontTx/>
                <a:buAutoNum type="arabicPeriod" startAt="5"/>
              </a:pPr>
              <a:r>
                <a:rPr lang="id-ID" sz="2400" dirty="0" smtClean="0">
                  <a:solidFill>
                    <a:schemeClr val="bg1"/>
                  </a:solidFill>
                  <a:latin typeface="Bradley Hand ITC" pitchFamily="66" charset="0"/>
                  <a:sym typeface="Wingdings" pitchFamily="2" charset="2"/>
                </a:rPr>
                <a:t>Ubah menjadi </a:t>
              </a:r>
              <a:r>
                <a:rPr lang="id-ID" sz="2400" i="1" dirty="0" smtClean="0">
                  <a:solidFill>
                    <a:schemeClr val="bg1"/>
                  </a:solidFill>
                  <a:latin typeface="Bradley Hand ITC" pitchFamily="66" charset="0"/>
                  <a:sym typeface="Wingdings" pitchFamily="2" charset="2"/>
                </a:rPr>
                <a:t>conjunction of</a:t>
              </a:r>
            </a:p>
            <a:p>
              <a:pPr marL="900113" indent="-457200"/>
              <a:r>
                <a:rPr lang="id-ID" sz="2400" i="1" dirty="0" smtClean="0">
                  <a:solidFill>
                    <a:schemeClr val="bg1"/>
                  </a:solidFill>
                  <a:latin typeface="Bradley Hand ITC" pitchFamily="66" charset="0"/>
                  <a:sym typeface="Wingdings" pitchFamily="2" charset="2"/>
                </a:rPr>
                <a:t>	disjunction</a:t>
              </a:r>
            </a:p>
            <a:p>
              <a:pPr marL="900113" indent="-457200"/>
              <a:endParaRPr lang="id-ID" sz="2400" i="1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endParaRPr>
            </a:p>
            <a:p>
              <a:pPr marL="900113" indent="-457200"/>
              <a:endParaRPr lang="id-ID" sz="2400" i="1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endParaRPr>
            </a:p>
            <a:p>
              <a:pPr marL="900113" indent="-457200">
                <a:buAutoNum type="arabicPeriod" startAt="8"/>
              </a:pPr>
              <a:r>
                <a:rPr lang="id-ID" sz="2400" dirty="0" smtClean="0">
                  <a:solidFill>
                    <a:schemeClr val="bg1"/>
                  </a:solidFill>
                  <a:latin typeface="Bradley Hand ITC" pitchFamily="66" charset="0"/>
                  <a:sym typeface="Wingdings" pitchFamily="2" charset="2"/>
                </a:rPr>
                <a:t>Bentuk klausa untuk tiap-tiap</a:t>
              </a:r>
            </a:p>
            <a:p>
              <a:pPr marL="900113" indent="-457200"/>
              <a:r>
                <a:rPr lang="id-ID" sz="2400" dirty="0" smtClean="0">
                  <a:solidFill>
                    <a:schemeClr val="bg1"/>
                  </a:solidFill>
                  <a:latin typeface="Bradley Hand ITC" pitchFamily="66" charset="0"/>
                  <a:sym typeface="Wingdings" pitchFamily="2" charset="2"/>
                </a:rPr>
                <a:t>	bagian konjungsi</a:t>
              </a:r>
            </a:p>
            <a:p>
              <a:pPr marL="900113" indent="-457200"/>
              <a:r>
                <a:rPr lang="id-ID" sz="2400" dirty="0" smtClean="0">
                  <a:solidFill>
                    <a:schemeClr val="bg1"/>
                  </a:solidFill>
                  <a:latin typeface="Bradley Hand ITC" pitchFamily="66" charset="0"/>
                  <a:sym typeface="Wingdings" pitchFamily="2" charset="2"/>
                </a:rPr>
                <a:t>9.	Standarisasi variabel di tiap klausa</a:t>
              </a:r>
            </a:p>
            <a:p>
              <a:pPr marL="900113" indent="-457200"/>
              <a:endParaRPr lang="id-ID" sz="24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endParaRPr>
            </a:p>
            <a:p>
              <a:pPr marL="900113" indent="-457200"/>
              <a:endParaRPr lang="id-ID" sz="24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endParaRPr>
            </a:p>
            <a:p>
              <a:pPr marL="900113" indent="-457200"/>
              <a:endParaRPr lang="id-ID" sz="24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endParaRPr>
            </a:p>
            <a:p>
              <a:pPr marL="900113" indent="-457200"/>
              <a:endParaRPr lang="id-ID" sz="24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endParaRPr>
            </a:p>
            <a:p>
              <a:pPr marL="1344613" indent="-457200" defTabSz="1344613"/>
              <a:endParaRPr lang="id-ID" sz="24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endParaRPr>
            </a:p>
            <a:p>
              <a:pPr marL="360363" indent="-360363"/>
              <a:endParaRPr lang="id-ID" sz="24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endParaRPr>
            </a:p>
            <a:p>
              <a:pPr marL="900113" indent="-457200">
                <a:tabLst>
                  <a:tab pos="4932363" algn="l"/>
                </a:tabLst>
              </a:pPr>
              <a:endParaRPr lang="id-ID" sz="24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endParaRPr>
            </a:p>
            <a:p>
              <a:pPr marL="900113" indent="-457200">
                <a:tabLst>
                  <a:tab pos="4932363" algn="l"/>
                </a:tabLst>
              </a:pPr>
              <a:endParaRPr lang="id-ID" sz="24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endParaRPr>
            </a:p>
          </p:txBody>
        </p:sp>
        <p:graphicFrame>
          <p:nvGraphicFramePr>
            <p:cNvPr id="82948" name="Object 4"/>
            <p:cNvGraphicFramePr>
              <a:graphicFrameLocks noChangeAspect="1"/>
            </p:cNvGraphicFramePr>
            <p:nvPr/>
          </p:nvGraphicFramePr>
          <p:xfrm>
            <a:off x="1428728" y="1928802"/>
            <a:ext cx="3260725" cy="3306762"/>
          </p:xfrm>
          <a:graphic>
            <a:graphicData uri="http://schemas.openxmlformats.org/presentationml/2006/ole">
              <p:oleObj spid="_x0000_s84994" name="Document" r:id="rId4" imgW="3413631" imgH="3460804" progId="Word.Document.12">
                <p:embed/>
              </p:oleObj>
            </a:graphicData>
          </a:graphic>
        </p:graphicFrame>
      </p:grpSp>
      <p:graphicFrame>
        <p:nvGraphicFramePr>
          <p:cNvPr id="8" name="Object 2"/>
          <p:cNvGraphicFramePr>
            <a:graphicFrameLocks noChangeAspect="1"/>
          </p:cNvGraphicFramePr>
          <p:nvPr/>
        </p:nvGraphicFramePr>
        <p:xfrm>
          <a:off x="3771032" y="1151505"/>
          <a:ext cx="471488" cy="503237"/>
        </p:xfrm>
        <a:graphic>
          <a:graphicData uri="http://schemas.openxmlformats.org/presentationml/2006/ole">
            <p:oleObj spid="_x0000_s84996" name="Document" r:id="rId5" imgW="492900" imgH="515179" progId="Word.Document.12">
              <p:embed/>
            </p:oleObj>
          </a:graphicData>
        </a:graphic>
      </p:graphicFrame>
      <p:graphicFrame>
        <p:nvGraphicFramePr>
          <p:cNvPr id="84997" name="Object 5"/>
          <p:cNvGraphicFramePr>
            <a:graphicFrameLocks noChangeAspect="1"/>
          </p:cNvGraphicFramePr>
          <p:nvPr/>
        </p:nvGraphicFramePr>
        <p:xfrm>
          <a:off x="3586592" y="2612300"/>
          <a:ext cx="471487" cy="503238"/>
        </p:xfrm>
        <a:graphic>
          <a:graphicData uri="http://schemas.openxmlformats.org/presentationml/2006/ole">
            <p:oleObj spid="_x0000_s84997" name="Document" r:id="rId6" imgW="492900" imgH="515899" progId="Word.Document.12">
              <p:embed/>
            </p:oleObj>
          </a:graphicData>
        </a:graphic>
      </p:graphicFrame>
      <p:graphicFrame>
        <p:nvGraphicFramePr>
          <p:cNvPr id="84998" name="Object 6"/>
          <p:cNvGraphicFramePr>
            <a:graphicFrameLocks noChangeAspect="1"/>
          </p:cNvGraphicFramePr>
          <p:nvPr/>
        </p:nvGraphicFramePr>
        <p:xfrm>
          <a:off x="1470027" y="3768731"/>
          <a:ext cx="3459163" cy="517525"/>
        </p:xfrm>
        <a:graphic>
          <a:graphicData uri="http://schemas.openxmlformats.org/presentationml/2006/ole">
            <p:oleObj spid="_x0000_s84998" name="Document" r:id="rId7" imgW="3489020" imgH="538219" progId="Word.Document.12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621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4" name="TextBox 43"/>
          <p:cNvSpPr txBox="1"/>
          <p:nvPr/>
        </p:nvSpPr>
        <p:spPr>
          <a:xfrm>
            <a:off x="357158" y="1442853"/>
            <a:ext cx="6417462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60363" indent="-360363">
              <a:buFont typeface="Arial" pitchFamily="34" charset="0"/>
              <a:buChar char="•"/>
            </a:pP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Resolusi pada logika predikat pada dasarnya</a:t>
            </a:r>
          </a:p>
          <a:p>
            <a:pPr marL="360363" indent="-360363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	sama dengan resolusi pada logika proposisi,</a:t>
            </a:r>
          </a:p>
          <a:p>
            <a:pPr marL="360363" indent="-360363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	hanya saja ditambah unifikasi</a:t>
            </a:r>
          </a:p>
          <a:p>
            <a:pPr marL="900113" indent="-457200">
              <a:tabLst>
                <a:tab pos="4932363" algn="l"/>
              </a:tabLst>
            </a:pPr>
            <a:endParaRPr lang="id-ID" sz="2400" dirty="0" smtClean="0">
              <a:solidFill>
                <a:schemeClr val="bg1"/>
              </a:solidFill>
              <a:latin typeface="Bradley Hand ITC" pitchFamily="66" charset="0"/>
              <a:sym typeface="Wingdings" pitchFamily="2" charset="2"/>
            </a:endParaRPr>
          </a:p>
          <a:p>
            <a:pPr marL="900113" indent="-457200">
              <a:tabLst>
                <a:tab pos="4932363" algn="l"/>
              </a:tabLst>
            </a:pPr>
            <a:endParaRPr lang="id-ID" sz="2400" dirty="0" smtClean="0">
              <a:solidFill>
                <a:schemeClr val="bg1"/>
              </a:solidFill>
              <a:latin typeface="Bradley Hand ITC" pitchFamily="66" charset="0"/>
              <a:sym typeface="Wingdings" pitchFamily="2" charset="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215074" y="4857760"/>
            <a:ext cx="2719014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id-ID" sz="5400" b="1" cap="none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radley Hand ITC" pitchFamily="66" charset="0"/>
              </a:rPr>
              <a:t>Logika</a:t>
            </a:r>
          </a:p>
          <a:p>
            <a:pPr algn="ctr"/>
            <a:r>
              <a:rPr lang="id-ID" sz="54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radley Hand ITC" pitchFamily="66" charset="0"/>
              </a:rPr>
              <a:t>Predikat</a:t>
            </a:r>
            <a:endParaRPr lang="en-US" sz="5400" b="1" cap="none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glow rad="228600">
                  <a:schemeClr val="accent5">
                    <a:satMod val="175000"/>
                    <a:alpha val="40000"/>
                  </a:schemeClr>
                </a:glow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radley Hand ITC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621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4" name="TextBox 43"/>
          <p:cNvSpPr txBox="1"/>
          <p:nvPr/>
        </p:nvSpPr>
        <p:spPr>
          <a:xfrm>
            <a:off x="85429" y="600277"/>
            <a:ext cx="5957080" cy="6494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60363" indent="-360363"/>
            <a:r>
              <a:rPr lang="id-ID" sz="2400" b="1" u="sng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Contoh :</a:t>
            </a:r>
            <a:endParaRPr lang="id-ID" sz="2400" dirty="0" smtClean="0">
              <a:solidFill>
                <a:schemeClr val="bg1"/>
              </a:solidFill>
              <a:latin typeface="Bradley Hand ITC" pitchFamily="66" charset="0"/>
              <a:sym typeface="Wingdings" pitchFamily="2" charset="2"/>
            </a:endParaRPr>
          </a:p>
          <a:p>
            <a:pPr marL="360363" indent="-360363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Diketahui fakta-fakta sebagai berikut :</a:t>
            </a:r>
          </a:p>
          <a:p>
            <a:pPr marL="457200" indent="-457200">
              <a:buFont typeface="+mj-lt"/>
              <a:buAutoNum type="arabicPeriod"/>
            </a:pPr>
            <a:r>
              <a:rPr lang="id-ID" sz="20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Andi adalah seorang mahasiswa</a:t>
            </a:r>
          </a:p>
          <a:p>
            <a:pPr marL="457200" indent="-457200">
              <a:buFont typeface="+mj-lt"/>
              <a:buAutoNum type="arabicPeriod"/>
            </a:pPr>
            <a:r>
              <a:rPr lang="id-ID" sz="20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Andi masuk Jurusan Elektro</a:t>
            </a:r>
          </a:p>
          <a:p>
            <a:pPr marL="457200" indent="-457200">
              <a:buFont typeface="+mj-lt"/>
              <a:buAutoNum type="arabicPeriod"/>
            </a:pPr>
            <a:r>
              <a:rPr lang="id-ID" sz="20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Setiap mahasiswa elektro pasti mahasiswa</a:t>
            </a:r>
          </a:p>
          <a:p>
            <a:pPr marL="457200" indent="-457200"/>
            <a:r>
              <a:rPr lang="id-ID" sz="20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	teknik</a:t>
            </a:r>
          </a:p>
          <a:p>
            <a:pPr marL="457200" indent="-457200">
              <a:buAutoNum type="arabicPeriod" startAt="4"/>
            </a:pPr>
            <a:r>
              <a:rPr lang="id-ID" sz="20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Kalkulus adalah matakuliah yang</a:t>
            </a:r>
          </a:p>
          <a:p>
            <a:pPr marL="457200" indent="-457200"/>
            <a:r>
              <a:rPr lang="id-ID" sz="20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	sulit</a:t>
            </a:r>
          </a:p>
          <a:p>
            <a:pPr marL="457200" indent="-457200">
              <a:buAutoNum type="arabicPeriod" startAt="5"/>
            </a:pPr>
            <a:r>
              <a:rPr lang="id-ID" sz="20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Setiap mahasiswa teknik pasti akan</a:t>
            </a:r>
          </a:p>
          <a:p>
            <a:pPr marL="457200" indent="-457200"/>
            <a:r>
              <a:rPr lang="id-ID" sz="20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	suka kalkulus atau akan membencinya</a:t>
            </a:r>
          </a:p>
          <a:p>
            <a:pPr marL="457200" indent="-457200">
              <a:buAutoNum type="arabicPeriod" startAt="6"/>
            </a:pPr>
            <a:r>
              <a:rPr lang="id-ID" sz="20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Setiap mahasiswa pasti akan suka terhadap</a:t>
            </a:r>
          </a:p>
          <a:p>
            <a:pPr marL="457200" indent="-457200"/>
            <a:r>
              <a:rPr lang="id-ID" sz="20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	suatu matakuliah</a:t>
            </a:r>
          </a:p>
          <a:p>
            <a:pPr marL="457200" indent="-457200"/>
            <a:r>
              <a:rPr lang="id-ID" sz="20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7.	Mahasiswa yang tidak pernah hadir pada</a:t>
            </a:r>
          </a:p>
          <a:p>
            <a:pPr marL="457200" indent="-457200"/>
            <a:r>
              <a:rPr lang="id-ID" sz="20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	matakuliah sulit, maka mereka pasti tidak suka</a:t>
            </a:r>
          </a:p>
          <a:p>
            <a:pPr marL="457200" indent="-457200"/>
            <a:r>
              <a:rPr lang="id-ID" sz="20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	terhadap matakuliah tersebut</a:t>
            </a:r>
          </a:p>
          <a:p>
            <a:pPr marL="457200" indent="-457200">
              <a:buAutoNum type="arabicPeriod" startAt="8"/>
            </a:pPr>
            <a:r>
              <a:rPr lang="id-ID" sz="20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Andi tidak pernah hadir kuliah matakuliah</a:t>
            </a:r>
          </a:p>
          <a:p>
            <a:pPr marL="457200" indent="-457200"/>
            <a:r>
              <a:rPr lang="id-ID" sz="20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	kalkulus</a:t>
            </a:r>
          </a:p>
          <a:p>
            <a:pPr marL="457200" indent="-457200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Buktikan apakah Andi benci kalkulus!</a:t>
            </a:r>
          </a:p>
          <a:p>
            <a:pPr marL="900113" indent="-457200">
              <a:tabLst>
                <a:tab pos="4932363" algn="l"/>
              </a:tabLst>
            </a:pPr>
            <a:endParaRPr lang="id-ID" sz="2400" dirty="0" smtClean="0">
              <a:solidFill>
                <a:schemeClr val="bg1"/>
              </a:solidFill>
              <a:latin typeface="Bradley Hand ITC" pitchFamily="66" charset="0"/>
              <a:sym typeface="Wingdings" pitchFamily="2" charset="2"/>
            </a:endParaRPr>
          </a:p>
          <a:p>
            <a:pPr marL="900113" indent="-457200">
              <a:tabLst>
                <a:tab pos="4932363" algn="l"/>
              </a:tabLst>
            </a:pPr>
            <a:endParaRPr lang="id-ID" sz="2400" dirty="0" smtClean="0">
              <a:solidFill>
                <a:schemeClr val="bg1"/>
              </a:solidFill>
              <a:latin typeface="Bradley Hand ITC" pitchFamily="66" charset="0"/>
              <a:sym typeface="Wingdings" pitchFamily="2" charset="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215074" y="4857760"/>
            <a:ext cx="2719014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id-ID" sz="5400" b="1" cap="none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radley Hand ITC" pitchFamily="66" charset="0"/>
              </a:rPr>
              <a:t>Logika</a:t>
            </a:r>
          </a:p>
          <a:p>
            <a:pPr algn="ctr"/>
            <a:r>
              <a:rPr lang="id-ID" sz="54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radley Hand ITC" pitchFamily="66" charset="0"/>
              </a:rPr>
              <a:t>Predikat</a:t>
            </a:r>
            <a:endParaRPr lang="en-US" sz="5400" b="1" cap="none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glow rad="228600">
                  <a:schemeClr val="accent5">
                    <a:satMod val="175000"/>
                    <a:alpha val="40000"/>
                  </a:schemeClr>
                </a:glow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radley Hand ITC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68621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4" name="TextBox 43"/>
          <p:cNvSpPr txBox="1"/>
          <p:nvPr/>
        </p:nvSpPr>
        <p:spPr>
          <a:xfrm>
            <a:off x="85429" y="759813"/>
            <a:ext cx="534473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60363" indent="-360363"/>
            <a:r>
              <a:rPr lang="id-ID" sz="2400" b="1" u="sng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Penyelesaian :</a:t>
            </a:r>
            <a:endParaRPr lang="id-ID" sz="2400" dirty="0" smtClean="0">
              <a:solidFill>
                <a:schemeClr val="bg1"/>
              </a:solidFill>
              <a:latin typeface="Bradley Hand ITC" pitchFamily="66" charset="0"/>
              <a:sym typeface="Wingdings" pitchFamily="2" charset="2"/>
            </a:endParaRPr>
          </a:p>
          <a:p>
            <a:pPr marL="360363" indent="-360363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Ubah ke dalam bentuk logika predikat :</a:t>
            </a:r>
          </a:p>
          <a:p>
            <a:pPr marL="900113" indent="-457200">
              <a:tabLst>
                <a:tab pos="4932363" algn="l"/>
              </a:tabLst>
            </a:pPr>
            <a:endParaRPr lang="id-ID" sz="2400" dirty="0" smtClean="0">
              <a:solidFill>
                <a:schemeClr val="bg1"/>
              </a:solidFill>
              <a:latin typeface="Bradley Hand ITC" pitchFamily="66" charset="0"/>
              <a:sym typeface="Wingdings" pitchFamily="2" charset="2"/>
            </a:endParaRPr>
          </a:p>
          <a:p>
            <a:pPr marL="900113" indent="-457200">
              <a:tabLst>
                <a:tab pos="4932363" algn="l"/>
              </a:tabLst>
            </a:pPr>
            <a:endParaRPr lang="id-ID" sz="2400" dirty="0" smtClean="0">
              <a:solidFill>
                <a:schemeClr val="bg1"/>
              </a:solidFill>
              <a:latin typeface="Bradley Hand ITC" pitchFamily="66" charset="0"/>
              <a:sym typeface="Wingdings" pitchFamily="2" charset="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215074" y="4857760"/>
            <a:ext cx="2719014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id-ID" sz="5400" b="1" cap="none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radley Hand ITC" pitchFamily="66" charset="0"/>
              </a:rPr>
              <a:t>Logika</a:t>
            </a:r>
          </a:p>
          <a:p>
            <a:pPr algn="ctr"/>
            <a:r>
              <a:rPr lang="id-ID" sz="54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radley Hand ITC" pitchFamily="66" charset="0"/>
              </a:rPr>
              <a:t>Predikat</a:t>
            </a:r>
            <a:endParaRPr lang="en-US" sz="5400" b="1" cap="none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glow rad="228600">
                  <a:schemeClr val="accent5">
                    <a:satMod val="175000"/>
                    <a:alpha val="40000"/>
                  </a:schemeClr>
                </a:glow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radley Hand ITC" pitchFamily="66" charset="0"/>
            </a:endParaRP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211160" y="1643050"/>
          <a:ext cx="7504112" cy="4086225"/>
        </p:xfrm>
        <a:graphic>
          <a:graphicData uri="http://schemas.openxmlformats.org/presentationml/2006/ole">
            <p:oleObj spid="_x0000_s91138" name="Document" r:id="rId4" imgW="7504529" imgH="4086147" progId="Word.Document.12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68621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4" name="TextBox 43"/>
          <p:cNvSpPr txBox="1"/>
          <p:nvPr/>
        </p:nvSpPr>
        <p:spPr>
          <a:xfrm>
            <a:off x="85429" y="759813"/>
            <a:ext cx="382027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60363" indent="-360363"/>
            <a:r>
              <a:rPr lang="id-ID" sz="2400" b="1" u="sng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Penyelesaian :</a:t>
            </a:r>
            <a:endParaRPr lang="id-ID" sz="2400" dirty="0" smtClean="0">
              <a:solidFill>
                <a:schemeClr val="bg1"/>
              </a:solidFill>
              <a:latin typeface="Bradley Hand ITC" pitchFamily="66" charset="0"/>
              <a:sym typeface="Wingdings" pitchFamily="2" charset="2"/>
            </a:endParaRPr>
          </a:p>
          <a:p>
            <a:pPr marL="360363" indent="-360363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Konversi ke bentuk klausa :</a:t>
            </a:r>
          </a:p>
          <a:p>
            <a:pPr marL="900113" indent="-457200">
              <a:tabLst>
                <a:tab pos="4932363" algn="l"/>
              </a:tabLst>
            </a:pPr>
            <a:endParaRPr lang="id-ID" sz="2400" dirty="0" smtClean="0">
              <a:solidFill>
                <a:schemeClr val="bg1"/>
              </a:solidFill>
              <a:latin typeface="Bradley Hand ITC" pitchFamily="66" charset="0"/>
              <a:sym typeface="Wingdings" pitchFamily="2" charset="2"/>
            </a:endParaRPr>
          </a:p>
          <a:p>
            <a:pPr marL="900113" indent="-457200">
              <a:tabLst>
                <a:tab pos="4932363" algn="l"/>
              </a:tabLst>
            </a:pPr>
            <a:endParaRPr lang="id-ID" sz="2400" dirty="0" smtClean="0">
              <a:solidFill>
                <a:schemeClr val="bg1"/>
              </a:solidFill>
              <a:latin typeface="Bradley Hand ITC" pitchFamily="66" charset="0"/>
              <a:sym typeface="Wingdings" pitchFamily="2" charset="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215074" y="4857760"/>
            <a:ext cx="2719014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id-ID" sz="5400" b="1" cap="none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radley Hand ITC" pitchFamily="66" charset="0"/>
              </a:rPr>
              <a:t>Logika</a:t>
            </a:r>
          </a:p>
          <a:p>
            <a:pPr algn="ctr"/>
            <a:r>
              <a:rPr lang="id-ID" sz="54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radley Hand ITC" pitchFamily="66" charset="0"/>
              </a:rPr>
              <a:t>Predikat</a:t>
            </a:r>
            <a:endParaRPr lang="en-US" sz="5400" b="1" cap="none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glow rad="228600">
                  <a:schemeClr val="accent5">
                    <a:satMod val="175000"/>
                    <a:alpha val="40000"/>
                  </a:schemeClr>
                </a:glow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radley Hand ITC" pitchFamily="66" charset="0"/>
            </a:endParaRP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215900" y="1646238"/>
          <a:ext cx="7431088" cy="4038600"/>
        </p:xfrm>
        <a:graphic>
          <a:graphicData uri="http://schemas.openxmlformats.org/presentationml/2006/ole">
            <p:oleObj spid="_x0000_s92162" name="Document" r:id="rId4" imgW="7497225" imgH="4086507" progId="Word.Document.12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68621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4" name="TextBox 43"/>
          <p:cNvSpPr txBox="1"/>
          <p:nvPr/>
        </p:nvSpPr>
        <p:spPr>
          <a:xfrm>
            <a:off x="-32" y="571480"/>
            <a:ext cx="549862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tabLst>
                <a:tab pos="4932363" algn="l"/>
              </a:tabLst>
            </a:pP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Lakukan resolusi untuk membuktikan :</a:t>
            </a:r>
          </a:p>
          <a:p>
            <a:pPr marL="360363" indent="-360363">
              <a:tabLst>
                <a:tab pos="4932363" algn="l"/>
              </a:tabLst>
            </a:pPr>
            <a:r>
              <a:rPr lang="id-ID" sz="20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	</a:t>
            </a:r>
            <a:r>
              <a:rPr lang="id-ID" sz="2400" dirty="0" smtClean="0">
                <a:solidFill>
                  <a:srgbClr val="FFFF00"/>
                </a:solidFill>
                <a:latin typeface="Bradley Hand ITC" pitchFamily="66" charset="0"/>
                <a:sym typeface="Wingdings" pitchFamily="2" charset="2"/>
              </a:rPr>
              <a:t>benci(Andi,Kalkulus)</a:t>
            </a:r>
          </a:p>
          <a:p>
            <a:pPr marL="900113" indent="-457200">
              <a:tabLst>
                <a:tab pos="4932363" algn="l"/>
              </a:tabLst>
            </a:pPr>
            <a:endParaRPr lang="id-ID" sz="2400" dirty="0" smtClean="0">
              <a:solidFill>
                <a:schemeClr val="bg1"/>
              </a:solidFill>
              <a:latin typeface="Bradley Hand ITC" pitchFamily="66" charset="0"/>
              <a:sym typeface="Wingdings" pitchFamily="2" charset="2"/>
            </a:endParaRPr>
          </a:p>
        </p:txBody>
      </p:sp>
      <p:grpSp>
        <p:nvGrpSpPr>
          <p:cNvPr id="80" name="Group 79"/>
          <p:cNvGrpSpPr/>
          <p:nvPr/>
        </p:nvGrpSpPr>
        <p:grpSpPr>
          <a:xfrm>
            <a:off x="71406" y="1571613"/>
            <a:ext cx="7215238" cy="5072097"/>
            <a:chOff x="142844" y="1285860"/>
            <a:chExt cx="7978784" cy="5454835"/>
          </a:xfrm>
        </p:grpSpPr>
        <p:graphicFrame>
          <p:nvGraphicFramePr>
            <p:cNvPr id="95236" name="Object 4"/>
            <p:cNvGraphicFramePr>
              <a:graphicFrameLocks noChangeAspect="1"/>
            </p:cNvGraphicFramePr>
            <p:nvPr/>
          </p:nvGraphicFramePr>
          <p:xfrm>
            <a:off x="2844816" y="2069990"/>
            <a:ext cx="4084638" cy="685800"/>
          </p:xfrm>
          <a:graphic>
            <a:graphicData uri="http://schemas.openxmlformats.org/presentationml/2006/ole">
              <p:oleObj spid="_x0000_s95236" name="Document" r:id="rId4" imgW="4280160" imgH="718226" progId="Word.Document.12">
                <p:embed/>
              </p:oleObj>
            </a:graphicData>
          </a:graphic>
        </p:graphicFrame>
        <p:graphicFrame>
          <p:nvGraphicFramePr>
            <p:cNvPr id="95238" name="Object 6"/>
            <p:cNvGraphicFramePr>
              <a:graphicFrameLocks noChangeAspect="1"/>
            </p:cNvGraphicFramePr>
            <p:nvPr/>
          </p:nvGraphicFramePr>
          <p:xfrm>
            <a:off x="1533532" y="2827228"/>
            <a:ext cx="4038600" cy="669925"/>
          </p:xfrm>
          <a:graphic>
            <a:graphicData uri="http://schemas.openxmlformats.org/presentationml/2006/ole">
              <p:oleObj spid="_x0000_s95238" name="Document" r:id="rId5" imgW="4268932" imgH="717506" progId="Word.Document.12">
                <p:embed/>
              </p:oleObj>
            </a:graphicData>
          </a:graphic>
        </p:graphicFrame>
        <p:graphicFrame>
          <p:nvGraphicFramePr>
            <p:cNvPr id="95239" name="Object 7"/>
            <p:cNvGraphicFramePr>
              <a:graphicFrameLocks noChangeAspect="1"/>
            </p:cNvGraphicFramePr>
            <p:nvPr/>
          </p:nvGraphicFramePr>
          <p:xfrm>
            <a:off x="2790825" y="1330217"/>
            <a:ext cx="2679700" cy="411163"/>
          </p:xfrm>
          <a:graphic>
            <a:graphicData uri="http://schemas.openxmlformats.org/presentationml/2006/ole">
              <p:oleObj spid="_x0000_s95239" name="Document" r:id="rId6" imgW="2838453" imgH="469457" progId="Word.Document.12">
                <p:embed/>
              </p:oleObj>
            </a:graphicData>
          </a:graphic>
        </p:graphicFrame>
        <p:graphicFrame>
          <p:nvGraphicFramePr>
            <p:cNvPr id="95240" name="Object 8"/>
            <p:cNvGraphicFramePr>
              <a:graphicFrameLocks noChangeAspect="1"/>
            </p:cNvGraphicFramePr>
            <p:nvPr/>
          </p:nvGraphicFramePr>
          <p:xfrm>
            <a:off x="5385714" y="1772218"/>
            <a:ext cx="1135062" cy="425450"/>
          </p:xfrm>
          <a:graphic>
            <a:graphicData uri="http://schemas.openxmlformats.org/presentationml/2006/ole">
              <p:oleObj spid="_x0000_s95240" name="Document" r:id="rId7" imgW="1220560" imgH="469457" progId="Word.Document.12">
                <p:embed/>
              </p:oleObj>
            </a:graphicData>
          </a:graphic>
        </p:graphicFrame>
        <p:graphicFrame>
          <p:nvGraphicFramePr>
            <p:cNvPr id="95241" name="Object 9"/>
            <p:cNvGraphicFramePr>
              <a:graphicFrameLocks noChangeAspect="1"/>
            </p:cNvGraphicFramePr>
            <p:nvPr/>
          </p:nvGraphicFramePr>
          <p:xfrm>
            <a:off x="4071934" y="2501112"/>
            <a:ext cx="1135062" cy="425450"/>
          </p:xfrm>
          <a:graphic>
            <a:graphicData uri="http://schemas.openxmlformats.org/presentationml/2006/ole">
              <p:oleObj spid="_x0000_s95241" name="Document" r:id="rId8" imgW="1220560" imgH="469457" progId="Word.Document.12">
                <p:embed/>
              </p:oleObj>
            </a:graphicData>
          </a:graphic>
        </p:graphicFrame>
        <p:graphicFrame>
          <p:nvGraphicFramePr>
            <p:cNvPr id="95242" name="Object 10"/>
            <p:cNvGraphicFramePr>
              <a:graphicFrameLocks noChangeAspect="1"/>
            </p:cNvGraphicFramePr>
            <p:nvPr/>
          </p:nvGraphicFramePr>
          <p:xfrm>
            <a:off x="4214810" y="3613046"/>
            <a:ext cx="2454275" cy="639762"/>
          </p:xfrm>
          <a:graphic>
            <a:graphicData uri="http://schemas.openxmlformats.org/presentationml/2006/ole">
              <p:oleObj spid="_x0000_s95242" name="Document" r:id="rId9" imgW="2605029" imgH="693745" progId="Word.Document.12">
                <p:embed/>
              </p:oleObj>
            </a:graphicData>
          </a:graphic>
        </p:graphicFrame>
        <p:graphicFrame>
          <p:nvGraphicFramePr>
            <p:cNvPr id="95244" name="Object 12"/>
            <p:cNvGraphicFramePr>
              <a:graphicFrameLocks noChangeAspect="1"/>
            </p:cNvGraphicFramePr>
            <p:nvPr/>
          </p:nvGraphicFramePr>
          <p:xfrm>
            <a:off x="5034211" y="3999264"/>
            <a:ext cx="1119187" cy="409575"/>
          </p:xfrm>
          <a:graphic>
            <a:graphicData uri="http://schemas.openxmlformats.org/presentationml/2006/ole">
              <p:oleObj spid="_x0000_s95244" name="Document" r:id="rId10" imgW="1227533" imgH="469457" progId="Word.Document.12">
                <p:embed/>
              </p:oleObj>
            </a:graphicData>
          </a:graphic>
        </p:graphicFrame>
        <p:graphicFrame>
          <p:nvGraphicFramePr>
            <p:cNvPr id="95245" name="Object 13"/>
            <p:cNvGraphicFramePr>
              <a:graphicFrameLocks noChangeAspect="1"/>
            </p:cNvGraphicFramePr>
            <p:nvPr/>
          </p:nvGraphicFramePr>
          <p:xfrm>
            <a:off x="5981494" y="4002671"/>
            <a:ext cx="1576388" cy="409575"/>
          </p:xfrm>
          <a:graphic>
            <a:graphicData uri="http://schemas.openxmlformats.org/presentationml/2006/ole">
              <p:oleObj spid="_x0000_s95245" name="Document" r:id="rId11" imgW="1761579" imgH="469457" progId="Word.Document.12">
                <p:embed/>
              </p:oleObj>
            </a:graphicData>
          </a:graphic>
        </p:graphicFrame>
        <p:graphicFrame>
          <p:nvGraphicFramePr>
            <p:cNvPr id="95246" name="Object 14"/>
            <p:cNvGraphicFramePr>
              <a:graphicFrameLocks noChangeAspect="1"/>
            </p:cNvGraphicFramePr>
            <p:nvPr/>
          </p:nvGraphicFramePr>
          <p:xfrm>
            <a:off x="1500166" y="4398864"/>
            <a:ext cx="6621462" cy="425450"/>
          </p:xfrm>
          <a:graphic>
            <a:graphicData uri="http://schemas.openxmlformats.org/presentationml/2006/ole">
              <p:oleObj spid="_x0000_s95246" name="Document" r:id="rId12" imgW="7108108" imgH="469457" progId="Word.Document.12">
                <p:embed/>
              </p:oleObj>
            </a:graphicData>
          </a:graphic>
        </p:graphicFrame>
        <p:graphicFrame>
          <p:nvGraphicFramePr>
            <p:cNvPr id="95247" name="Object 15"/>
            <p:cNvGraphicFramePr>
              <a:graphicFrameLocks noChangeAspect="1"/>
            </p:cNvGraphicFramePr>
            <p:nvPr/>
          </p:nvGraphicFramePr>
          <p:xfrm>
            <a:off x="142844" y="5041806"/>
            <a:ext cx="4267200" cy="471487"/>
          </p:xfrm>
          <a:graphic>
            <a:graphicData uri="http://schemas.openxmlformats.org/presentationml/2006/ole">
              <p:oleObj spid="_x0000_s95247" name="Document" r:id="rId13" imgW="4483633" imgH="500058" progId="Word.Document.12">
                <p:embed/>
              </p:oleObj>
            </a:graphicData>
          </a:graphic>
        </p:graphicFrame>
        <p:graphicFrame>
          <p:nvGraphicFramePr>
            <p:cNvPr id="95248" name="Object 16"/>
            <p:cNvGraphicFramePr>
              <a:graphicFrameLocks noChangeAspect="1"/>
            </p:cNvGraphicFramePr>
            <p:nvPr/>
          </p:nvGraphicFramePr>
          <p:xfrm>
            <a:off x="3235333" y="5756186"/>
            <a:ext cx="2408237" cy="441325"/>
          </p:xfrm>
          <a:graphic>
            <a:graphicData uri="http://schemas.openxmlformats.org/presentationml/2006/ole">
              <p:oleObj spid="_x0000_s95248" name="Document" r:id="rId14" imgW="2624831" imgH="484217" progId="Word.Document.12">
                <p:embed/>
              </p:oleObj>
            </a:graphicData>
          </a:graphic>
        </p:graphicFrame>
        <p:sp>
          <p:nvSpPr>
            <p:cNvPr id="20" name="TextBox 19"/>
            <p:cNvSpPr txBox="1"/>
            <p:nvPr/>
          </p:nvSpPr>
          <p:spPr>
            <a:xfrm>
              <a:off x="5484760" y="128586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d-ID" dirty="0" smtClean="0">
                  <a:solidFill>
                    <a:schemeClr val="bg1"/>
                  </a:solidFill>
                </a:rPr>
                <a:t>5</a:t>
              </a:r>
              <a:endParaRPr lang="id-ID" dirty="0">
                <a:solidFill>
                  <a:schemeClr val="bg1"/>
                </a:solidFill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270050" y="204141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d-ID" dirty="0" smtClean="0">
                  <a:solidFill>
                    <a:schemeClr val="bg1"/>
                  </a:solidFill>
                </a:rPr>
                <a:t>3</a:t>
              </a:r>
              <a:endParaRPr lang="id-ID" dirty="0">
                <a:solidFill>
                  <a:schemeClr val="bg1"/>
                </a:solidFill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5913388" y="2771544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d-ID" dirty="0" smtClean="0">
                  <a:solidFill>
                    <a:schemeClr val="bg1"/>
                  </a:solidFill>
                </a:rPr>
                <a:t>2</a:t>
              </a:r>
              <a:endParaRPr lang="id-ID" dirty="0">
                <a:solidFill>
                  <a:schemeClr val="bg1"/>
                </a:solidFill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3555934" y="3571876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d-ID" dirty="0" smtClean="0">
                  <a:solidFill>
                    <a:schemeClr val="bg1"/>
                  </a:solidFill>
                </a:rPr>
                <a:t>7</a:t>
              </a:r>
              <a:endParaRPr lang="id-ID" dirty="0">
                <a:solidFill>
                  <a:schemeClr val="bg1"/>
                </a:solidFill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071538" y="434431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d-ID" dirty="0" smtClean="0">
                  <a:solidFill>
                    <a:schemeClr val="bg1"/>
                  </a:solidFill>
                </a:rPr>
                <a:t>1</a:t>
              </a:r>
              <a:endParaRPr lang="id-ID" dirty="0">
                <a:solidFill>
                  <a:schemeClr val="bg1"/>
                </a:solidFill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4698942" y="5000636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d-ID" dirty="0" smtClean="0">
                  <a:solidFill>
                    <a:schemeClr val="bg1"/>
                  </a:solidFill>
                </a:rPr>
                <a:t>4</a:t>
              </a:r>
              <a:endParaRPr lang="id-ID" dirty="0">
                <a:solidFill>
                  <a:schemeClr val="bg1"/>
                </a:solidFill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5699074" y="570116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d-ID" dirty="0" smtClean="0">
                  <a:solidFill>
                    <a:schemeClr val="bg1"/>
                  </a:solidFill>
                </a:rPr>
                <a:t>8</a:t>
              </a:r>
              <a:endParaRPr lang="id-ID" dirty="0">
                <a:solidFill>
                  <a:schemeClr val="bg1"/>
                </a:solidFill>
              </a:endParaRPr>
            </a:p>
          </p:txBody>
        </p:sp>
        <p:cxnSp>
          <p:nvCxnSpPr>
            <p:cNvPr id="30" name="Straight Connector 29"/>
            <p:cNvCxnSpPr/>
            <p:nvPr/>
          </p:nvCxnSpPr>
          <p:spPr>
            <a:xfrm>
              <a:off x="3857620" y="1612782"/>
              <a:ext cx="857256" cy="428628"/>
            </a:xfrm>
            <a:prstGeom prst="line">
              <a:avLst/>
            </a:prstGeom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>
              <a:stCxn id="20" idx="2"/>
            </p:cNvCxnSpPr>
            <p:nvPr/>
          </p:nvCxnSpPr>
          <p:spPr>
            <a:xfrm rot="5400000">
              <a:off x="4982130" y="1387939"/>
              <a:ext cx="386221" cy="920726"/>
            </a:xfrm>
            <a:prstGeom prst="line">
              <a:avLst/>
            </a:prstGeom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>
              <a:off x="2428860" y="2398600"/>
              <a:ext cx="1000132" cy="428628"/>
            </a:xfrm>
            <a:prstGeom prst="line">
              <a:avLst/>
            </a:prstGeom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 rot="10800000" flipV="1">
              <a:off x="3428992" y="2398600"/>
              <a:ext cx="1000132" cy="428628"/>
            </a:xfrm>
            <a:prstGeom prst="line">
              <a:avLst/>
            </a:prstGeom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>
              <a:off x="4214810" y="3112980"/>
              <a:ext cx="928694" cy="428628"/>
            </a:xfrm>
            <a:prstGeom prst="line">
              <a:avLst/>
            </a:prstGeom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>
              <a:stCxn id="22" idx="2"/>
            </p:cNvCxnSpPr>
            <p:nvPr/>
          </p:nvCxnSpPr>
          <p:spPr>
            <a:xfrm rot="5400000">
              <a:off x="5403501" y="2880880"/>
              <a:ext cx="400734" cy="920727"/>
            </a:xfrm>
            <a:prstGeom prst="line">
              <a:avLst/>
            </a:prstGeom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>
              <a:stCxn id="23" idx="2"/>
            </p:cNvCxnSpPr>
            <p:nvPr/>
          </p:nvCxnSpPr>
          <p:spPr>
            <a:xfrm rot="16200000" flipH="1">
              <a:off x="3910561" y="3737423"/>
              <a:ext cx="386218" cy="793787"/>
            </a:xfrm>
            <a:prstGeom prst="line">
              <a:avLst/>
            </a:prstGeom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 rot="10800000" flipV="1">
              <a:off x="4500564" y="3898797"/>
              <a:ext cx="785816" cy="428629"/>
            </a:xfrm>
            <a:prstGeom prst="line">
              <a:avLst/>
            </a:prstGeom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>
              <a:stCxn id="24" idx="2"/>
            </p:cNvCxnSpPr>
            <p:nvPr/>
          </p:nvCxnSpPr>
          <p:spPr>
            <a:xfrm rot="16200000" flipH="1">
              <a:off x="1447225" y="4488799"/>
              <a:ext cx="328162" cy="777851"/>
            </a:xfrm>
            <a:prstGeom prst="line">
              <a:avLst/>
            </a:prstGeom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/>
            <p:nvPr/>
          </p:nvCxnSpPr>
          <p:spPr>
            <a:xfrm rot="10800000" flipV="1">
              <a:off x="2000232" y="4684618"/>
              <a:ext cx="785820" cy="357188"/>
            </a:xfrm>
            <a:prstGeom prst="line">
              <a:avLst/>
            </a:prstGeom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/>
          </p:nvCxnSpPr>
          <p:spPr>
            <a:xfrm>
              <a:off x="3857620" y="5398996"/>
              <a:ext cx="500066" cy="285752"/>
            </a:xfrm>
            <a:prstGeom prst="line">
              <a:avLst/>
            </a:prstGeom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>
              <a:stCxn id="25" idx="2"/>
            </p:cNvCxnSpPr>
            <p:nvPr/>
          </p:nvCxnSpPr>
          <p:spPr>
            <a:xfrm rot="5400000">
              <a:off x="4446345" y="5281310"/>
              <a:ext cx="314783" cy="492098"/>
            </a:xfrm>
            <a:prstGeom prst="line">
              <a:avLst/>
            </a:prstGeom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sp>
          <p:nvSpPr>
            <p:cNvPr id="72" name="Rectangle 71"/>
            <p:cNvSpPr/>
            <p:nvPr/>
          </p:nvSpPr>
          <p:spPr>
            <a:xfrm>
              <a:off x="5000628" y="6454943"/>
              <a:ext cx="285752" cy="285752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cxnSp>
          <p:nvCxnSpPr>
            <p:cNvPr id="73" name="Straight Connector 72"/>
            <p:cNvCxnSpPr>
              <a:endCxn id="72" idx="0"/>
            </p:cNvCxnSpPr>
            <p:nvPr/>
          </p:nvCxnSpPr>
          <p:spPr>
            <a:xfrm>
              <a:off x="4429124" y="6072206"/>
              <a:ext cx="714380" cy="382737"/>
            </a:xfrm>
            <a:prstGeom prst="line">
              <a:avLst/>
            </a:prstGeom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>
              <a:stCxn id="26" idx="2"/>
              <a:endCxn id="72" idx="0"/>
            </p:cNvCxnSpPr>
            <p:nvPr/>
          </p:nvCxnSpPr>
          <p:spPr>
            <a:xfrm rot="5400000">
              <a:off x="5304486" y="5909512"/>
              <a:ext cx="384450" cy="706413"/>
            </a:xfrm>
            <a:prstGeom prst="line">
              <a:avLst/>
            </a:prstGeom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3878</TotalTime>
  <Words>457</Words>
  <Application>Microsoft Office PowerPoint</Application>
  <PresentationFormat>On-screen Show (4:3)</PresentationFormat>
  <Paragraphs>295</Paragraphs>
  <Slides>35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7" baseType="lpstr">
      <vt:lpstr>Office Theme</vt:lpstr>
      <vt:lpstr>Document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ARTIFICIAL INTELLIGENCE</dc:title>
  <dc:creator>Diatri Indradewi</dc:creator>
  <cp:lastModifiedBy>Diatri Indradewi</cp:lastModifiedBy>
  <cp:revision>442</cp:revision>
  <dcterms:created xsi:type="dcterms:W3CDTF">2012-02-27T12:10:37Z</dcterms:created>
  <dcterms:modified xsi:type="dcterms:W3CDTF">2012-04-11T15:48:14Z</dcterms:modified>
</cp:coreProperties>
</file>