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82" r:id="rId3"/>
    <p:sldId id="283" r:id="rId4"/>
    <p:sldId id="284" r:id="rId5"/>
    <p:sldId id="285" r:id="rId6"/>
    <p:sldId id="286" r:id="rId7"/>
    <p:sldId id="288" r:id="rId8"/>
    <p:sldId id="287" r:id="rId9"/>
    <p:sldId id="292" r:id="rId10"/>
    <p:sldId id="289" r:id="rId11"/>
    <p:sldId id="290" r:id="rId12"/>
    <p:sldId id="291" r:id="rId13"/>
    <p:sldId id="308" r:id="rId14"/>
    <p:sldId id="309" r:id="rId15"/>
    <p:sldId id="294" r:id="rId16"/>
    <p:sldId id="293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06DFF-C232-440E-A782-80658891558A}" type="datetimeFigureOut">
              <a:rPr lang="id-ID" smtClean="0"/>
              <a:pPr/>
              <a:t>16/03/2025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5B90E-CC03-4162-87D7-E9F13E27E73C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1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2350743" y="450920"/>
            <a:ext cx="22637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Pencarian 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Heuristik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(</a:t>
            </a:r>
            <a:r>
              <a:rPr lang="id-ID" sz="3600" b="1" i="1" dirty="0" smtClean="0">
                <a:latin typeface="Bradley Hand ITC" pitchFamily="66" charset="0"/>
              </a:rPr>
              <a:t>Heuristic </a:t>
            </a:r>
          </a:p>
          <a:p>
            <a:pPr algn="r"/>
            <a:r>
              <a:rPr lang="id-ID" sz="3600" b="1" i="1" dirty="0" smtClean="0">
                <a:latin typeface="Bradley Hand ITC" pitchFamily="66" charset="0"/>
              </a:rPr>
              <a:t>Search</a:t>
            </a:r>
            <a:r>
              <a:rPr lang="id-ID" sz="3600" b="1" dirty="0" smtClean="0">
                <a:latin typeface="Bradley Hand ITC" pitchFamily="66" charset="0"/>
              </a:rPr>
              <a:t>)</a:t>
            </a:r>
            <a:endParaRPr lang="id-ID" sz="3600" b="1" dirty="0"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1359274"/>
            <a:ext cx="587051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A heuristic is a rule of thumb that may help</a:t>
            </a:r>
          </a:p>
          <a:p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solve  a given problem. </a:t>
            </a:r>
          </a:p>
          <a:p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Heuristics take problem knowledge into </a:t>
            </a:r>
          </a:p>
          <a:p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consideration to help guide the search within</a:t>
            </a:r>
          </a:p>
          <a:p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the domain.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84808" y="1955061"/>
            <a:ext cx="246894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8-puzzle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9619" y="1594686"/>
          <a:ext cx="216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1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2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3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7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8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4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6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5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1387" y="1585467"/>
          <a:ext cx="216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1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2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3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8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4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7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6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5</a:t>
                      </a:r>
                      <a:endParaRPr lang="id-ID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9511" y="3753153"/>
            <a:ext cx="2079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Keadaan Awal</a:t>
            </a:r>
            <a:endParaRPr lang="id-ID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3905903" y="3753153"/>
            <a:ext cx="1138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Tujuan</a:t>
            </a:r>
            <a:endParaRPr lang="id-ID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84808" y="1955061"/>
            <a:ext cx="246894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8-puzzle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492" y="1490008"/>
            <a:ext cx="507895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4 operator yang dapat digunakan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Ubin kosong digeser ke kiri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Ubin kosong digeser ke kanan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Ubin kosong digeser ke bawah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Ubin kosong digeser ke atas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5348" y="4071942"/>
            <a:ext cx="3760966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4400" b="1" dirty="0" smtClean="0">
                <a:solidFill>
                  <a:srgbClr val="FFFF00"/>
                </a:solidFill>
                <a:latin typeface="Bradley Hand ITC" pitchFamily="66" charset="0"/>
              </a:rPr>
              <a:t>Langkah Awal</a:t>
            </a:r>
          </a:p>
          <a:p>
            <a:pPr algn="ctr"/>
            <a:r>
              <a:rPr lang="id-ID" sz="4400" b="1" dirty="0" smtClean="0">
                <a:solidFill>
                  <a:srgbClr val="FFFF00"/>
                </a:solidFill>
                <a:latin typeface="Bradley Hand ITC" pitchFamily="66" charset="0"/>
              </a:rPr>
              <a:t>???</a:t>
            </a:r>
            <a:endParaRPr lang="id-ID" sz="4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84808" y="1955061"/>
            <a:ext cx="246894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8-puzzle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0071" y="1357298"/>
            <a:ext cx="6039154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Informasi tambahan :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Untuk jumlah ubin yang menempati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posisi yang benar </a:t>
            </a:r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</a:rPr>
              <a:t>: </a:t>
            </a: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jumlah yang lebih</a:t>
            </a:r>
          </a:p>
          <a:p>
            <a:pPr marL="900113" indent="-457200"/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	tinggi lebih baik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Untuk jumlah ubin yang menempati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posisi yang salah : </a:t>
            </a: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jumlah yang</a:t>
            </a:r>
          </a:p>
          <a:p>
            <a:pPr marL="900113" indent="-457200"/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	lebih kecil lebih baik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Menghitung total gerakan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yang diperlukan untuk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mencapai tujuan : </a:t>
            </a: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jumlah yang</a:t>
            </a:r>
          </a:p>
          <a:p>
            <a:pPr marL="900113" indent="-457200"/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	lebih kecil lebih baik</a:t>
            </a:r>
            <a:endParaRPr lang="id-ID" sz="2400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pPr marL="900113" indent="-457200">
              <a:buFont typeface="Wingdings" pitchFamily="2" charset="2"/>
              <a:buChar char="ü"/>
            </a:pP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900113" indent="-457200">
              <a:buFont typeface="Wingdings" pitchFamily="2" charset="2"/>
              <a:buChar char="Ø"/>
            </a:pP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714348" y="1357298"/>
            <a:ext cx="379623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Pencarian Heuristik :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Generate and Test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Hill Climbing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Best First Search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i="1" dirty="0" smtClean="0">
                <a:solidFill>
                  <a:schemeClr val="bg1"/>
                </a:solidFill>
                <a:latin typeface="Bradley Hand ITC" pitchFamily="66" charset="0"/>
              </a:rPr>
              <a:t>Simulated Annealing</a:t>
            </a:r>
            <a:endParaRPr lang="id-ID" sz="2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29388" y="4121072"/>
            <a:ext cx="247856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Generate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&amp;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Test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0034" y="1490008"/>
            <a:ext cx="5559855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Kombinasi DFS dan </a:t>
            </a:r>
            <a:r>
              <a:rPr lang="id-ID" sz="2400" b="1" i="1" dirty="0" smtClean="0">
                <a:solidFill>
                  <a:srgbClr val="FFFF00"/>
                </a:solidFill>
                <a:latin typeface="Bradley Hand ITC" pitchFamily="66" charset="0"/>
              </a:rPr>
              <a:t>Backtracking</a:t>
            </a:r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Bangkitkan suatu kemungkinan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solusi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2.	Uji untuk melihat apakah node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tersebut benar-benar merupakan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solusi</a:t>
            </a:r>
          </a:p>
          <a:p>
            <a:pPr marL="900113" indent="-457200">
              <a:buAutoNum type="arabi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solusi ditemukan, keluar.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Jika tidak, ulangi langkah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pertama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4121072"/>
            <a:ext cx="27318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8596" y="1585729"/>
            <a:ext cx="586410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Mirip dengan </a:t>
            </a:r>
            <a:r>
              <a:rPr lang="id-ID" sz="2400" b="1" i="1" dirty="0" smtClean="0">
                <a:solidFill>
                  <a:srgbClr val="FFFF00"/>
                </a:solidFill>
                <a:latin typeface="Bradley Hand ITC" pitchFamily="66" charset="0"/>
              </a:rPr>
              <a:t>Generate &amp; Test</a:t>
            </a: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, hanya saja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proses pengujian dilakukan dengan fungsi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heuristik 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b="1" i="1" dirty="0" smtClean="0">
                <a:solidFill>
                  <a:srgbClr val="FFFF00"/>
                </a:solidFill>
                <a:latin typeface="Bradley Hand ITC" pitchFamily="66" charset="0"/>
              </a:rPr>
              <a:t>Simple Hill Climbing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b="1" i="1" dirty="0" smtClean="0">
                <a:solidFill>
                  <a:srgbClr val="FFFF00"/>
                </a:solidFill>
                <a:latin typeface="Bradley Hand ITC" pitchFamily="66" charset="0"/>
              </a:rPr>
              <a:t>Steepest Ascent Hill Climbing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4121072"/>
            <a:ext cx="273183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Simple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589328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Mulai dari keadaan awal, lakukan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pengujian : jika merupakan tujuan,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maka berhenti; jika tidak, lanjutkan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dengan keadaan sekarang sebagai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awal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85720" y="1357298"/>
            <a:ext cx="6265177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00113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Kerjakan langkah-langkah berikut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sampai solusi ditemukan, atau sampai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tidak ada operator baru yang akan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diaplikasikan pada keadaan sekarang :</a:t>
            </a:r>
          </a:p>
          <a:p>
            <a:pPr marL="13446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Cari operator yang belum pernah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digunakan; gunakan operator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ini untuk mendapatkan 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yang baru</a:t>
            </a:r>
          </a:p>
          <a:p>
            <a:pPr marL="13446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5074" y="4121072"/>
            <a:ext cx="273183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Simple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4121072"/>
            <a:ext cx="273183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Simple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4282" y="1071546"/>
            <a:ext cx="6023124" cy="52629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1344613" indent="-457200">
              <a:buAutoNum type="alpha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Evaluasi keadaan baru tersebut :</a:t>
            </a:r>
          </a:p>
          <a:p>
            <a:pPr marL="1887538" indent="-514350">
              <a:buFont typeface="+mj-lt"/>
              <a:buAutoNum type="roman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keadaan baru merupakan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tujuan, keluar</a:t>
            </a:r>
          </a:p>
          <a:p>
            <a:pPr marL="1887538" indent="-514350">
              <a:buAutoNum type="roman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bukan tujuan, namun 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nilainya lebih baik dari 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sekarang, maka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baru dijadikan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sekarang</a:t>
            </a:r>
          </a:p>
          <a:p>
            <a:pPr marL="1887538" indent="-514350">
              <a:buAutoNum type="romanL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keadaan baru tidak 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lebih baik daripada keadaan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sekarang, maka 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lanjutkan iterasi</a:t>
            </a:r>
          </a:p>
          <a:p>
            <a:pPr marL="13446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4121072"/>
            <a:ext cx="273183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Simple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4282" y="1071546"/>
            <a:ext cx="5822428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</a:rPr>
              <a:t>TSP dengan Simple Hill Climbing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Operator yang akan digunakan : </a:t>
            </a: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menukar</a:t>
            </a:r>
          </a:p>
          <a:p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urutan posisi 2 kota dalam suatu lintasan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endParaRPr lang="id-ID" sz="2400" b="1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Ada 4 kota, sehingga kombinasi lintasan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yang diperoleh sebanyak :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13446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142977" y="3857628"/>
          <a:ext cx="1847290" cy="809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4" imgW="2172777" imgH="952234" progId="Word.Document.12">
                  <p:embed/>
                </p:oleObj>
              </mc:Choice>
              <mc:Fallback>
                <p:oleObj name="Document" r:id="rId4" imgW="2172777" imgH="95223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7" y="3857628"/>
                        <a:ext cx="1847290" cy="8096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4121072"/>
            <a:ext cx="273183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Simple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4282" y="1071546"/>
            <a:ext cx="6085320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</a:rPr>
              <a:t>TSP dengan Simple Hill Climbing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Keenam kombinasi yang dijadikan operator :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Tukar1,2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Tukar2,3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Tukar3,4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Tukar4,1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Tukar1,3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Tukar2,4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13446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3739598"/>
            <a:ext cx="273183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Steepest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Ascent</a:t>
            </a:r>
            <a:endParaRPr lang="id-ID" sz="48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8596" y="1585729"/>
            <a:ext cx="5902578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Gerakan pencarian selanjutnya ditentukan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berdasarkan nilai heuristik terbaik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Urutan penggunaan operator tidak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Menentukan penemuan solusi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3714752"/>
            <a:ext cx="273183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Steepest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Ascent</a:t>
            </a:r>
            <a:endParaRPr lang="id-ID" sz="48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589328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00113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Mulai dari keadaan awal, lakukan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pengujian : jika merupakan tujuan,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maka berhenti; jika tidak, lanjutkan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dengan keadaan sekarang sebagai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awal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3714752"/>
            <a:ext cx="273183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Steepest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Ascent</a:t>
            </a:r>
            <a:endParaRPr lang="id-ID" sz="48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2844" y="1178559"/>
            <a:ext cx="6112892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00113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Kerjakan hingga tujuan tercapai atau 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hingga iterasi tidak memberikan	</a:t>
            </a:r>
          </a:p>
          <a:p>
            <a:pPr marL="9001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perubahan pada keadaan sekarang</a:t>
            </a:r>
          </a:p>
          <a:p>
            <a:pPr marL="13446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Tentukan SUCC sebagai nilai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heuristik terbaik dari successor-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successor</a:t>
            </a:r>
          </a:p>
          <a:p>
            <a:pPr marL="1344613" indent="-457200">
              <a:buAutoNum type="alpha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Kerjakan untuk tiap operator 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yang digunakan oleh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sekarang :</a:t>
            </a:r>
          </a:p>
          <a:p>
            <a:pPr marL="1887538" indent="-514350">
              <a:buFont typeface="+mj-lt"/>
              <a:buAutoNum type="roman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Gunakan operator tersebut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dan bentuk keadaan baru</a:t>
            </a:r>
          </a:p>
          <a:p>
            <a:pPr marL="1887538" indent="-51435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3714752"/>
            <a:ext cx="273183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Steepest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Ascent</a:t>
            </a:r>
            <a:endParaRPr lang="id-ID" sz="48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2844" y="1285860"/>
            <a:ext cx="6236323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1887538" indent="-514350">
              <a:buAutoNum type="roman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Evaluasi keadaan baru tersebut.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Jika merupakan tujuan, keluar.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Jika bukan, bandingkan nilai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heuristiknya dengan SUCC. 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Namun jika tidak lebih baik,</a:t>
            </a:r>
          </a:p>
          <a:p>
            <a:pPr marL="18875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nilai SUCC tidak berubah</a:t>
            </a:r>
          </a:p>
          <a:p>
            <a:pPr marL="1887538" indent="-51435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215074" y="3714752"/>
            <a:ext cx="273183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Steepest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Ascent</a:t>
            </a:r>
            <a:endParaRPr lang="id-ID" sz="4800" b="1" cap="none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Hill 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Climbing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0042" y="1334990"/>
            <a:ext cx="664797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1344613" indent="-457200">
              <a:buAutoNum type="alphaL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SUCC lebih baik daripada nilai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heuristik keadaan sekarang, ubah 	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node SUCC menjadi </a:t>
            </a:r>
          </a:p>
          <a:p>
            <a:pPr marL="1344613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sekarang</a:t>
            </a:r>
          </a:p>
          <a:p>
            <a:pPr marL="1887538" indent="-51435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29388" y="4121072"/>
            <a:ext cx="199125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Best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First</a:t>
            </a:r>
          </a:p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Search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8596" y="1585729"/>
            <a:ext cx="6024406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Kombinasi dari DFS dan BFS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Pencarian diperbolehkan mengunjungi node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pada level yang lebih rendah, jika node yang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lebih tinggi memiliki nilai heuristik yang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lebih buruk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OR Graph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Algoritma A*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143636" y="4955457"/>
            <a:ext cx="285046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OR Graph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6114174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Diperlukan 2 antrian yang berisi node-node,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yaitu :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OPEN, berisi node-node yang sudah 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dibangkitkan, sudah memiliki fungsi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heuristik namun belum diuji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CLOSED, berisi node-node yang 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sudah diuji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143636" y="4955457"/>
            <a:ext cx="285046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OR Graph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6271269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Diperlukan fungsi heuristik yang akan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mengestimasi seberapa baik dibangkitkannya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setiap node :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g(n)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: biaya yang dikeluarkan dari 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keadaan awal sampai ke node n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h’(n) 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: estimasi tambahan biaya yang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harus dikeluarkan dari node n 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sampai mendapatkan tujuan</a:t>
            </a:r>
          </a:p>
          <a:p>
            <a:pPr marL="720725" indent="-360363">
              <a:buFont typeface="Wingdings" pitchFamily="2" charset="2"/>
              <a:buChar char="v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f‘(n)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 : kombinasi dari g(n) dan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  <a:sym typeface="Wingdings" pitchFamily="2" charset="2"/>
              </a:rPr>
              <a:t>	h’(n)</a:t>
            </a:r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143636" y="4955457"/>
            <a:ext cx="285046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OR Graph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6304931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Tempatkan node awal A pada antrian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OPEN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Kerjakan langkah-langkah berikut hingga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tujuan ditemukan atau antrian OPEN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sudah kosong :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Ambil node terbaik dari OPEN</a:t>
            </a:r>
          </a:p>
          <a:p>
            <a:pPr marL="900113" indent="-45720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Bangkitkan semua successornya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143636" y="4955457"/>
            <a:ext cx="285046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OR Graph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357298"/>
            <a:ext cx="6647974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:</a:t>
            </a:r>
          </a:p>
          <a:p>
            <a:pPr marL="914400" indent="-457200">
              <a:buAutoNum type="alphaLcPeriod" startAt="3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Untuk tiap-tiap successor kerjakan :</a:t>
            </a:r>
          </a:p>
          <a:p>
            <a:pPr marL="1443038" indent="-514350">
              <a:buFont typeface="+mj-lt"/>
              <a:buAutoNum type="roman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node tersebut belum pernah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dibangkitkan sebelumnya, evaluasi	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node tersebut dan masukkan ke 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OPEN</a:t>
            </a:r>
          </a:p>
          <a:p>
            <a:pPr marL="1443038" indent="-514350">
              <a:buAutoNum type="roman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node tersebut sudah pernah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dibangkitkan sebelumnya,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ubah parent jika lintasan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baru lebih menjanjikan.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Hapus node tersebut dari 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antrian OPEN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72198" y="4143380"/>
            <a:ext cx="29402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Algoritma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A*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8596" y="1585729"/>
            <a:ext cx="5920210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Perbaikan dari metode </a:t>
            </a:r>
            <a:r>
              <a:rPr lang="id-ID" sz="2400" b="1" i="1" dirty="0" smtClean="0">
                <a:solidFill>
                  <a:srgbClr val="FFFF00"/>
                </a:solidFill>
                <a:latin typeface="Bradley Hand ITC" pitchFamily="66" charset="0"/>
              </a:rPr>
              <a:t>best –first search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dengan memodifikasi fungsi heuristiknya.</a:t>
            </a:r>
          </a:p>
          <a:p>
            <a:endParaRPr lang="id-ID" sz="2400" b="1" dirty="0" smtClean="0">
              <a:solidFill>
                <a:srgbClr val="FFFF00"/>
              </a:solidFill>
              <a:latin typeface="Bradley Hand ITC" pitchFamily="66" charset="0"/>
            </a:endParaRP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A* akan meminimumkan total biaya </a:t>
            </a:r>
          </a:p>
          <a:p>
            <a:r>
              <a:rPr lang="id-ID" sz="2400" b="1" dirty="0" smtClean="0">
                <a:solidFill>
                  <a:srgbClr val="FFFF00"/>
                </a:solidFill>
                <a:latin typeface="Bradley Hand ITC" pitchFamily="66" charset="0"/>
              </a:rPr>
              <a:t>lintasan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72198" y="4143380"/>
            <a:ext cx="29402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Algoritma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A*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5720" y="1357298"/>
            <a:ext cx="6202339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A :</a:t>
            </a:r>
          </a:p>
          <a:p>
            <a:pPr marL="457200" indent="-45720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Set: OPEN={S} dan CLOSED={} dengan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S adalah node yang dipilih sebagai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keadaan awal</a:t>
            </a:r>
          </a:p>
          <a:p>
            <a:pPr marL="457200" indent="-45720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Kerjakan jika OPEN belum kosong :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a.	Cari node n dari OPEN dimana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nilai f(n) minimal. Kemudian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tempatkan n pada CLOSED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b.	Jika n adalah node tujuan, 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keluar. SUKSES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c.	Ekspan node n ke anak-anaknya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72198" y="4143380"/>
            <a:ext cx="29402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Algoritma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A*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406" y="1023541"/>
            <a:ext cx="5830763" cy="5632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A :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d.	Kerjakan untuk setiap anak n,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yaitu n’ :</a:t>
            </a:r>
          </a:p>
          <a:p>
            <a:pPr marL="1443038" indent="-514350">
              <a:buFont typeface="+mj-lt"/>
              <a:buAutoNum type="roman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n’ belum ada di OPEN atau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CLOSED, maka :</a:t>
            </a:r>
          </a:p>
          <a:p>
            <a:pPr marL="1968500" indent="-514350">
              <a:buFont typeface="+mj-lt"/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Masukkan n’ ke OPEN.</a:t>
            </a:r>
          </a:p>
          <a:p>
            <a:pPr marL="1968500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kemudian set backpointer</a:t>
            </a:r>
          </a:p>
          <a:p>
            <a:pPr marL="1968500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dari n’ ke n</a:t>
            </a:r>
          </a:p>
          <a:p>
            <a:pPr marL="1968500" indent="-514350">
              <a:buAutoNum type="arabi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Hitung :</a:t>
            </a:r>
          </a:p>
          <a:p>
            <a:pPr marL="2509838" indent="-51435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h(n’)</a:t>
            </a:r>
          </a:p>
          <a:p>
            <a:pPr marL="2509838" indent="-514350">
              <a:buFont typeface="+mj-lt"/>
              <a:buAutoNum type="alphaL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g(n’) = g(n) + c(n,n’);</a:t>
            </a:r>
          </a:p>
          <a:p>
            <a:pPr marL="25098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c(n,n’) adalah biaya</a:t>
            </a:r>
          </a:p>
          <a:p>
            <a:pPr marL="25098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dari n ke n’</a:t>
            </a:r>
          </a:p>
          <a:p>
            <a:pPr marL="25098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c.	f(n’) = g(n’) + h(n’)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72198" y="4143380"/>
            <a:ext cx="29402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Algoritma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A*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406" y="1023541"/>
            <a:ext cx="6898363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A :</a:t>
            </a:r>
          </a:p>
          <a:p>
            <a:pPr marL="1443038" indent="-514350">
              <a:buAutoNum type="romanLcPeriod" startAt="2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n’ telah ada di OPEN atau CLOSED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dan jika g(n’) lebih kecil (untuk versi</a:t>
            </a:r>
          </a:p>
          <a:p>
            <a:pPr marL="1443038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n’ yang baru), maka :</a:t>
            </a:r>
          </a:p>
          <a:p>
            <a:pPr marL="1968500" indent="-514350"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Buang versi lama n’</a:t>
            </a:r>
          </a:p>
          <a:p>
            <a:pPr marL="1968500" indent="-514350">
              <a:buAutoNum type="arabicPeriod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Ambil n’ di OPEN, dan set </a:t>
            </a:r>
          </a:p>
          <a:p>
            <a:pPr marL="1968500" indent="-51435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backpointer dari n’ ke 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072198" y="4143380"/>
            <a:ext cx="29402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Algoritma</a:t>
            </a:r>
          </a:p>
          <a:p>
            <a:pPr algn="ctr"/>
            <a:r>
              <a:rPr lang="id-ID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A*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406" y="1023541"/>
            <a:ext cx="6320961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A* merupakan pengembangan dari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algoritma A, dengan batasan h(n) ≤ h*(n)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h(n)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= biaya sebenarnya dari biaya 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minimal lintasan dari n ke sembarang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tujuan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g(n)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= biaya sebenarnya dari biaya</a:t>
            </a:r>
          </a:p>
          <a:p>
            <a:pPr marL="720725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minimal lintasan dari S ke n</a:t>
            </a:r>
          </a:p>
          <a:p>
            <a:pPr marL="720725" indent="-360363">
              <a:buFont typeface="Wingdings" pitchFamily="2" charset="2"/>
              <a:buChar char="Ø"/>
            </a:pPr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f(n)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 = h(n) + g(n); biaya sebenarnya</a:t>
            </a:r>
          </a:p>
          <a:p>
            <a:pPr marL="720725" indent="-360363"/>
            <a:r>
              <a:rPr lang="id-ID" sz="2400" b="1" dirty="0" smtClean="0">
                <a:solidFill>
                  <a:schemeClr val="bg1"/>
                </a:solidFill>
                <a:latin typeface="Bradley Hand ITC" pitchFamily="66" charset="0"/>
              </a:rPr>
              <a:t>	</a:t>
            </a: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dari biaya minimum solusi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lintasan dari S ke sembarang</a:t>
            </a:r>
          </a:p>
          <a:p>
            <a:pPr marL="720725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tujuan yang melalui n</a:t>
            </a:r>
          </a:p>
          <a:p>
            <a:pPr marL="457200" indent="-457200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2147641" y="1235958"/>
            <a:ext cx="18710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Generate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&amp; 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Test</a:t>
            </a:r>
            <a:endParaRPr lang="id-ID" sz="36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4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1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5720" y="928670"/>
            <a:ext cx="53816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Bangkitkan solusi-solusi yang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mungkin dengan menyusun kota-kota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dalam urutan abjad :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22" name="Flowchart: Connector 21"/>
          <p:cNvSpPr/>
          <p:nvPr/>
        </p:nvSpPr>
        <p:spPr>
          <a:xfrm>
            <a:off x="2786050" y="2285992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1100" dirty="0"/>
          </a:p>
        </p:txBody>
      </p:sp>
      <p:sp>
        <p:nvSpPr>
          <p:cNvPr id="23" name="Flowchart: Connector 22"/>
          <p:cNvSpPr/>
          <p:nvPr/>
        </p:nvSpPr>
        <p:spPr>
          <a:xfrm>
            <a:off x="1242124" y="285749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A</a:t>
            </a:r>
            <a:endParaRPr lang="id-ID" sz="1600" dirty="0"/>
          </a:p>
        </p:txBody>
      </p:sp>
      <p:sp>
        <p:nvSpPr>
          <p:cNvPr id="25" name="Flowchart: Connector 24"/>
          <p:cNvSpPr/>
          <p:nvPr/>
        </p:nvSpPr>
        <p:spPr>
          <a:xfrm>
            <a:off x="4313958" y="285749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26" name="Flowchart: Connector 25"/>
          <p:cNvSpPr/>
          <p:nvPr/>
        </p:nvSpPr>
        <p:spPr>
          <a:xfrm>
            <a:off x="2242256" y="285749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sp>
        <p:nvSpPr>
          <p:cNvPr id="28" name="Flowchart: Connector 27"/>
          <p:cNvSpPr/>
          <p:nvPr/>
        </p:nvSpPr>
        <p:spPr>
          <a:xfrm>
            <a:off x="3313826" y="285749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cxnSp>
        <p:nvCxnSpPr>
          <p:cNvPr id="36" name="Straight Connector 35"/>
          <p:cNvCxnSpPr>
            <a:stCxn id="22" idx="3"/>
            <a:endCxn id="26" idx="0"/>
          </p:cNvCxnSpPr>
          <p:nvPr/>
        </p:nvCxnSpPr>
        <p:spPr>
          <a:xfrm rot="5400000">
            <a:off x="2496294" y="2515430"/>
            <a:ext cx="266623" cy="41750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2" idx="5"/>
            <a:endCxn id="28" idx="0"/>
          </p:cNvCxnSpPr>
          <p:nvPr/>
        </p:nvCxnSpPr>
        <p:spPr>
          <a:xfrm rot="16200000" flipH="1">
            <a:off x="3158365" y="2523439"/>
            <a:ext cx="266623" cy="40149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2" idx="2"/>
            <a:endCxn id="23" idx="0"/>
          </p:cNvCxnSpPr>
          <p:nvPr/>
        </p:nvCxnSpPr>
        <p:spPr>
          <a:xfrm rot="10800000" flipV="1">
            <a:off x="1420720" y="2464586"/>
            <a:ext cx="1365331" cy="39290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2" idx="6"/>
            <a:endCxn id="25" idx="0"/>
          </p:cNvCxnSpPr>
          <p:nvPr/>
        </p:nvCxnSpPr>
        <p:spPr>
          <a:xfrm>
            <a:off x="3143240" y="2464587"/>
            <a:ext cx="1349313" cy="39290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Flowchart: Connector 45"/>
          <p:cNvSpPr/>
          <p:nvPr/>
        </p:nvSpPr>
        <p:spPr>
          <a:xfrm>
            <a:off x="1228269" y="357187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sp>
        <p:nvSpPr>
          <p:cNvPr id="47" name="Flowchart: Connector 46"/>
          <p:cNvSpPr/>
          <p:nvPr/>
        </p:nvSpPr>
        <p:spPr>
          <a:xfrm>
            <a:off x="2071670" y="357187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48" name="Flowchart: Connector 47"/>
          <p:cNvSpPr/>
          <p:nvPr/>
        </p:nvSpPr>
        <p:spPr>
          <a:xfrm>
            <a:off x="428596" y="3571876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cxnSp>
        <p:nvCxnSpPr>
          <p:cNvPr id="49" name="Straight Connector 48"/>
          <p:cNvCxnSpPr>
            <a:stCxn id="23" idx="3"/>
            <a:endCxn id="48" idx="0"/>
          </p:cNvCxnSpPr>
          <p:nvPr/>
        </p:nvCxnSpPr>
        <p:spPr>
          <a:xfrm rot="5400000">
            <a:off x="746063" y="3023505"/>
            <a:ext cx="409499" cy="68724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3" idx="4"/>
            <a:endCxn id="46" idx="0"/>
          </p:cNvCxnSpPr>
          <p:nvPr/>
        </p:nvCxnSpPr>
        <p:spPr>
          <a:xfrm rot="5400000">
            <a:off x="1235197" y="3386354"/>
            <a:ext cx="357190" cy="1385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7" idx="0"/>
            <a:endCxn id="23" idx="5"/>
          </p:cNvCxnSpPr>
          <p:nvPr/>
        </p:nvCxnSpPr>
        <p:spPr>
          <a:xfrm rot="16200000" flipV="1">
            <a:off x="1693886" y="3015497"/>
            <a:ext cx="409499" cy="70326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8" name="Flowchart: Connector 57"/>
          <p:cNvSpPr/>
          <p:nvPr/>
        </p:nvSpPr>
        <p:spPr>
          <a:xfrm>
            <a:off x="214282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sp>
        <p:nvSpPr>
          <p:cNvPr id="59" name="Flowchart: Connector 58"/>
          <p:cNvSpPr/>
          <p:nvPr/>
        </p:nvSpPr>
        <p:spPr>
          <a:xfrm>
            <a:off x="642910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60" name="Flowchart: Connector 59"/>
          <p:cNvSpPr/>
          <p:nvPr/>
        </p:nvSpPr>
        <p:spPr>
          <a:xfrm>
            <a:off x="214282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61" name="Flowchart: Connector 60"/>
          <p:cNvSpPr/>
          <p:nvPr/>
        </p:nvSpPr>
        <p:spPr>
          <a:xfrm>
            <a:off x="642910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sp>
        <p:nvSpPr>
          <p:cNvPr id="62" name="Flowchart: Connector 61"/>
          <p:cNvSpPr/>
          <p:nvPr/>
        </p:nvSpPr>
        <p:spPr>
          <a:xfrm>
            <a:off x="1027810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sp>
        <p:nvSpPr>
          <p:cNvPr id="63" name="Flowchart: Connector 62"/>
          <p:cNvSpPr/>
          <p:nvPr/>
        </p:nvSpPr>
        <p:spPr>
          <a:xfrm>
            <a:off x="1456438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64" name="Flowchart: Connector 63"/>
          <p:cNvSpPr/>
          <p:nvPr/>
        </p:nvSpPr>
        <p:spPr>
          <a:xfrm>
            <a:off x="1027810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D</a:t>
            </a:r>
            <a:endParaRPr lang="id-ID" sz="1600" dirty="0"/>
          </a:p>
        </p:txBody>
      </p:sp>
      <p:sp>
        <p:nvSpPr>
          <p:cNvPr id="65" name="Flowchart: Connector 64"/>
          <p:cNvSpPr/>
          <p:nvPr/>
        </p:nvSpPr>
        <p:spPr>
          <a:xfrm>
            <a:off x="1456438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sp>
        <p:nvSpPr>
          <p:cNvPr id="66" name="Flowchart: Connector 65"/>
          <p:cNvSpPr/>
          <p:nvPr/>
        </p:nvSpPr>
        <p:spPr>
          <a:xfrm>
            <a:off x="1857356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sp>
        <p:nvSpPr>
          <p:cNvPr id="67" name="Flowchart: Connector 66"/>
          <p:cNvSpPr/>
          <p:nvPr/>
        </p:nvSpPr>
        <p:spPr>
          <a:xfrm>
            <a:off x="2285984" y="435769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sp>
        <p:nvSpPr>
          <p:cNvPr id="68" name="Flowchart: Connector 67"/>
          <p:cNvSpPr/>
          <p:nvPr/>
        </p:nvSpPr>
        <p:spPr>
          <a:xfrm>
            <a:off x="1857356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C</a:t>
            </a:r>
            <a:endParaRPr lang="id-ID" sz="1600" dirty="0"/>
          </a:p>
        </p:txBody>
      </p:sp>
      <p:sp>
        <p:nvSpPr>
          <p:cNvPr id="69" name="Flowchart: Connector 68"/>
          <p:cNvSpPr/>
          <p:nvPr/>
        </p:nvSpPr>
        <p:spPr>
          <a:xfrm>
            <a:off x="2285984" y="5072074"/>
            <a:ext cx="357190" cy="35719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600" dirty="0" smtClean="0"/>
              <a:t>B</a:t>
            </a:r>
            <a:endParaRPr lang="id-ID" sz="1600" dirty="0"/>
          </a:p>
        </p:txBody>
      </p:sp>
      <p:cxnSp>
        <p:nvCxnSpPr>
          <p:cNvPr id="70" name="Straight Connector 69"/>
          <p:cNvCxnSpPr>
            <a:stCxn id="48" idx="3"/>
            <a:endCxn id="58" idx="0"/>
          </p:cNvCxnSpPr>
          <p:nvPr/>
        </p:nvCxnSpPr>
        <p:spPr>
          <a:xfrm rot="5400000">
            <a:off x="196423" y="4073211"/>
            <a:ext cx="480937" cy="880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8" idx="4"/>
            <a:endCxn id="60" idx="0"/>
          </p:cNvCxnSpPr>
          <p:nvPr/>
        </p:nvCxnSpPr>
        <p:spPr>
          <a:xfrm rot="5400000">
            <a:off x="214282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8" idx="5"/>
            <a:endCxn id="59" idx="0"/>
          </p:cNvCxnSpPr>
          <p:nvPr/>
        </p:nvCxnSpPr>
        <p:spPr>
          <a:xfrm rot="16200000" flipH="1">
            <a:off x="537023" y="4073211"/>
            <a:ext cx="480937" cy="880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9" idx="4"/>
            <a:endCxn id="61" idx="0"/>
          </p:cNvCxnSpPr>
          <p:nvPr/>
        </p:nvCxnSpPr>
        <p:spPr>
          <a:xfrm rot="5400000">
            <a:off x="642910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6" idx="3"/>
            <a:endCxn id="62" idx="0"/>
          </p:cNvCxnSpPr>
          <p:nvPr/>
        </p:nvCxnSpPr>
        <p:spPr>
          <a:xfrm rot="5400000">
            <a:off x="1003024" y="4080139"/>
            <a:ext cx="480937" cy="7417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46" idx="5"/>
          </p:cNvCxnSpPr>
          <p:nvPr/>
        </p:nvCxnSpPr>
        <p:spPr>
          <a:xfrm rot="16200000" flipH="1">
            <a:off x="1347628" y="4062279"/>
            <a:ext cx="480937" cy="10989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3" idx="4"/>
            <a:endCxn id="65" idx="0"/>
          </p:cNvCxnSpPr>
          <p:nvPr/>
        </p:nvCxnSpPr>
        <p:spPr>
          <a:xfrm rot="5400000">
            <a:off x="1456438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62" idx="4"/>
            <a:endCxn id="64" idx="0"/>
          </p:cNvCxnSpPr>
          <p:nvPr/>
        </p:nvCxnSpPr>
        <p:spPr>
          <a:xfrm rot="5400000">
            <a:off x="1027810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47" idx="3"/>
            <a:endCxn id="66" idx="0"/>
          </p:cNvCxnSpPr>
          <p:nvPr/>
        </p:nvCxnSpPr>
        <p:spPr>
          <a:xfrm rot="5400000">
            <a:off x="1839497" y="4073211"/>
            <a:ext cx="480937" cy="880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66" idx="4"/>
            <a:endCxn id="68" idx="0"/>
          </p:cNvCxnSpPr>
          <p:nvPr/>
        </p:nvCxnSpPr>
        <p:spPr>
          <a:xfrm rot="5400000">
            <a:off x="1857356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7" idx="5"/>
            <a:endCxn id="67" idx="0"/>
          </p:cNvCxnSpPr>
          <p:nvPr/>
        </p:nvCxnSpPr>
        <p:spPr>
          <a:xfrm rot="16200000" flipH="1">
            <a:off x="2180097" y="4073211"/>
            <a:ext cx="480937" cy="8802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67" idx="4"/>
            <a:endCxn id="69" idx="0"/>
          </p:cNvCxnSpPr>
          <p:nvPr/>
        </p:nvCxnSpPr>
        <p:spPr>
          <a:xfrm rot="5400000">
            <a:off x="2285984" y="4893479"/>
            <a:ext cx="357190" cy="158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75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7158" y="1442853"/>
            <a:ext cx="55242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Tentukan salah satu lintasan sebagai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keadaan awal, lalu bandingkan dengan 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kumpulan tujuan yang diharapkan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428596" y="2928934"/>
          <a:ext cx="6572296" cy="26771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7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Pencarian ke-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Lintasan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Panjang Lintasan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Lintasan Terpilih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Panjang Lintasan Terpilih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ABCD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19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ABCD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19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2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ABDC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18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ABDC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18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3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ACBD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12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ACBD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12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...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...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...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...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...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24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DCBA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19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ACBD / DBCA</a:t>
                      </a:r>
                      <a:endParaRPr lang="id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600" dirty="0" smtClean="0"/>
                        <a:t>12</a:t>
                      </a:r>
                      <a:endParaRPr lang="id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41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0644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u="sng" dirty="0" smtClean="0">
                <a:solidFill>
                  <a:srgbClr val="FFFF00"/>
                </a:solidFill>
                <a:latin typeface="Bradley Hand ITC" pitchFamily="66" charset="0"/>
              </a:rPr>
              <a:t>KELEMAHAN</a:t>
            </a:r>
          </a:p>
          <a:p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</a:rPr>
              <a:t>Perlu membangkitkan semua kemungkinan</a:t>
            </a:r>
          </a:p>
          <a:p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</a:rPr>
              <a:t>sebelum dilakukan pengujian, sehingga</a:t>
            </a:r>
          </a:p>
          <a:p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</a:rPr>
              <a:t>membutuhkan waktu yang cukup besar</a:t>
            </a:r>
          </a:p>
          <a:p>
            <a:r>
              <a:rPr lang="id-ID" sz="2400" dirty="0" smtClean="0">
                <a:solidFill>
                  <a:srgbClr val="FFFF00"/>
                </a:solidFill>
                <a:latin typeface="Bradley Hand ITC" pitchFamily="66" charset="0"/>
              </a:rPr>
              <a:t>dalam pencariannya</a:t>
            </a:r>
          </a:p>
          <a:p>
            <a:endParaRPr lang="id-ID" sz="2400" b="1" dirty="0">
              <a:solidFill>
                <a:srgbClr val="FFFF00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1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2121212" y="1047862"/>
            <a:ext cx="2454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Simple Hill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Climbing</a:t>
            </a:r>
            <a:endParaRPr lang="id-ID" sz="36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8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39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34853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Ruang keadaan berisi semua kemungkinan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lintasan yang mungkin</a:t>
            </a: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Operator yang digunakan adalah menukar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urutan posisi 2 kota yang bersebelahan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dalam suatu lintasan</a:t>
            </a:r>
          </a:p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Fungsi heuristik yang digunakan adalah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panjang lintasan yang terjadi</a:t>
            </a:r>
          </a:p>
          <a:p>
            <a:endParaRPr lang="id-ID" sz="2400" b="1" dirty="0">
              <a:solidFill>
                <a:srgbClr val="FFFF00"/>
              </a:solidFill>
              <a:latin typeface="Bradley Hand ITC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3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" name="TextBox 43"/>
          <p:cNvSpPr txBox="1"/>
          <p:nvPr/>
        </p:nvSpPr>
        <p:spPr>
          <a:xfrm>
            <a:off x="357158" y="1442853"/>
            <a:ext cx="62395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363" indent="-360363">
              <a:buFont typeface="Arial" pitchFamily="34" charset="0"/>
              <a:buChar char="•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Jika ada n kota dan ingin dicari kombinasi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lintasan dengan menukar posisi urutan </a:t>
            </a:r>
          </a:p>
          <a:p>
            <a:pPr marL="360363" indent="-360363"/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	2 kota :</a:t>
            </a:r>
          </a:p>
          <a:p>
            <a:endParaRPr lang="id-ID" sz="2400" b="1" dirty="0">
              <a:solidFill>
                <a:srgbClr val="FFFF00"/>
              </a:solidFill>
              <a:latin typeface="Bradley Hand ITC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1584325" y="2713038"/>
          <a:ext cx="1814513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r:id="rId4" imgW="2182235" imgH="982835" progId="Word.Document.12">
                  <p:embed/>
                </p:oleObj>
              </mc:Choice>
              <mc:Fallback>
                <p:oleObj name="Document" r:id="rId4" imgW="2182235" imgH="982835" progId="Word.Document.12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13038"/>
                        <a:ext cx="1814513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755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14282" y="1357860"/>
            <a:ext cx="6085320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Keenam kombinasi yang dijadikan operator :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Tukar1,2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Tukar2,3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Tukar3,4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Tukar4,1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Tukar1,3</a:t>
            </a:r>
          </a:p>
          <a:p>
            <a:pPr marL="900113" indent="-457200">
              <a:buFont typeface="Wingdings" pitchFamily="2" charset="2"/>
              <a:buChar char="ü"/>
            </a:pPr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Tukar2,4</a:t>
            </a: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  <a:p>
            <a:pPr marL="1344613" indent="-457200"/>
            <a:endParaRPr lang="id-ID" sz="2400" dirty="0" smtClean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75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599974" y="2143116"/>
            <a:ext cx="22573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2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Penyelesaian</a:t>
            </a:r>
            <a:endParaRPr lang="en-US" sz="2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43174" y="114298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11311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10769" y="200024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BACD</a:t>
            </a:r>
            <a:endParaRPr lang="id-ID" dirty="0"/>
          </a:p>
        </p:txBody>
      </p:sp>
      <p:sp>
        <p:nvSpPr>
          <p:cNvPr id="10" name="TextBox 9"/>
          <p:cNvSpPr txBox="1"/>
          <p:nvPr/>
        </p:nvSpPr>
        <p:spPr>
          <a:xfrm>
            <a:off x="2696587" y="1970367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(17)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/>
          <p:cNvCxnSpPr>
            <a:stCxn id="5" idx="2"/>
            <a:endCxn id="9" idx="0"/>
          </p:cNvCxnSpPr>
          <p:nvPr/>
        </p:nvCxnSpPr>
        <p:spPr>
          <a:xfrm rot="5400000">
            <a:off x="2419848" y="1384005"/>
            <a:ext cx="500066" cy="732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71670" y="1486319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Tk1,2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96389" y="292893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cxnSp>
        <p:nvCxnSpPr>
          <p:cNvPr id="17" name="Straight Arrow Connector 16"/>
          <p:cNvCxnSpPr>
            <a:stCxn id="9" idx="2"/>
            <a:endCxn id="15" idx="0"/>
          </p:cNvCxnSpPr>
          <p:nvPr/>
        </p:nvCxnSpPr>
        <p:spPr>
          <a:xfrm rot="5400000">
            <a:off x="1660736" y="2285992"/>
            <a:ext cx="571504" cy="7143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29580" y="2412850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Tk1,2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1214414" y="2928934"/>
            <a:ext cx="785818" cy="357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10800000" flipV="1">
            <a:off x="1214414" y="2928934"/>
            <a:ext cx="785818" cy="357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285984" y="292893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BCAD</a:t>
            </a:r>
            <a:endParaRPr lang="id-ID" dirty="0"/>
          </a:p>
        </p:txBody>
      </p:sp>
      <p:cxnSp>
        <p:nvCxnSpPr>
          <p:cNvPr id="28" name="Straight Arrow Connector 27"/>
          <p:cNvCxnSpPr>
            <a:stCxn id="9" idx="2"/>
            <a:endCxn id="27" idx="0"/>
          </p:cNvCxnSpPr>
          <p:nvPr/>
        </p:nvCxnSpPr>
        <p:spPr>
          <a:xfrm rot="16200000" flipH="1">
            <a:off x="2205533" y="2455574"/>
            <a:ext cx="571504" cy="375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51107" y="2419794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Tk2,3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53777" y="2919860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(15)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7158" y="414338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CBAD</a:t>
            </a:r>
            <a:endParaRPr lang="id-ID" dirty="0"/>
          </a:p>
        </p:txBody>
      </p:sp>
      <p:cxnSp>
        <p:nvCxnSpPr>
          <p:cNvPr id="34" name="Straight Arrow Connector 33"/>
          <p:cNvCxnSpPr>
            <a:stCxn id="27" idx="2"/>
            <a:endCxn id="33" idx="0"/>
          </p:cNvCxnSpPr>
          <p:nvPr/>
        </p:nvCxnSpPr>
        <p:spPr>
          <a:xfrm rot="5400000">
            <a:off x="1285852" y="2750339"/>
            <a:ext cx="857256" cy="19288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77767" y="3590512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Tk1,2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5278" y="381868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(20)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28728" y="414338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BACD</a:t>
            </a:r>
            <a:endParaRPr lang="id-ID" dirty="0"/>
          </a:p>
        </p:txBody>
      </p:sp>
      <p:cxnSp>
        <p:nvCxnSpPr>
          <p:cNvPr id="40" name="Straight Arrow Connector 39"/>
          <p:cNvCxnSpPr>
            <a:stCxn id="27" idx="2"/>
            <a:endCxn id="39" idx="0"/>
          </p:cNvCxnSpPr>
          <p:nvPr/>
        </p:nvCxnSpPr>
        <p:spPr>
          <a:xfrm rot="5400000">
            <a:off x="1821637" y="3286124"/>
            <a:ext cx="857256" cy="8572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785918" y="3590512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Tk2,3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/>
          <p:cNvCxnSpPr/>
          <p:nvPr/>
        </p:nvCxnSpPr>
        <p:spPr>
          <a:xfrm>
            <a:off x="1428728" y="4143380"/>
            <a:ext cx="785818" cy="357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 flipV="1">
            <a:off x="1428728" y="4143380"/>
            <a:ext cx="785818" cy="357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500298" y="414338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BCDA</a:t>
            </a:r>
            <a:endParaRPr lang="id-ID" dirty="0"/>
          </a:p>
        </p:txBody>
      </p:sp>
      <p:cxnSp>
        <p:nvCxnSpPr>
          <p:cNvPr id="47" name="Straight Arrow Connector 46"/>
          <p:cNvCxnSpPr>
            <a:stCxn id="27" idx="2"/>
            <a:endCxn id="46" idx="0"/>
          </p:cNvCxnSpPr>
          <p:nvPr/>
        </p:nvCxnSpPr>
        <p:spPr>
          <a:xfrm rot="16200000" flipH="1">
            <a:off x="2357422" y="3607595"/>
            <a:ext cx="857256" cy="214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28860" y="3519074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Tk3,4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5481" y="3820844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(18)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571868" y="414338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DCAB</a:t>
            </a:r>
            <a:endParaRPr lang="id-ID" dirty="0"/>
          </a:p>
        </p:txBody>
      </p:sp>
      <p:cxnSp>
        <p:nvCxnSpPr>
          <p:cNvPr id="53" name="Straight Arrow Connector 52"/>
          <p:cNvCxnSpPr>
            <a:stCxn id="27" idx="2"/>
            <a:endCxn id="52" idx="0"/>
          </p:cNvCxnSpPr>
          <p:nvPr/>
        </p:nvCxnSpPr>
        <p:spPr>
          <a:xfrm rot="16200000" flipH="1">
            <a:off x="2893207" y="3071810"/>
            <a:ext cx="857256" cy="12858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49469" y="3590512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Tk4,1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911033" y="381606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(17)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643438" y="414338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BDAC</a:t>
            </a:r>
            <a:endParaRPr lang="id-ID" dirty="0"/>
          </a:p>
        </p:txBody>
      </p:sp>
      <p:cxnSp>
        <p:nvCxnSpPr>
          <p:cNvPr id="59" name="Straight Arrow Connector 58"/>
          <p:cNvCxnSpPr>
            <a:stCxn id="27" idx="2"/>
            <a:endCxn id="58" idx="0"/>
          </p:cNvCxnSpPr>
          <p:nvPr/>
        </p:nvCxnSpPr>
        <p:spPr>
          <a:xfrm rot="16200000" flipH="1">
            <a:off x="3428992" y="2536025"/>
            <a:ext cx="857256" cy="23574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689197" y="3571876"/>
            <a:ext cx="636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954893" y="383469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(14)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66" name="Straight Arrow Connector 65"/>
          <p:cNvCxnSpPr>
            <a:stCxn id="58" idx="2"/>
          </p:cNvCxnSpPr>
          <p:nvPr/>
        </p:nvCxnSpPr>
        <p:spPr>
          <a:xfrm rot="5400000">
            <a:off x="4339826" y="4161241"/>
            <a:ext cx="357192" cy="1035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8" idx="2"/>
          </p:cNvCxnSpPr>
          <p:nvPr/>
        </p:nvCxnSpPr>
        <p:spPr>
          <a:xfrm rot="5400000">
            <a:off x="4482702" y="4518431"/>
            <a:ext cx="571506" cy="5357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8" idx="2"/>
          </p:cNvCxnSpPr>
          <p:nvPr/>
        </p:nvCxnSpPr>
        <p:spPr>
          <a:xfrm rot="16200000" flipH="1">
            <a:off x="4732734" y="4804182"/>
            <a:ext cx="642944" cy="357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036348" y="4500571"/>
            <a:ext cx="535784" cy="5000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5036348" y="4500571"/>
            <a:ext cx="1035850" cy="2857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08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476646" y="1047862"/>
            <a:ext cx="3236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Steepest-Ascent</a:t>
            </a:r>
          </a:p>
          <a:p>
            <a:pPr algn="r"/>
            <a:r>
              <a:rPr lang="id-ID" sz="3600" b="1" dirty="0" smtClean="0">
                <a:latin typeface="Bradley Hand ITC" pitchFamily="66" charset="0"/>
              </a:rPr>
              <a:t>Hill Climbing</a:t>
            </a:r>
            <a:endParaRPr lang="id-ID" sz="36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8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3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81160" y="114298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sp>
        <p:nvSpPr>
          <p:cNvPr id="7" name="TextBox 6"/>
          <p:cNvSpPr txBox="1"/>
          <p:nvPr/>
        </p:nvSpPr>
        <p:spPr>
          <a:xfrm>
            <a:off x="4666978" y="111311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4282" y="2643182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BACD</a:t>
            </a:r>
            <a:endParaRPr lang="id-ID" dirty="0"/>
          </a:p>
        </p:txBody>
      </p:sp>
      <p:sp>
        <p:nvSpPr>
          <p:cNvPr id="10" name="TextBox 9"/>
          <p:cNvSpPr txBox="1"/>
          <p:nvPr/>
        </p:nvSpPr>
        <p:spPr>
          <a:xfrm>
            <a:off x="1000100" y="261330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(17)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96455" y="2643182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ACBD</a:t>
            </a:r>
            <a:endParaRPr lang="id-ID" dirty="0"/>
          </a:p>
        </p:txBody>
      </p:sp>
      <p:sp>
        <p:nvSpPr>
          <p:cNvPr id="12" name="TextBox 11"/>
          <p:cNvSpPr txBox="1"/>
          <p:nvPr/>
        </p:nvSpPr>
        <p:spPr>
          <a:xfrm>
            <a:off x="2482273" y="261330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(12)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43240" y="2643182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ABDC</a:t>
            </a:r>
            <a:endParaRPr lang="id-ID" dirty="0"/>
          </a:p>
        </p:txBody>
      </p:sp>
      <p:sp>
        <p:nvSpPr>
          <p:cNvPr id="14" name="TextBox 13"/>
          <p:cNvSpPr txBox="1"/>
          <p:nvPr/>
        </p:nvSpPr>
        <p:spPr>
          <a:xfrm>
            <a:off x="3929058" y="261330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(18)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25413" y="2643182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DBCA</a:t>
            </a:r>
            <a:endParaRPr lang="id-ID" dirty="0"/>
          </a:p>
        </p:txBody>
      </p:sp>
      <p:sp>
        <p:nvSpPr>
          <p:cNvPr id="16" name="TextBox 15"/>
          <p:cNvSpPr txBox="1"/>
          <p:nvPr/>
        </p:nvSpPr>
        <p:spPr>
          <a:xfrm>
            <a:off x="5411231" y="261330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(12)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54173" y="2629327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ADCB</a:t>
            </a:r>
            <a:endParaRPr lang="id-ID" dirty="0"/>
          </a:p>
        </p:txBody>
      </p:sp>
      <p:sp>
        <p:nvSpPr>
          <p:cNvPr id="18" name="TextBox 17"/>
          <p:cNvSpPr txBox="1"/>
          <p:nvPr/>
        </p:nvSpPr>
        <p:spPr>
          <a:xfrm>
            <a:off x="6839991" y="2599454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(18)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82933" y="263149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CBAD</a:t>
            </a:r>
            <a:endParaRPr lang="id-ID" dirty="0"/>
          </a:p>
        </p:txBody>
      </p:sp>
      <p:sp>
        <p:nvSpPr>
          <p:cNvPr id="20" name="TextBox 19"/>
          <p:cNvSpPr txBox="1"/>
          <p:nvPr/>
        </p:nvSpPr>
        <p:spPr>
          <a:xfrm>
            <a:off x="8268751" y="2601617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(20)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/>
          <p:cNvCxnSpPr>
            <a:stCxn id="5" idx="2"/>
            <a:endCxn id="9" idx="0"/>
          </p:cNvCxnSpPr>
          <p:nvPr/>
        </p:nvCxnSpPr>
        <p:spPr>
          <a:xfrm rot="5400000">
            <a:off x="1869126" y="238239"/>
            <a:ext cx="1143008" cy="36668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" idx="2"/>
            <a:endCxn id="11" idx="0"/>
          </p:cNvCxnSpPr>
          <p:nvPr/>
        </p:nvCxnSpPr>
        <p:spPr>
          <a:xfrm rot="5400000">
            <a:off x="2610213" y="979326"/>
            <a:ext cx="1143008" cy="21847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2"/>
            <a:endCxn id="13" idx="0"/>
          </p:cNvCxnSpPr>
          <p:nvPr/>
        </p:nvCxnSpPr>
        <p:spPr>
          <a:xfrm rot="5400000">
            <a:off x="3333605" y="1702718"/>
            <a:ext cx="1143008" cy="737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2"/>
            <a:endCxn id="15" idx="0"/>
          </p:cNvCxnSpPr>
          <p:nvPr/>
        </p:nvCxnSpPr>
        <p:spPr>
          <a:xfrm rot="16200000" flipH="1">
            <a:off x="4074691" y="1699551"/>
            <a:ext cx="1143008" cy="7442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  <a:endCxn id="17" idx="0"/>
          </p:cNvCxnSpPr>
          <p:nvPr/>
        </p:nvCxnSpPr>
        <p:spPr>
          <a:xfrm rot="16200000" flipH="1">
            <a:off x="4795999" y="978243"/>
            <a:ext cx="1129153" cy="21730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5" idx="2"/>
            <a:endCxn id="19" idx="0"/>
          </p:cNvCxnSpPr>
          <p:nvPr/>
        </p:nvCxnSpPr>
        <p:spPr>
          <a:xfrm rot="16200000" flipH="1">
            <a:off x="5509297" y="264945"/>
            <a:ext cx="1131316" cy="3601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28728" y="207167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Tk1,2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357422" y="2090314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Tk2,3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00430" y="1876000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Tk3,4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2477" y="1857364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Tk4,1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49733" y="194743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64113" y="1876000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Tk1,3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4282" y="435769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CABD</a:t>
            </a:r>
            <a:endParaRPr lang="id-ID" dirty="0"/>
          </a:p>
        </p:txBody>
      </p:sp>
      <p:sp>
        <p:nvSpPr>
          <p:cNvPr id="46" name="TextBox 45"/>
          <p:cNvSpPr txBox="1"/>
          <p:nvPr/>
        </p:nvSpPr>
        <p:spPr>
          <a:xfrm>
            <a:off x="1000100" y="432782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(15)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553579" y="435769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sp>
        <p:nvSpPr>
          <p:cNvPr id="48" name="TextBox 47"/>
          <p:cNvSpPr txBox="1"/>
          <p:nvPr/>
        </p:nvSpPr>
        <p:spPr>
          <a:xfrm>
            <a:off x="2339397" y="432782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10901" y="435769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ACDB</a:t>
            </a:r>
            <a:endParaRPr lang="id-ID" dirty="0"/>
          </a:p>
        </p:txBody>
      </p:sp>
      <p:sp>
        <p:nvSpPr>
          <p:cNvPr id="50" name="TextBox 49"/>
          <p:cNvSpPr txBox="1"/>
          <p:nvPr/>
        </p:nvSpPr>
        <p:spPr>
          <a:xfrm>
            <a:off x="3696719" y="432782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(13)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286248" y="435769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DCBA</a:t>
            </a:r>
            <a:endParaRPr lang="id-ID" dirty="0"/>
          </a:p>
        </p:txBody>
      </p:sp>
      <p:sp>
        <p:nvSpPr>
          <p:cNvPr id="52" name="TextBox 51"/>
          <p:cNvSpPr txBox="1"/>
          <p:nvPr/>
        </p:nvSpPr>
        <p:spPr>
          <a:xfrm>
            <a:off x="5072066" y="432782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643570" y="4359857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ADBC</a:t>
            </a:r>
            <a:endParaRPr lang="id-ID" dirty="0"/>
          </a:p>
        </p:txBody>
      </p:sp>
      <p:sp>
        <p:nvSpPr>
          <p:cNvPr id="54" name="TextBox 53"/>
          <p:cNvSpPr txBox="1"/>
          <p:nvPr/>
        </p:nvSpPr>
        <p:spPr>
          <a:xfrm>
            <a:off x="6429388" y="4329984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(16)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000892" y="4357694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BCAD</a:t>
            </a:r>
            <a:endParaRPr lang="id-ID" dirty="0"/>
          </a:p>
        </p:txBody>
      </p:sp>
      <p:sp>
        <p:nvSpPr>
          <p:cNvPr id="56" name="TextBox 55"/>
          <p:cNvSpPr txBox="1"/>
          <p:nvPr/>
        </p:nvSpPr>
        <p:spPr>
          <a:xfrm>
            <a:off x="7786710" y="432782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(15)</a:t>
            </a:r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57" name="Straight Arrow Connector 56"/>
          <p:cNvCxnSpPr>
            <a:stCxn id="11" idx="2"/>
            <a:endCxn id="45" idx="0"/>
          </p:cNvCxnSpPr>
          <p:nvPr/>
        </p:nvCxnSpPr>
        <p:spPr>
          <a:xfrm rot="5400000">
            <a:off x="669617" y="2937947"/>
            <a:ext cx="1357322" cy="14821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11" idx="2"/>
            <a:endCxn id="47" idx="0"/>
          </p:cNvCxnSpPr>
          <p:nvPr/>
        </p:nvCxnSpPr>
        <p:spPr>
          <a:xfrm rot="5400000">
            <a:off x="1339265" y="3607595"/>
            <a:ext cx="1357322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1" idx="2"/>
            <a:endCxn id="49" idx="0"/>
          </p:cNvCxnSpPr>
          <p:nvPr/>
        </p:nvCxnSpPr>
        <p:spPr>
          <a:xfrm rot="16200000" flipH="1">
            <a:off x="2017926" y="3071810"/>
            <a:ext cx="1357322" cy="1214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11" idx="2"/>
            <a:endCxn id="51" idx="0"/>
          </p:cNvCxnSpPr>
          <p:nvPr/>
        </p:nvCxnSpPr>
        <p:spPr>
          <a:xfrm rot="16200000" flipH="1">
            <a:off x="2705599" y="2384136"/>
            <a:ext cx="1357322" cy="25897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1" idx="2"/>
            <a:endCxn id="53" idx="0"/>
          </p:cNvCxnSpPr>
          <p:nvPr/>
        </p:nvCxnSpPr>
        <p:spPr>
          <a:xfrm rot="16200000" flipH="1">
            <a:off x="3383179" y="1706556"/>
            <a:ext cx="1359485" cy="3947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1" idx="2"/>
            <a:endCxn id="55" idx="0"/>
          </p:cNvCxnSpPr>
          <p:nvPr/>
        </p:nvCxnSpPr>
        <p:spPr>
          <a:xfrm rot="16200000" flipH="1">
            <a:off x="4062921" y="1026814"/>
            <a:ext cx="1357322" cy="53044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20577" y="373338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Tk1,2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643042" y="373338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Tk2,3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571736" y="373338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Tk3,4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435221" y="3733388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Tk4,1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363915" y="3714752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Tk2,4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214942" y="3661950"/>
            <a:ext cx="636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Tk1,3</a:t>
            </a:r>
            <a:endParaRPr lang="id-ID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31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2020898" y="1324861"/>
            <a:ext cx="2148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OR Graph</a:t>
            </a:r>
            <a:endParaRPr lang="id-ID" sz="36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91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50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-32" y="785794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</a:rPr>
              <a:t>Antrian OPEN</a:t>
            </a:r>
            <a:endParaRPr lang="id-ID" sz="2400" b="1" u="sng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32" y="1467137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[ABCD]</a:t>
            </a:r>
            <a:endParaRPr lang="id-ID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426829" y="2928934"/>
            <a:ext cx="5316285" cy="1838752"/>
            <a:chOff x="3426829" y="2518942"/>
            <a:chExt cx="5316285" cy="1838752"/>
          </a:xfrm>
        </p:grpSpPr>
        <p:sp>
          <p:nvSpPr>
            <p:cNvPr id="10" name="Rectangle 9"/>
            <p:cNvSpPr/>
            <p:nvPr/>
          </p:nvSpPr>
          <p:spPr>
            <a:xfrm>
              <a:off x="5712845" y="2518942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ABCD</a:t>
              </a:r>
              <a:endParaRPr lang="id-ID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26829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BACD</a:t>
              </a:r>
              <a:endParaRPr lang="id-ID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55523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ACBD</a:t>
              </a:r>
              <a:endParaRPr lang="id-ID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6507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ABDC</a:t>
              </a:r>
              <a:endParaRPr lang="id-ID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71346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DBCA</a:t>
              </a:r>
              <a:endParaRPr lang="id-ID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56312" y="3648095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ADCB</a:t>
              </a:r>
              <a:endParaRPr lang="id-ID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957296" y="3650258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CBAD</a:t>
              </a:r>
              <a:endParaRPr lang="id-ID" dirty="0"/>
            </a:p>
          </p:txBody>
        </p:sp>
        <p:cxnSp>
          <p:nvCxnSpPr>
            <p:cNvPr id="17" name="Straight Arrow Connector 16"/>
            <p:cNvCxnSpPr>
              <a:stCxn id="10" idx="2"/>
              <a:endCxn id="11" idx="0"/>
            </p:cNvCxnSpPr>
            <p:nvPr/>
          </p:nvCxnSpPr>
          <p:spPr>
            <a:xfrm rot="5400000">
              <a:off x="4569837" y="2126033"/>
              <a:ext cx="785818" cy="228601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2" idx="0"/>
            </p:cNvCxnSpPr>
            <p:nvPr/>
          </p:nvCxnSpPr>
          <p:spPr>
            <a:xfrm rot="5400000">
              <a:off x="5034184" y="2590380"/>
              <a:ext cx="785818" cy="13573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0" idx="2"/>
              <a:endCxn id="13" idx="0"/>
            </p:cNvCxnSpPr>
            <p:nvPr/>
          </p:nvCxnSpPr>
          <p:spPr>
            <a:xfrm rot="5400000">
              <a:off x="5484676" y="3040872"/>
              <a:ext cx="785818" cy="45633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0" idx="2"/>
              <a:endCxn id="14" idx="0"/>
            </p:cNvCxnSpPr>
            <p:nvPr/>
          </p:nvCxnSpPr>
          <p:spPr>
            <a:xfrm rot="16200000" flipH="1">
              <a:off x="5942095" y="3039790"/>
              <a:ext cx="785818" cy="4585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0" idx="2"/>
              <a:endCxn id="15" idx="0"/>
            </p:cNvCxnSpPr>
            <p:nvPr/>
          </p:nvCxnSpPr>
          <p:spPr>
            <a:xfrm rot="16200000" flipH="1">
              <a:off x="6391506" y="2590379"/>
              <a:ext cx="771963" cy="13434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0" idx="2"/>
              <a:endCxn id="16" idx="0"/>
            </p:cNvCxnSpPr>
            <p:nvPr/>
          </p:nvCxnSpPr>
          <p:spPr>
            <a:xfrm rot="16200000" flipH="1">
              <a:off x="6840916" y="2140969"/>
              <a:ext cx="774126" cy="22444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553843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(17)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482537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(12)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83521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(18)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86512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(12)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185333" y="4003122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(18)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00172" y="4005285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(20)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5715008" y="1643050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sp>
        <p:nvSpPr>
          <p:cNvPr id="49" name="TextBox 48"/>
          <p:cNvSpPr txBox="1"/>
          <p:nvPr/>
        </p:nvSpPr>
        <p:spPr>
          <a:xfrm>
            <a:off x="-32" y="2824459"/>
            <a:ext cx="455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[ACBD, DBCA, BACD, ABDC, ADCB, CBAD]</a:t>
            </a:r>
            <a:endParaRPr lang="id-ID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67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-32" y="785794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b="1" u="sng" dirty="0" smtClean="0">
                <a:solidFill>
                  <a:schemeClr val="bg1"/>
                </a:solidFill>
                <a:latin typeface="Bradley Hand ITC" pitchFamily="66" charset="0"/>
              </a:rPr>
              <a:t>Antrian OPEN</a:t>
            </a:r>
            <a:endParaRPr lang="id-ID" sz="2400" b="1" u="sng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grpSp>
        <p:nvGrpSpPr>
          <p:cNvPr id="3" name="Group 40"/>
          <p:cNvGrpSpPr/>
          <p:nvPr/>
        </p:nvGrpSpPr>
        <p:grpSpPr>
          <a:xfrm>
            <a:off x="3470557" y="1472464"/>
            <a:ext cx="5316285" cy="1838752"/>
            <a:chOff x="3426829" y="2518942"/>
            <a:chExt cx="5316285" cy="1838752"/>
          </a:xfrm>
        </p:grpSpPr>
        <p:sp>
          <p:nvSpPr>
            <p:cNvPr id="10" name="Rectangle 9"/>
            <p:cNvSpPr/>
            <p:nvPr/>
          </p:nvSpPr>
          <p:spPr>
            <a:xfrm>
              <a:off x="5712845" y="2518942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ABCD</a:t>
              </a:r>
              <a:endParaRPr lang="id-ID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26829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BACD</a:t>
              </a:r>
              <a:endParaRPr lang="id-ID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55523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ACBD</a:t>
              </a:r>
              <a:endParaRPr lang="id-ID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6507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ABDC</a:t>
              </a:r>
              <a:endParaRPr lang="id-ID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71346" y="3661950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DBCA</a:t>
              </a:r>
              <a:endParaRPr lang="id-ID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56312" y="3648095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ADCB</a:t>
              </a:r>
              <a:endParaRPr lang="id-ID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957296" y="3650258"/>
              <a:ext cx="785818" cy="357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dirty="0" smtClean="0"/>
                <a:t>CBAD</a:t>
              </a:r>
              <a:endParaRPr lang="id-ID" dirty="0"/>
            </a:p>
          </p:txBody>
        </p:sp>
        <p:cxnSp>
          <p:nvCxnSpPr>
            <p:cNvPr id="17" name="Straight Arrow Connector 16"/>
            <p:cNvCxnSpPr>
              <a:stCxn id="10" idx="2"/>
              <a:endCxn id="11" idx="0"/>
            </p:cNvCxnSpPr>
            <p:nvPr/>
          </p:nvCxnSpPr>
          <p:spPr>
            <a:xfrm rot="5400000">
              <a:off x="4569837" y="2126033"/>
              <a:ext cx="785818" cy="228601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  <a:endCxn id="12" idx="0"/>
            </p:cNvCxnSpPr>
            <p:nvPr/>
          </p:nvCxnSpPr>
          <p:spPr>
            <a:xfrm rot="5400000">
              <a:off x="5034184" y="2590380"/>
              <a:ext cx="785818" cy="135732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0" idx="2"/>
              <a:endCxn id="13" idx="0"/>
            </p:cNvCxnSpPr>
            <p:nvPr/>
          </p:nvCxnSpPr>
          <p:spPr>
            <a:xfrm rot="5400000">
              <a:off x="5484676" y="3040872"/>
              <a:ext cx="785818" cy="45633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0" idx="2"/>
              <a:endCxn id="14" idx="0"/>
            </p:cNvCxnSpPr>
            <p:nvPr/>
          </p:nvCxnSpPr>
          <p:spPr>
            <a:xfrm rot="16200000" flipH="1">
              <a:off x="5942095" y="3039790"/>
              <a:ext cx="785818" cy="4585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0" idx="2"/>
              <a:endCxn id="15" idx="0"/>
            </p:cNvCxnSpPr>
            <p:nvPr/>
          </p:nvCxnSpPr>
          <p:spPr>
            <a:xfrm rot="16200000" flipH="1">
              <a:off x="6391506" y="2590379"/>
              <a:ext cx="771963" cy="13434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0" idx="2"/>
              <a:endCxn id="16" idx="0"/>
            </p:cNvCxnSpPr>
            <p:nvPr/>
          </p:nvCxnSpPr>
          <p:spPr>
            <a:xfrm rot="16200000" flipH="1">
              <a:off x="6840916" y="2140969"/>
              <a:ext cx="774126" cy="22444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553843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(17)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482537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(12)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83521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(18)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86512" y="4019140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(12)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185333" y="4003122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(18)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00172" y="4005285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 smtClean="0">
                  <a:solidFill>
                    <a:schemeClr val="bg1"/>
                  </a:solidFill>
                </a:rPr>
                <a:t>(20)</a:t>
              </a:r>
              <a:endParaRPr lang="id-ID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-32" y="1414335"/>
            <a:ext cx="455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[ACBD, DBCA, BACD, ABDC, ADCB, CBAD]</a:t>
            </a:r>
            <a:endParaRPr lang="id-ID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01543" y="4212655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CABD</a:t>
            </a:r>
            <a:endParaRPr lang="id-ID" dirty="0"/>
          </a:p>
        </p:txBody>
      </p:sp>
      <p:sp>
        <p:nvSpPr>
          <p:cNvPr id="28" name="Rectangle 27"/>
          <p:cNvSpPr/>
          <p:nvPr/>
        </p:nvSpPr>
        <p:spPr>
          <a:xfrm>
            <a:off x="3030237" y="4212655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ABCD</a:t>
            </a:r>
            <a:endParaRPr lang="id-ID" dirty="0"/>
          </a:p>
        </p:txBody>
      </p:sp>
      <p:sp>
        <p:nvSpPr>
          <p:cNvPr id="30" name="Rectangle 29"/>
          <p:cNvSpPr/>
          <p:nvPr/>
        </p:nvSpPr>
        <p:spPr>
          <a:xfrm>
            <a:off x="3945076" y="4212655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ACDB</a:t>
            </a:r>
            <a:endParaRPr lang="id-ID" dirty="0"/>
          </a:p>
        </p:txBody>
      </p:sp>
      <p:sp>
        <p:nvSpPr>
          <p:cNvPr id="31" name="Rectangle 30"/>
          <p:cNvSpPr/>
          <p:nvPr/>
        </p:nvSpPr>
        <p:spPr>
          <a:xfrm>
            <a:off x="4871607" y="4212655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DCBA</a:t>
            </a:r>
            <a:endParaRPr lang="id-ID" dirty="0"/>
          </a:p>
        </p:txBody>
      </p:sp>
      <p:sp>
        <p:nvSpPr>
          <p:cNvPr id="33" name="Rectangle 32"/>
          <p:cNvSpPr/>
          <p:nvPr/>
        </p:nvSpPr>
        <p:spPr>
          <a:xfrm>
            <a:off x="5800301" y="4214818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ADBC</a:t>
            </a:r>
            <a:endParaRPr lang="id-ID" dirty="0"/>
          </a:p>
        </p:txBody>
      </p:sp>
      <p:sp>
        <p:nvSpPr>
          <p:cNvPr id="34" name="Rectangle 33"/>
          <p:cNvSpPr/>
          <p:nvPr/>
        </p:nvSpPr>
        <p:spPr>
          <a:xfrm>
            <a:off x="6728995" y="4212655"/>
            <a:ext cx="785818" cy="3571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 smtClean="0"/>
              <a:t>BCAD</a:t>
            </a:r>
            <a:endParaRPr lang="id-ID" dirty="0"/>
          </a:p>
        </p:txBody>
      </p:sp>
      <p:cxnSp>
        <p:nvCxnSpPr>
          <p:cNvPr id="41" name="Straight Arrow Connector 40"/>
          <p:cNvCxnSpPr>
            <a:stCxn id="36" idx="0"/>
            <a:endCxn id="27" idx="0"/>
          </p:cNvCxnSpPr>
          <p:nvPr/>
        </p:nvCxnSpPr>
        <p:spPr>
          <a:xfrm rot="16200000" flipH="1" flipV="1">
            <a:off x="3019885" y="2447228"/>
            <a:ext cx="1239993" cy="22908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6" idx="0"/>
            <a:endCxn id="28" idx="0"/>
          </p:cNvCxnSpPr>
          <p:nvPr/>
        </p:nvCxnSpPr>
        <p:spPr>
          <a:xfrm rot="16200000" flipH="1" flipV="1">
            <a:off x="3484232" y="2911575"/>
            <a:ext cx="1239993" cy="1362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6" idx="0"/>
            <a:endCxn id="30" idx="0"/>
          </p:cNvCxnSpPr>
          <p:nvPr/>
        </p:nvCxnSpPr>
        <p:spPr>
          <a:xfrm rot="16200000" flipH="1" flipV="1">
            <a:off x="3941651" y="3368995"/>
            <a:ext cx="1239993" cy="4473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6" idx="0"/>
            <a:endCxn id="31" idx="0"/>
          </p:cNvCxnSpPr>
          <p:nvPr/>
        </p:nvCxnSpPr>
        <p:spPr>
          <a:xfrm rot="16200000" flipH="1">
            <a:off x="4404916" y="3353056"/>
            <a:ext cx="1239993" cy="479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6" idx="0"/>
            <a:endCxn id="33" idx="0"/>
          </p:cNvCxnSpPr>
          <p:nvPr/>
        </p:nvCxnSpPr>
        <p:spPr>
          <a:xfrm rot="16200000" flipH="1">
            <a:off x="4868182" y="2889791"/>
            <a:ext cx="1242156" cy="14078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6" idx="0"/>
            <a:endCxn id="34" idx="0"/>
          </p:cNvCxnSpPr>
          <p:nvPr/>
        </p:nvCxnSpPr>
        <p:spPr>
          <a:xfrm rot="16200000" flipH="1">
            <a:off x="5333610" y="2424362"/>
            <a:ext cx="1239993" cy="23365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52368" y="3500438"/>
            <a:ext cx="2369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[ACBD, ACDB, CABD,</a:t>
            </a:r>
          </a:p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BCAD, ADBC,  DCBA]</a:t>
            </a:r>
            <a:endParaRPr lang="id-ID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240249" y="455815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(15)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168943" y="455815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67764" y="455815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(13)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010313" y="455815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(19)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927315" y="455815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(16)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69864" y="4555990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600" dirty="0" smtClean="0">
                <a:solidFill>
                  <a:schemeClr val="bg1"/>
                </a:solidFill>
              </a:rPr>
              <a:t>(15)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42844" y="5291752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b="1" dirty="0" smtClean="0">
                <a:solidFill>
                  <a:schemeClr val="bg1"/>
                </a:solidFill>
                <a:latin typeface="Bradley Hand ITC" pitchFamily="66" charset="0"/>
              </a:rPr>
              <a:t>[ACBD]</a:t>
            </a:r>
            <a:endParaRPr lang="id-ID" b="1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655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30" name="Group 229"/>
          <p:cNvGrpSpPr/>
          <p:nvPr/>
        </p:nvGrpSpPr>
        <p:grpSpPr>
          <a:xfrm>
            <a:off x="170554" y="1428736"/>
            <a:ext cx="8858312" cy="3429024"/>
            <a:chOff x="-357222" y="857232"/>
            <a:chExt cx="9929882" cy="3429024"/>
          </a:xfrm>
        </p:grpSpPr>
        <p:sp>
          <p:nvSpPr>
            <p:cNvPr id="22" name="Flowchart: Connector 21"/>
            <p:cNvSpPr/>
            <p:nvPr/>
          </p:nvSpPr>
          <p:spPr>
            <a:xfrm>
              <a:off x="4426961" y="857232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 sz="1100" dirty="0"/>
            </a:p>
          </p:txBody>
        </p:sp>
        <p:sp>
          <p:nvSpPr>
            <p:cNvPr id="23" name="Flowchart: Connector 22"/>
            <p:cNvSpPr/>
            <p:nvPr/>
          </p:nvSpPr>
          <p:spPr>
            <a:xfrm>
              <a:off x="670620" y="171448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6" name="Flowchart: Connector 25"/>
            <p:cNvSpPr/>
            <p:nvPr/>
          </p:nvSpPr>
          <p:spPr>
            <a:xfrm>
              <a:off x="3184805" y="1643050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36" name="Straight Connector 35"/>
            <p:cNvCxnSpPr>
              <a:stCxn id="22" idx="3"/>
              <a:endCxn id="26" idx="0"/>
            </p:cNvCxnSpPr>
            <p:nvPr/>
          </p:nvCxnSpPr>
          <p:spPr>
            <a:xfrm rot="5400000">
              <a:off x="3680867" y="844646"/>
              <a:ext cx="480937" cy="111587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2" idx="5"/>
              <a:endCxn id="166" idx="0"/>
            </p:cNvCxnSpPr>
            <p:nvPr/>
          </p:nvCxnSpPr>
          <p:spPr>
            <a:xfrm rot="16200000" flipH="1">
              <a:off x="5057318" y="836637"/>
              <a:ext cx="480937" cy="11318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2" idx="2"/>
              <a:endCxn id="23" idx="0"/>
            </p:cNvCxnSpPr>
            <p:nvPr/>
          </p:nvCxnSpPr>
          <p:spPr>
            <a:xfrm rot="10800000" flipV="1">
              <a:off x="849215" y="1035826"/>
              <a:ext cx="3577746" cy="67866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2" idx="6"/>
              <a:endCxn id="198" idx="0"/>
            </p:cNvCxnSpPr>
            <p:nvPr/>
          </p:nvCxnSpPr>
          <p:spPr>
            <a:xfrm>
              <a:off x="4784151" y="1035827"/>
              <a:ext cx="3579909" cy="60722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Flowchart: Connector 45"/>
            <p:cNvSpPr/>
            <p:nvPr/>
          </p:nvSpPr>
          <p:spPr>
            <a:xfrm>
              <a:off x="656765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47" name="Flowchart: Connector 46"/>
            <p:cNvSpPr/>
            <p:nvPr/>
          </p:nvSpPr>
          <p:spPr>
            <a:xfrm>
              <a:off x="1500166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48" name="Flowchart: Connector 47"/>
            <p:cNvSpPr/>
            <p:nvPr/>
          </p:nvSpPr>
          <p:spPr>
            <a:xfrm>
              <a:off x="-142908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49" name="Straight Connector 48"/>
            <p:cNvCxnSpPr>
              <a:stCxn id="23" idx="3"/>
              <a:endCxn id="48" idx="0"/>
            </p:cNvCxnSpPr>
            <p:nvPr/>
          </p:nvCxnSpPr>
          <p:spPr>
            <a:xfrm rot="5400000">
              <a:off x="174559" y="1880497"/>
              <a:ext cx="409499" cy="68724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23" idx="4"/>
              <a:endCxn id="46" idx="0"/>
            </p:cNvCxnSpPr>
            <p:nvPr/>
          </p:nvCxnSpPr>
          <p:spPr>
            <a:xfrm rot="5400000">
              <a:off x="663693" y="2243346"/>
              <a:ext cx="357190" cy="1385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7" idx="0"/>
              <a:endCxn id="23" idx="5"/>
            </p:cNvCxnSpPr>
            <p:nvPr/>
          </p:nvCxnSpPr>
          <p:spPr>
            <a:xfrm rot="16200000" flipV="1">
              <a:off x="1122382" y="1872489"/>
              <a:ext cx="409499" cy="70326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Flowchart: Connector 57"/>
            <p:cNvSpPr/>
            <p:nvPr/>
          </p:nvSpPr>
          <p:spPr>
            <a:xfrm>
              <a:off x="-357222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59" name="Flowchart: Connector 58"/>
            <p:cNvSpPr/>
            <p:nvPr/>
          </p:nvSpPr>
          <p:spPr>
            <a:xfrm>
              <a:off x="7140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0" name="Flowchart: Connector 59"/>
            <p:cNvSpPr/>
            <p:nvPr/>
          </p:nvSpPr>
          <p:spPr>
            <a:xfrm>
              <a:off x="-357222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1" name="Flowchart: Connector 60"/>
            <p:cNvSpPr/>
            <p:nvPr/>
          </p:nvSpPr>
          <p:spPr>
            <a:xfrm>
              <a:off x="7140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2" name="Flowchart: Connector 61"/>
            <p:cNvSpPr/>
            <p:nvPr/>
          </p:nvSpPr>
          <p:spPr>
            <a:xfrm>
              <a:off x="45630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3" name="Flowchart: Connector 62"/>
            <p:cNvSpPr/>
            <p:nvPr/>
          </p:nvSpPr>
          <p:spPr>
            <a:xfrm>
              <a:off x="884934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4" name="Flowchart: Connector 63"/>
            <p:cNvSpPr/>
            <p:nvPr/>
          </p:nvSpPr>
          <p:spPr>
            <a:xfrm>
              <a:off x="45630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5" name="Flowchart: Connector 64"/>
            <p:cNvSpPr/>
            <p:nvPr/>
          </p:nvSpPr>
          <p:spPr>
            <a:xfrm>
              <a:off x="884934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6" name="Flowchart: Connector 65"/>
            <p:cNvSpPr/>
            <p:nvPr/>
          </p:nvSpPr>
          <p:spPr>
            <a:xfrm>
              <a:off x="1285852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7" name="Flowchart: Connector 66"/>
            <p:cNvSpPr/>
            <p:nvPr/>
          </p:nvSpPr>
          <p:spPr>
            <a:xfrm>
              <a:off x="1714480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8" name="Flowchart: Connector 67"/>
            <p:cNvSpPr/>
            <p:nvPr/>
          </p:nvSpPr>
          <p:spPr>
            <a:xfrm>
              <a:off x="1285852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9" name="Flowchart: Connector 68"/>
            <p:cNvSpPr/>
            <p:nvPr/>
          </p:nvSpPr>
          <p:spPr>
            <a:xfrm>
              <a:off x="1714480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70" name="Straight Connector 69"/>
            <p:cNvCxnSpPr>
              <a:stCxn id="48" idx="3"/>
              <a:endCxn id="58" idx="0"/>
            </p:cNvCxnSpPr>
            <p:nvPr/>
          </p:nvCxnSpPr>
          <p:spPr>
            <a:xfrm rot="5400000">
              <a:off x="-375081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58" idx="4"/>
              <a:endCxn id="60" idx="0"/>
            </p:cNvCxnSpPr>
            <p:nvPr/>
          </p:nvCxnSpPr>
          <p:spPr>
            <a:xfrm rot="5400000">
              <a:off x="-357222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48" idx="5"/>
              <a:endCxn id="59" idx="0"/>
            </p:cNvCxnSpPr>
            <p:nvPr/>
          </p:nvCxnSpPr>
          <p:spPr>
            <a:xfrm rot="16200000" flipH="1">
              <a:off x="-34481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59" idx="4"/>
              <a:endCxn id="61" idx="0"/>
            </p:cNvCxnSpPr>
            <p:nvPr/>
          </p:nvCxnSpPr>
          <p:spPr>
            <a:xfrm rot="5400000">
              <a:off x="7140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46" idx="3"/>
              <a:endCxn id="62" idx="0"/>
            </p:cNvCxnSpPr>
            <p:nvPr/>
          </p:nvCxnSpPr>
          <p:spPr>
            <a:xfrm rot="5400000">
              <a:off x="431520" y="2937131"/>
              <a:ext cx="480937" cy="7417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46" idx="5"/>
            </p:cNvCxnSpPr>
            <p:nvPr/>
          </p:nvCxnSpPr>
          <p:spPr>
            <a:xfrm rot="16200000" flipH="1">
              <a:off x="776124" y="2919271"/>
              <a:ext cx="480937" cy="10989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63" idx="4"/>
              <a:endCxn id="65" idx="0"/>
            </p:cNvCxnSpPr>
            <p:nvPr/>
          </p:nvCxnSpPr>
          <p:spPr>
            <a:xfrm rot="5400000">
              <a:off x="884934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2" idx="4"/>
              <a:endCxn id="64" idx="0"/>
            </p:cNvCxnSpPr>
            <p:nvPr/>
          </p:nvCxnSpPr>
          <p:spPr>
            <a:xfrm rot="5400000">
              <a:off x="45630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47" idx="3"/>
              <a:endCxn id="66" idx="0"/>
            </p:cNvCxnSpPr>
            <p:nvPr/>
          </p:nvCxnSpPr>
          <p:spPr>
            <a:xfrm rot="5400000">
              <a:off x="1267993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66" idx="4"/>
              <a:endCxn id="68" idx="0"/>
            </p:cNvCxnSpPr>
            <p:nvPr/>
          </p:nvCxnSpPr>
          <p:spPr>
            <a:xfrm rot="5400000">
              <a:off x="1285852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47" idx="5"/>
              <a:endCxn id="67" idx="0"/>
            </p:cNvCxnSpPr>
            <p:nvPr/>
          </p:nvCxnSpPr>
          <p:spPr>
            <a:xfrm rot="16200000" flipH="1">
              <a:off x="1608593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67" idx="4"/>
              <a:endCxn id="69" idx="0"/>
            </p:cNvCxnSpPr>
            <p:nvPr/>
          </p:nvCxnSpPr>
          <p:spPr>
            <a:xfrm rot="5400000">
              <a:off x="1714480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4" name="Flowchart: Connector 43"/>
            <p:cNvSpPr/>
            <p:nvPr/>
          </p:nvSpPr>
          <p:spPr>
            <a:xfrm>
              <a:off x="2357422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45" name="Flowchart: Connector 44"/>
            <p:cNvSpPr/>
            <p:nvPr/>
          </p:nvSpPr>
          <p:spPr>
            <a:xfrm>
              <a:off x="3170950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50" name="Flowchart: Connector 49"/>
            <p:cNvSpPr/>
            <p:nvPr/>
          </p:nvSpPr>
          <p:spPr>
            <a:xfrm>
              <a:off x="4002659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51" name="Flowchart: Connector 50"/>
            <p:cNvSpPr/>
            <p:nvPr/>
          </p:nvSpPr>
          <p:spPr>
            <a:xfrm>
              <a:off x="2143108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53" name="Flowchart: Connector 52"/>
            <p:cNvSpPr/>
            <p:nvPr/>
          </p:nvSpPr>
          <p:spPr>
            <a:xfrm>
              <a:off x="257173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54" name="Flowchart: Connector 53"/>
            <p:cNvSpPr/>
            <p:nvPr/>
          </p:nvSpPr>
          <p:spPr>
            <a:xfrm>
              <a:off x="295663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56" name="Flowchart: Connector 55"/>
            <p:cNvSpPr/>
            <p:nvPr/>
          </p:nvSpPr>
          <p:spPr>
            <a:xfrm>
              <a:off x="3385264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57" name="Flowchart: Connector 56"/>
            <p:cNvSpPr/>
            <p:nvPr/>
          </p:nvSpPr>
          <p:spPr>
            <a:xfrm>
              <a:off x="3786182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71" name="Flowchart: Connector 70"/>
            <p:cNvSpPr/>
            <p:nvPr/>
          </p:nvSpPr>
          <p:spPr>
            <a:xfrm>
              <a:off x="4214810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cxnSp>
          <p:nvCxnSpPr>
            <p:cNvPr id="72" name="Straight Connector 71"/>
            <p:cNvCxnSpPr>
              <a:stCxn id="26" idx="3"/>
              <a:endCxn id="44" idx="0"/>
            </p:cNvCxnSpPr>
            <p:nvPr/>
          </p:nvCxnSpPr>
          <p:spPr>
            <a:xfrm rot="5400000">
              <a:off x="2646098" y="1837851"/>
              <a:ext cx="480937" cy="70109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26" idx="4"/>
              <a:endCxn id="45" idx="0"/>
            </p:cNvCxnSpPr>
            <p:nvPr/>
          </p:nvCxnSpPr>
          <p:spPr>
            <a:xfrm rot="5400000">
              <a:off x="3142159" y="2207627"/>
              <a:ext cx="428628" cy="1385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26" idx="5"/>
              <a:endCxn id="50" idx="0"/>
            </p:cNvCxnSpPr>
            <p:nvPr/>
          </p:nvCxnSpPr>
          <p:spPr>
            <a:xfrm rot="16200000" flipH="1">
              <a:off x="3595002" y="1842615"/>
              <a:ext cx="480937" cy="69156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44" idx="3"/>
              <a:endCxn id="51" idx="0"/>
            </p:cNvCxnSpPr>
            <p:nvPr/>
          </p:nvCxnSpPr>
          <p:spPr>
            <a:xfrm rot="5400000">
              <a:off x="212524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44" idx="5"/>
              <a:endCxn id="53" idx="0"/>
            </p:cNvCxnSpPr>
            <p:nvPr/>
          </p:nvCxnSpPr>
          <p:spPr>
            <a:xfrm rot="16200000" flipH="1">
              <a:off x="246584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stCxn id="45" idx="3"/>
              <a:endCxn id="54" idx="0"/>
            </p:cNvCxnSpPr>
            <p:nvPr/>
          </p:nvCxnSpPr>
          <p:spPr>
            <a:xfrm rot="5400000">
              <a:off x="293877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45" idx="5"/>
              <a:endCxn id="56" idx="0"/>
            </p:cNvCxnSpPr>
            <p:nvPr/>
          </p:nvCxnSpPr>
          <p:spPr>
            <a:xfrm rot="16200000" flipH="1">
              <a:off x="327937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50" idx="3"/>
              <a:endCxn id="57" idx="0"/>
            </p:cNvCxnSpPr>
            <p:nvPr/>
          </p:nvCxnSpPr>
          <p:spPr>
            <a:xfrm rot="5400000">
              <a:off x="3769405" y="2929122"/>
              <a:ext cx="480937" cy="9019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50" idx="5"/>
              <a:endCxn id="71" idx="0"/>
            </p:cNvCxnSpPr>
            <p:nvPr/>
          </p:nvCxnSpPr>
          <p:spPr>
            <a:xfrm rot="16200000" flipH="1">
              <a:off x="4110004" y="2931284"/>
              <a:ext cx="480937" cy="8586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11" name="Flowchart: Connector 110"/>
            <p:cNvSpPr/>
            <p:nvPr/>
          </p:nvSpPr>
          <p:spPr>
            <a:xfrm>
              <a:off x="2143108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12" name="Flowchart: Connector 111"/>
            <p:cNvSpPr/>
            <p:nvPr/>
          </p:nvSpPr>
          <p:spPr>
            <a:xfrm>
              <a:off x="257173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113" name="Flowchart: Connector 112"/>
            <p:cNvSpPr/>
            <p:nvPr/>
          </p:nvSpPr>
          <p:spPr>
            <a:xfrm>
              <a:off x="295663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14" name="Flowchart: Connector 113"/>
            <p:cNvSpPr/>
            <p:nvPr/>
          </p:nvSpPr>
          <p:spPr>
            <a:xfrm>
              <a:off x="3385264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15" name="Flowchart: Connector 114"/>
            <p:cNvSpPr/>
            <p:nvPr/>
          </p:nvSpPr>
          <p:spPr>
            <a:xfrm>
              <a:off x="3786182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116" name="Flowchart: Connector 115"/>
            <p:cNvSpPr/>
            <p:nvPr/>
          </p:nvSpPr>
          <p:spPr>
            <a:xfrm>
              <a:off x="4214810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cxnSp>
          <p:nvCxnSpPr>
            <p:cNvPr id="117" name="Straight Connector 116"/>
            <p:cNvCxnSpPr>
              <a:stCxn id="51" idx="4"/>
              <a:endCxn id="111" idx="0"/>
            </p:cNvCxnSpPr>
            <p:nvPr/>
          </p:nvCxnSpPr>
          <p:spPr>
            <a:xfrm rot="5400000">
              <a:off x="2143108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53" idx="4"/>
              <a:endCxn id="112" idx="0"/>
            </p:cNvCxnSpPr>
            <p:nvPr/>
          </p:nvCxnSpPr>
          <p:spPr>
            <a:xfrm rot="5400000">
              <a:off x="257173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54" idx="4"/>
              <a:endCxn id="113" idx="0"/>
            </p:cNvCxnSpPr>
            <p:nvPr/>
          </p:nvCxnSpPr>
          <p:spPr>
            <a:xfrm rot="5400000">
              <a:off x="295663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stCxn id="56" idx="4"/>
              <a:endCxn id="114" idx="0"/>
            </p:cNvCxnSpPr>
            <p:nvPr/>
          </p:nvCxnSpPr>
          <p:spPr>
            <a:xfrm rot="5400000">
              <a:off x="3385264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57" idx="4"/>
              <a:endCxn id="115" idx="0"/>
            </p:cNvCxnSpPr>
            <p:nvPr/>
          </p:nvCxnSpPr>
          <p:spPr>
            <a:xfrm rot="5400000">
              <a:off x="3786182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71" idx="4"/>
              <a:endCxn id="116" idx="0"/>
            </p:cNvCxnSpPr>
            <p:nvPr/>
          </p:nvCxnSpPr>
          <p:spPr>
            <a:xfrm rot="5400000">
              <a:off x="4214810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66" name="Flowchart: Connector 165"/>
            <p:cNvSpPr/>
            <p:nvPr/>
          </p:nvSpPr>
          <p:spPr>
            <a:xfrm>
              <a:off x="5685135" y="1643050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167" name="Flowchart: Connector 166"/>
            <p:cNvSpPr/>
            <p:nvPr/>
          </p:nvSpPr>
          <p:spPr>
            <a:xfrm>
              <a:off x="4857752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68" name="Flowchart: Connector 167"/>
            <p:cNvSpPr/>
            <p:nvPr/>
          </p:nvSpPr>
          <p:spPr>
            <a:xfrm>
              <a:off x="5671280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169" name="Flowchart: Connector 168"/>
            <p:cNvSpPr/>
            <p:nvPr/>
          </p:nvSpPr>
          <p:spPr>
            <a:xfrm>
              <a:off x="6502989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70" name="Flowchart: Connector 169"/>
            <p:cNvSpPr/>
            <p:nvPr/>
          </p:nvSpPr>
          <p:spPr>
            <a:xfrm>
              <a:off x="4643438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171" name="Flowchart: Connector 170"/>
            <p:cNvSpPr/>
            <p:nvPr/>
          </p:nvSpPr>
          <p:spPr>
            <a:xfrm>
              <a:off x="507206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72" name="Flowchart: Connector 171"/>
            <p:cNvSpPr/>
            <p:nvPr/>
          </p:nvSpPr>
          <p:spPr>
            <a:xfrm>
              <a:off x="545696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73" name="Flowchart: Connector 172"/>
            <p:cNvSpPr/>
            <p:nvPr/>
          </p:nvSpPr>
          <p:spPr>
            <a:xfrm>
              <a:off x="5885594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74" name="Flowchart: Connector 173"/>
            <p:cNvSpPr/>
            <p:nvPr/>
          </p:nvSpPr>
          <p:spPr>
            <a:xfrm>
              <a:off x="6286512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75" name="Flowchart: Connector 174"/>
            <p:cNvSpPr/>
            <p:nvPr/>
          </p:nvSpPr>
          <p:spPr>
            <a:xfrm>
              <a:off x="6715140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176" name="Straight Connector 175"/>
            <p:cNvCxnSpPr>
              <a:stCxn id="166" idx="3"/>
              <a:endCxn id="167" idx="0"/>
            </p:cNvCxnSpPr>
            <p:nvPr/>
          </p:nvCxnSpPr>
          <p:spPr>
            <a:xfrm rot="5400000">
              <a:off x="5146428" y="1837851"/>
              <a:ext cx="480937" cy="70109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>
              <a:stCxn id="166" idx="4"/>
              <a:endCxn id="168" idx="0"/>
            </p:cNvCxnSpPr>
            <p:nvPr/>
          </p:nvCxnSpPr>
          <p:spPr>
            <a:xfrm rot="5400000">
              <a:off x="5642489" y="2207627"/>
              <a:ext cx="428628" cy="1385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>
              <a:stCxn id="166" idx="5"/>
              <a:endCxn id="169" idx="0"/>
            </p:cNvCxnSpPr>
            <p:nvPr/>
          </p:nvCxnSpPr>
          <p:spPr>
            <a:xfrm rot="16200000" flipH="1">
              <a:off x="6095332" y="1842615"/>
              <a:ext cx="480937" cy="69156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stCxn id="167" idx="3"/>
              <a:endCxn id="170" idx="0"/>
            </p:cNvCxnSpPr>
            <p:nvPr/>
          </p:nvCxnSpPr>
          <p:spPr>
            <a:xfrm rot="5400000">
              <a:off x="462557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>
              <a:stCxn id="167" idx="5"/>
              <a:endCxn id="171" idx="0"/>
            </p:cNvCxnSpPr>
            <p:nvPr/>
          </p:nvCxnSpPr>
          <p:spPr>
            <a:xfrm rot="16200000" flipH="1">
              <a:off x="496617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>
              <a:stCxn id="168" idx="3"/>
              <a:endCxn id="172" idx="0"/>
            </p:cNvCxnSpPr>
            <p:nvPr/>
          </p:nvCxnSpPr>
          <p:spPr>
            <a:xfrm rot="5400000">
              <a:off x="543910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>
              <a:stCxn id="168" idx="5"/>
              <a:endCxn id="173" idx="0"/>
            </p:cNvCxnSpPr>
            <p:nvPr/>
          </p:nvCxnSpPr>
          <p:spPr>
            <a:xfrm rot="16200000" flipH="1">
              <a:off x="577970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>
              <a:stCxn id="169" idx="3"/>
              <a:endCxn id="174" idx="0"/>
            </p:cNvCxnSpPr>
            <p:nvPr/>
          </p:nvCxnSpPr>
          <p:spPr>
            <a:xfrm rot="5400000">
              <a:off x="6269735" y="2929122"/>
              <a:ext cx="480937" cy="9019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>
              <a:stCxn id="169" idx="5"/>
              <a:endCxn id="175" idx="0"/>
            </p:cNvCxnSpPr>
            <p:nvPr/>
          </p:nvCxnSpPr>
          <p:spPr>
            <a:xfrm rot="16200000" flipH="1">
              <a:off x="6610334" y="2931284"/>
              <a:ext cx="480937" cy="8586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85" name="Flowchart: Connector 184"/>
            <p:cNvSpPr/>
            <p:nvPr/>
          </p:nvSpPr>
          <p:spPr>
            <a:xfrm>
              <a:off x="4643438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86" name="Flowchart: Connector 185"/>
            <p:cNvSpPr/>
            <p:nvPr/>
          </p:nvSpPr>
          <p:spPr>
            <a:xfrm>
              <a:off x="507206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187" name="Flowchart: Connector 186"/>
            <p:cNvSpPr/>
            <p:nvPr/>
          </p:nvSpPr>
          <p:spPr>
            <a:xfrm>
              <a:off x="545696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88" name="Flowchart: Connector 187"/>
            <p:cNvSpPr/>
            <p:nvPr/>
          </p:nvSpPr>
          <p:spPr>
            <a:xfrm>
              <a:off x="5885594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189" name="Flowchart: Connector 188"/>
            <p:cNvSpPr/>
            <p:nvPr/>
          </p:nvSpPr>
          <p:spPr>
            <a:xfrm>
              <a:off x="6286512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190" name="Flowchart: Connector 189"/>
            <p:cNvSpPr/>
            <p:nvPr/>
          </p:nvSpPr>
          <p:spPr>
            <a:xfrm>
              <a:off x="6715140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cxnSp>
          <p:nvCxnSpPr>
            <p:cNvPr id="191" name="Straight Connector 190"/>
            <p:cNvCxnSpPr>
              <a:stCxn id="170" idx="4"/>
              <a:endCxn id="185" idx="0"/>
            </p:cNvCxnSpPr>
            <p:nvPr/>
          </p:nvCxnSpPr>
          <p:spPr>
            <a:xfrm rot="5400000">
              <a:off x="4643438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>
              <a:stCxn id="171" idx="4"/>
              <a:endCxn id="186" idx="0"/>
            </p:cNvCxnSpPr>
            <p:nvPr/>
          </p:nvCxnSpPr>
          <p:spPr>
            <a:xfrm rot="5400000">
              <a:off x="507206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>
              <a:stCxn id="172" idx="4"/>
              <a:endCxn id="187" idx="0"/>
            </p:cNvCxnSpPr>
            <p:nvPr/>
          </p:nvCxnSpPr>
          <p:spPr>
            <a:xfrm rot="5400000">
              <a:off x="545696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>
              <a:stCxn id="173" idx="4"/>
              <a:endCxn id="188" idx="0"/>
            </p:cNvCxnSpPr>
            <p:nvPr/>
          </p:nvCxnSpPr>
          <p:spPr>
            <a:xfrm rot="5400000">
              <a:off x="5885594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>
              <a:stCxn id="174" idx="4"/>
              <a:endCxn id="189" idx="0"/>
            </p:cNvCxnSpPr>
            <p:nvPr/>
          </p:nvCxnSpPr>
          <p:spPr>
            <a:xfrm rot="5400000">
              <a:off x="6286512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>
              <a:stCxn id="175" idx="4"/>
              <a:endCxn id="190" idx="0"/>
            </p:cNvCxnSpPr>
            <p:nvPr/>
          </p:nvCxnSpPr>
          <p:spPr>
            <a:xfrm rot="5400000">
              <a:off x="6715140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98" name="Flowchart: Connector 197"/>
            <p:cNvSpPr/>
            <p:nvPr/>
          </p:nvSpPr>
          <p:spPr>
            <a:xfrm>
              <a:off x="8185465" y="1643050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199" name="Flowchart: Connector 198"/>
            <p:cNvSpPr/>
            <p:nvPr/>
          </p:nvSpPr>
          <p:spPr>
            <a:xfrm>
              <a:off x="7358082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00" name="Flowchart: Connector 199"/>
            <p:cNvSpPr/>
            <p:nvPr/>
          </p:nvSpPr>
          <p:spPr>
            <a:xfrm>
              <a:off x="8171610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201" name="Flowchart: Connector 200"/>
            <p:cNvSpPr/>
            <p:nvPr/>
          </p:nvSpPr>
          <p:spPr>
            <a:xfrm>
              <a:off x="9003319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202" name="Flowchart: Connector 201"/>
            <p:cNvSpPr/>
            <p:nvPr/>
          </p:nvSpPr>
          <p:spPr>
            <a:xfrm>
              <a:off x="7143768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203" name="Flowchart: Connector 202"/>
            <p:cNvSpPr/>
            <p:nvPr/>
          </p:nvSpPr>
          <p:spPr>
            <a:xfrm>
              <a:off x="757239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204" name="Flowchart: Connector 203"/>
            <p:cNvSpPr/>
            <p:nvPr/>
          </p:nvSpPr>
          <p:spPr>
            <a:xfrm>
              <a:off x="7957296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05" name="Flowchart: Connector 204"/>
            <p:cNvSpPr/>
            <p:nvPr/>
          </p:nvSpPr>
          <p:spPr>
            <a:xfrm>
              <a:off x="8385924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206" name="Flowchart: Connector 205"/>
            <p:cNvSpPr/>
            <p:nvPr/>
          </p:nvSpPr>
          <p:spPr>
            <a:xfrm>
              <a:off x="8786842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07" name="Flowchart: Connector 206"/>
            <p:cNvSpPr/>
            <p:nvPr/>
          </p:nvSpPr>
          <p:spPr>
            <a:xfrm>
              <a:off x="9215470" y="321468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208" name="Straight Connector 207"/>
            <p:cNvCxnSpPr>
              <a:stCxn id="198" idx="3"/>
              <a:endCxn id="199" idx="0"/>
            </p:cNvCxnSpPr>
            <p:nvPr/>
          </p:nvCxnSpPr>
          <p:spPr>
            <a:xfrm rot="5400000">
              <a:off x="7646758" y="1837851"/>
              <a:ext cx="480937" cy="701097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>
              <a:stCxn id="198" idx="4"/>
              <a:endCxn id="200" idx="0"/>
            </p:cNvCxnSpPr>
            <p:nvPr/>
          </p:nvCxnSpPr>
          <p:spPr>
            <a:xfrm rot="5400000">
              <a:off x="8142819" y="2207627"/>
              <a:ext cx="428628" cy="1385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>
              <a:stCxn id="198" idx="5"/>
              <a:endCxn id="201" idx="0"/>
            </p:cNvCxnSpPr>
            <p:nvPr/>
          </p:nvCxnSpPr>
          <p:spPr>
            <a:xfrm rot="16200000" flipH="1">
              <a:off x="8595662" y="1842615"/>
              <a:ext cx="480937" cy="69156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>
              <a:stCxn id="199" idx="3"/>
              <a:endCxn id="202" idx="0"/>
            </p:cNvCxnSpPr>
            <p:nvPr/>
          </p:nvCxnSpPr>
          <p:spPr>
            <a:xfrm rot="5400000">
              <a:off x="712590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>
              <a:stCxn id="199" idx="5"/>
              <a:endCxn id="203" idx="0"/>
            </p:cNvCxnSpPr>
            <p:nvPr/>
          </p:nvCxnSpPr>
          <p:spPr>
            <a:xfrm rot="16200000" flipH="1">
              <a:off x="7466509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>
              <a:stCxn id="200" idx="3"/>
              <a:endCxn id="204" idx="0"/>
            </p:cNvCxnSpPr>
            <p:nvPr/>
          </p:nvCxnSpPr>
          <p:spPr>
            <a:xfrm rot="5400000">
              <a:off x="793943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>
              <a:stCxn id="200" idx="5"/>
              <a:endCxn id="205" idx="0"/>
            </p:cNvCxnSpPr>
            <p:nvPr/>
          </p:nvCxnSpPr>
          <p:spPr>
            <a:xfrm rot="16200000" flipH="1">
              <a:off x="8280037" y="2930203"/>
              <a:ext cx="480937" cy="8802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>
              <a:stCxn id="201" idx="3"/>
              <a:endCxn id="206" idx="0"/>
            </p:cNvCxnSpPr>
            <p:nvPr/>
          </p:nvCxnSpPr>
          <p:spPr>
            <a:xfrm rot="5400000">
              <a:off x="8770065" y="2929122"/>
              <a:ext cx="480937" cy="90191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>
              <a:stCxn id="201" idx="5"/>
              <a:endCxn id="207" idx="0"/>
            </p:cNvCxnSpPr>
            <p:nvPr/>
          </p:nvCxnSpPr>
          <p:spPr>
            <a:xfrm rot="16200000" flipH="1">
              <a:off x="9110664" y="2931284"/>
              <a:ext cx="480937" cy="8586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17" name="Flowchart: Connector 216"/>
            <p:cNvSpPr/>
            <p:nvPr/>
          </p:nvSpPr>
          <p:spPr>
            <a:xfrm>
              <a:off x="7143768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218" name="Flowchart: Connector 217"/>
            <p:cNvSpPr/>
            <p:nvPr/>
          </p:nvSpPr>
          <p:spPr>
            <a:xfrm>
              <a:off x="757239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219" name="Flowchart: Connector 218"/>
            <p:cNvSpPr/>
            <p:nvPr/>
          </p:nvSpPr>
          <p:spPr>
            <a:xfrm>
              <a:off x="7957296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220" name="Flowchart: Connector 219"/>
            <p:cNvSpPr/>
            <p:nvPr/>
          </p:nvSpPr>
          <p:spPr>
            <a:xfrm>
              <a:off x="8385924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21" name="Flowchart: Connector 220"/>
            <p:cNvSpPr/>
            <p:nvPr/>
          </p:nvSpPr>
          <p:spPr>
            <a:xfrm>
              <a:off x="8786842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222" name="Flowchart: Connector 221"/>
            <p:cNvSpPr/>
            <p:nvPr/>
          </p:nvSpPr>
          <p:spPr>
            <a:xfrm>
              <a:off x="9215470" y="392906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cxnSp>
          <p:nvCxnSpPr>
            <p:cNvPr id="223" name="Straight Connector 222"/>
            <p:cNvCxnSpPr>
              <a:stCxn id="202" idx="4"/>
              <a:endCxn id="217" idx="0"/>
            </p:cNvCxnSpPr>
            <p:nvPr/>
          </p:nvCxnSpPr>
          <p:spPr>
            <a:xfrm rot="5400000">
              <a:off x="7143768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>
              <a:stCxn id="203" idx="4"/>
              <a:endCxn id="218" idx="0"/>
            </p:cNvCxnSpPr>
            <p:nvPr/>
          </p:nvCxnSpPr>
          <p:spPr>
            <a:xfrm rot="5400000">
              <a:off x="757239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>
              <a:stCxn id="204" idx="4"/>
              <a:endCxn id="219" idx="0"/>
            </p:cNvCxnSpPr>
            <p:nvPr/>
          </p:nvCxnSpPr>
          <p:spPr>
            <a:xfrm rot="5400000">
              <a:off x="7957296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>
              <a:stCxn id="205" idx="4"/>
              <a:endCxn id="220" idx="0"/>
            </p:cNvCxnSpPr>
            <p:nvPr/>
          </p:nvCxnSpPr>
          <p:spPr>
            <a:xfrm rot="5400000">
              <a:off x="8385924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>
              <a:stCxn id="206" idx="4"/>
              <a:endCxn id="221" idx="0"/>
            </p:cNvCxnSpPr>
            <p:nvPr/>
          </p:nvCxnSpPr>
          <p:spPr>
            <a:xfrm rot="5400000">
              <a:off x="8786842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>
              <a:stCxn id="207" idx="4"/>
              <a:endCxn id="222" idx="0"/>
            </p:cNvCxnSpPr>
            <p:nvPr/>
          </p:nvCxnSpPr>
          <p:spPr>
            <a:xfrm rot="5400000">
              <a:off x="9215470" y="3750471"/>
              <a:ext cx="357190" cy="15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19199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-357223" y="214290"/>
            <a:ext cx="5357850" cy="4346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Box 6"/>
          <p:cNvSpPr txBox="1"/>
          <p:nvPr/>
        </p:nvSpPr>
        <p:spPr>
          <a:xfrm rot="21286599">
            <a:off x="1527983" y="1318901"/>
            <a:ext cx="289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d-ID" sz="3600" b="1" dirty="0" smtClean="0">
                <a:latin typeface="Bradley Hand ITC" pitchFamily="66" charset="0"/>
              </a:rPr>
              <a:t>Algoritma A*</a:t>
            </a:r>
            <a:endParaRPr lang="id-ID" sz="3600" b="1" dirty="0"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2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058972" y="1955061"/>
            <a:ext cx="151355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d-ID" sz="4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radley Hand ITC" pitchFamily="66" charset="0"/>
              </a:rPr>
              <a:t>TSP </a:t>
            </a:r>
            <a:endParaRPr lang="en-US" sz="4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6" name="Flowchart: Connector 5"/>
          <p:cNvSpPr/>
          <p:nvPr/>
        </p:nvSpPr>
        <p:spPr>
          <a:xfrm>
            <a:off x="1000100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A</a:t>
            </a:r>
            <a:endParaRPr lang="id-ID" sz="5400" b="1" dirty="0"/>
          </a:p>
        </p:txBody>
      </p:sp>
      <p:sp>
        <p:nvSpPr>
          <p:cNvPr id="7" name="Flowchart: Connector 6"/>
          <p:cNvSpPr/>
          <p:nvPr/>
        </p:nvSpPr>
        <p:spPr>
          <a:xfrm>
            <a:off x="3786182" y="1643050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B</a:t>
            </a:r>
            <a:endParaRPr lang="id-ID" sz="5400" b="1" dirty="0"/>
          </a:p>
        </p:txBody>
      </p:sp>
      <p:sp>
        <p:nvSpPr>
          <p:cNvPr id="9" name="Flowchart: Connector 8"/>
          <p:cNvSpPr/>
          <p:nvPr/>
        </p:nvSpPr>
        <p:spPr>
          <a:xfrm>
            <a:off x="3786182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C</a:t>
            </a:r>
            <a:endParaRPr lang="id-ID" sz="5400" b="1" dirty="0"/>
          </a:p>
        </p:txBody>
      </p:sp>
      <p:sp>
        <p:nvSpPr>
          <p:cNvPr id="11" name="Flowchart: Connector 10"/>
          <p:cNvSpPr/>
          <p:nvPr/>
        </p:nvSpPr>
        <p:spPr>
          <a:xfrm>
            <a:off x="1000100" y="4286256"/>
            <a:ext cx="857256" cy="857256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5400" b="1" dirty="0" smtClean="0"/>
              <a:t>D</a:t>
            </a:r>
            <a:endParaRPr lang="id-ID" sz="5400" b="1" dirty="0"/>
          </a:p>
        </p:txBody>
      </p:sp>
      <p:cxnSp>
        <p:nvCxnSpPr>
          <p:cNvPr id="13" name="Straight Connector 12"/>
          <p:cNvCxnSpPr>
            <a:stCxn id="6" idx="4"/>
            <a:endCxn id="11" idx="0"/>
          </p:cNvCxnSpPr>
          <p:nvPr/>
        </p:nvCxnSpPr>
        <p:spPr>
          <a:xfrm rot="5400000">
            <a:off x="535753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>
            <a:off x="1857356" y="2071678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>
          <a:xfrm rot="5400000">
            <a:off x="3321835" y="3393281"/>
            <a:ext cx="178595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1" idx="6"/>
          </p:cNvCxnSpPr>
          <p:nvPr/>
        </p:nvCxnSpPr>
        <p:spPr>
          <a:xfrm rot="10800000">
            <a:off x="1857356" y="4714884"/>
            <a:ext cx="1928826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6" idx="5"/>
            <a:endCxn id="9" idx="1"/>
          </p:cNvCxnSpPr>
          <p:nvPr/>
        </p:nvCxnSpPr>
        <p:spPr>
          <a:xfrm rot="16200000" flipH="1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3"/>
            <a:endCxn id="11" idx="7"/>
          </p:cNvCxnSpPr>
          <p:nvPr/>
        </p:nvCxnSpPr>
        <p:spPr>
          <a:xfrm rot="5400000">
            <a:off x="1803252" y="2303326"/>
            <a:ext cx="2037034" cy="217991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1481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5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11533" y="464344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6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0100" y="300037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7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29319" y="15140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8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24470" y="242547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3</a:t>
            </a:r>
            <a:endParaRPr lang="id-ID" sz="3600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0288" y="241501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dirty="0" smtClean="0">
                <a:solidFill>
                  <a:schemeClr val="accent6"/>
                </a:solidFill>
              </a:rPr>
              <a:t>4</a:t>
            </a:r>
            <a:endParaRPr lang="id-ID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26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229"/>
          <p:cNvGrpSpPr/>
          <p:nvPr/>
        </p:nvGrpSpPr>
        <p:grpSpPr>
          <a:xfrm>
            <a:off x="545090" y="1428736"/>
            <a:ext cx="6812992" cy="3857652"/>
            <a:chOff x="-122792" y="857232"/>
            <a:chExt cx="7637141" cy="3857652"/>
          </a:xfrm>
        </p:grpSpPr>
        <p:sp>
          <p:nvSpPr>
            <p:cNvPr id="22" name="Flowchart: Connector 21"/>
            <p:cNvSpPr/>
            <p:nvPr/>
          </p:nvSpPr>
          <p:spPr>
            <a:xfrm>
              <a:off x="4426961" y="857232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d-ID" sz="1100" dirty="0"/>
            </a:p>
          </p:txBody>
        </p:sp>
        <p:sp>
          <p:nvSpPr>
            <p:cNvPr id="23" name="Flowchart: Connector 22"/>
            <p:cNvSpPr/>
            <p:nvPr/>
          </p:nvSpPr>
          <p:spPr>
            <a:xfrm>
              <a:off x="1934027" y="1571612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A</a:t>
              </a:r>
              <a:endParaRPr lang="id-ID" sz="1600" dirty="0"/>
            </a:p>
          </p:txBody>
        </p:sp>
        <p:sp>
          <p:nvSpPr>
            <p:cNvPr id="26" name="Flowchart: Connector 25"/>
            <p:cNvSpPr/>
            <p:nvPr/>
          </p:nvSpPr>
          <p:spPr>
            <a:xfrm>
              <a:off x="3609891" y="1541739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36" name="Straight Connector 35"/>
            <p:cNvCxnSpPr>
              <a:stCxn id="22" idx="3"/>
              <a:endCxn id="26" idx="0"/>
            </p:cNvCxnSpPr>
            <p:nvPr/>
          </p:nvCxnSpPr>
          <p:spPr>
            <a:xfrm rot="5400000">
              <a:off x="3944065" y="1006535"/>
              <a:ext cx="379626" cy="69078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2" idx="5"/>
              <a:endCxn id="166" idx="0"/>
            </p:cNvCxnSpPr>
            <p:nvPr/>
          </p:nvCxnSpPr>
          <p:spPr>
            <a:xfrm rot="16200000" flipH="1">
              <a:off x="4909618" y="984337"/>
              <a:ext cx="365771" cy="721323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2" idx="2"/>
              <a:endCxn id="23" idx="0"/>
            </p:cNvCxnSpPr>
            <p:nvPr/>
          </p:nvCxnSpPr>
          <p:spPr>
            <a:xfrm rot="10800000" flipV="1">
              <a:off x="2112622" y="1035826"/>
              <a:ext cx="2314339" cy="53578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2" idx="6"/>
              <a:endCxn id="198" idx="0"/>
            </p:cNvCxnSpPr>
            <p:nvPr/>
          </p:nvCxnSpPr>
          <p:spPr>
            <a:xfrm>
              <a:off x="4784148" y="1035827"/>
              <a:ext cx="2551606" cy="46651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Flowchart: Connector 45"/>
            <p:cNvSpPr/>
            <p:nvPr/>
          </p:nvSpPr>
          <p:spPr>
            <a:xfrm>
              <a:off x="1934027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47" name="Flowchart: Connector 46"/>
            <p:cNvSpPr/>
            <p:nvPr/>
          </p:nvSpPr>
          <p:spPr>
            <a:xfrm>
              <a:off x="3615700" y="2428868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48" name="Flowchart: Connector 47"/>
            <p:cNvSpPr/>
            <p:nvPr/>
          </p:nvSpPr>
          <p:spPr>
            <a:xfrm>
              <a:off x="332433" y="2442723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49" name="Straight Connector 48"/>
            <p:cNvCxnSpPr>
              <a:stCxn id="23" idx="3"/>
              <a:endCxn id="48" idx="0"/>
            </p:cNvCxnSpPr>
            <p:nvPr/>
          </p:nvCxnSpPr>
          <p:spPr>
            <a:xfrm rot="5400000">
              <a:off x="965567" y="1421954"/>
              <a:ext cx="566230" cy="147530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23" idx="4"/>
              <a:endCxn id="46" idx="0"/>
            </p:cNvCxnSpPr>
            <p:nvPr/>
          </p:nvCxnSpPr>
          <p:spPr>
            <a:xfrm rot="5400000">
              <a:off x="1862589" y="2178739"/>
              <a:ext cx="500066" cy="178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47" idx="0"/>
              <a:endCxn id="23" idx="5"/>
            </p:cNvCxnSpPr>
            <p:nvPr/>
          </p:nvCxnSpPr>
          <p:spPr>
            <a:xfrm rot="16200000" flipV="1">
              <a:off x="2740415" y="1374987"/>
              <a:ext cx="552375" cy="155538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Flowchart: Connector 57"/>
            <p:cNvSpPr/>
            <p:nvPr/>
          </p:nvSpPr>
          <p:spPr>
            <a:xfrm>
              <a:off x="-114558" y="328612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59" name="Flowchart: Connector 58"/>
            <p:cNvSpPr/>
            <p:nvPr/>
          </p:nvSpPr>
          <p:spPr>
            <a:xfrm>
              <a:off x="725581" y="328612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0" name="Flowchart: Connector 59"/>
            <p:cNvSpPr/>
            <p:nvPr/>
          </p:nvSpPr>
          <p:spPr>
            <a:xfrm>
              <a:off x="-122792" y="435769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1" name="Flowchart: Connector 60"/>
            <p:cNvSpPr/>
            <p:nvPr/>
          </p:nvSpPr>
          <p:spPr>
            <a:xfrm>
              <a:off x="718766" y="435769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2" name="Flowchart: Connector 61"/>
            <p:cNvSpPr/>
            <p:nvPr/>
          </p:nvSpPr>
          <p:spPr>
            <a:xfrm>
              <a:off x="1543476" y="3283961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3" name="Flowchart: Connector 62"/>
            <p:cNvSpPr/>
            <p:nvPr/>
          </p:nvSpPr>
          <p:spPr>
            <a:xfrm>
              <a:off x="2321319" y="327010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4" name="Flowchart: Connector 63"/>
            <p:cNvSpPr/>
            <p:nvPr/>
          </p:nvSpPr>
          <p:spPr>
            <a:xfrm>
              <a:off x="1533628" y="4355531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  <p:sp>
          <p:nvSpPr>
            <p:cNvPr id="65" name="Flowchart: Connector 64"/>
            <p:cNvSpPr/>
            <p:nvPr/>
          </p:nvSpPr>
          <p:spPr>
            <a:xfrm>
              <a:off x="2320359" y="4341676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6" name="Flowchart: Connector 65"/>
            <p:cNvSpPr/>
            <p:nvPr/>
          </p:nvSpPr>
          <p:spPr>
            <a:xfrm>
              <a:off x="3215302" y="3283961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sp>
          <p:nvSpPr>
            <p:cNvPr id="67" name="Flowchart: Connector 66"/>
            <p:cNvSpPr/>
            <p:nvPr/>
          </p:nvSpPr>
          <p:spPr>
            <a:xfrm>
              <a:off x="3982612" y="328612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8" name="Flowchart: Connector 67"/>
            <p:cNvSpPr/>
            <p:nvPr/>
          </p:nvSpPr>
          <p:spPr>
            <a:xfrm>
              <a:off x="3215302" y="430227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69" name="Flowchart: Connector 68"/>
            <p:cNvSpPr/>
            <p:nvPr/>
          </p:nvSpPr>
          <p:spPr>
            <a:xfrm>
              <a:off x="3986502" y="4311803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B</a:t>
              </a:r>
              <a:endParaRPr lang="id-ID" sz="1600" dirty="0"/>
            </a:p>
          </p:txBody>
        </p:sp>
        <p:cxnSp>
          <p:nvCxnSpPr>
            <p:cNvPr id="70" name="Straight Connector 69"/>
            <p:cNvCxnSpPr>
              <a:stCxn id="48" idx="3"/>
              <a:endCxn id="58" idx="0"/>
            </p:cNvCxnSpPr>
            <p:nvPr/>
          </p:nvCxnSpPr>
          <p:spPr>
            <a:xfrm rot="5400000">
              <a:off x="-44870" y="2856512"/>
              <a:ext cx="538520" cy="320706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58" idx="4"/>
              <a:endCxn id="60" idx="0"/>
            </p:cNvCxnSpPr>
            <p:nvPr/>
          </p:nvCxnSpPr>
          <p:spPr>
            <a:xfrm rot="5400000">
              <a:off x="-297270" y="3996388"/>
              <a:ext cx="714380" cy="8234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48" idx="5"/>
              <a:endCxn id="59" idx="0"/>
            </p:cNvCxnSpPr>
            <p:nvPr/>
          </p:nvCxnSpPr>
          <p:spPr>
            <a:xfrm rot="16200000" flipH="1">
              <a:off x="501485" y="2883433"/>
              <a:ext cx="538520" cy="26686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59" idx="4"/>
              <a:endCxn id="61" idx="0"/>
            </p:cNvCxnSpPr>
            <p:nvPr/>
          </p:nvCxnSpPr>
          <p:spPr>
            <a:xfrm rot="5400000">
              <a:off x="543578" y="3997096"/>
              <a:ext cx="714380" cy="681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46" idx="3"/>
              <a:endCxn id="62" idx="0"/>
            </p:cNvCxnSpPr>
            <p:nvPr/>
          </p:nvCxnSpPr>
          <p:spPr>
            <a:xfrm rot="5400000">
              <a:off x="1579098" y="2876723"/>
              <a:ext cx="550212" cy="264265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46" idx="5"/>
              <a:endCxn id="63" idx="0"/>
            </p:cNvCxnSpPr>
            <p:nvPr/>
          </p:nvCxnSpPr>
          <p:spPr>
            <a:xfrm rot="16200000" flipH="1">
              <a:off x="2101233" y="2871424"/>
              <a:ext cx="536357" cy="261006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63" idx="4"/>
              <a:endCxn id="65" idx="0"/>
            </p:cNvCxnSpPr>
            <p:nvPr/>
          </p:nvCxnSpPr>
          <p:spPr>
            <a:xfrm rot="5400000">
              <a:off x="2142244" y="3984006"/>
              <a:ext cx="714380" cy="96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62" idx="4"/>
              <a:endCxn id="64" idx="0"/>
            </p:cNvCxnSpPr>
            <p:nvPr/>
          </p:nvCxnSpPr>
          <p:spPr>
            <a:xfrm rot="5400000">
              <a:off x="1359958" y="3993418"/>
              <a:ext cx="714380" cy="9848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47" idx="3"/>
              <a:endCxn id="66" idx="0"/>
            </p:cNvCxnSpPr>
            <p:nvPr/>
          </p:nvCxnSpPr>
          <p:spPr>
            <a:xfrm rot="5400000">
              <a:off x="3255847" y="2871799"/>
              <a:ext cx="550212" cy="274112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66" idx="4"/>
              <a:endCxn id="68" idx="0"/>
            </p:cNvCxnSpPr>
            <p:nvPr/>
          </p:nvCxnSpPr>
          <p:spPr>
            <a:xfrm rot="5400000">
              <a:off x="3063336" y="3971616"/>
              <a:ext cx="661123" cy="178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47" idx="5"/>
              <a:endCxn id="67" idx="0"/>
            </p:cNvCxnSpPr>
            <p:nvPr/>
          </p:nvCxnSpPr>
          <p:spPr>
            <a:xfrm rot="16200000" flipH="1">
              <a:off x="3764707" y="2889623"/>
              <a:ext cx="552375" cy="240626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67" idx="4"/>
              <a:endCxn id="69" idx="0"/>
            </p:cNvCxnSpPr>
            <p:nvPr/>
          </p:nvCxnSpPr>
          <p:spPr>
            <a:xfrm rot="16200000" flipH="1">
              <a:off x="3828908" y="3975613"/>
              <a:ext cx="668489" cy="389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66" name="Flowchart: Connector 165"/>
            <p:cNvSpPr/>
            <p:nvPr/>
          </p:nvSpPr>
          <p:spPr>
            <a:xfrm>
              <a:off x="5274569" y="1527884"/>
              <a:ext cx="357190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C</a:t>
              </a:r>
              <a:endParaRPr lang="id-ID" sz="1600" dirty="0"/>
            </a:p>
          </p:txBody>
        </p:sp>
        <p:sp>
          <p:nvSpPr>
            <p:cNvPr id="198" name="Flowchart: Connector 197"/>
            <p:cNvSpPr/>
            <p:nvPr/>
          </p:nvSpPr>
          <p:spPr>
            <a:xfrm>
              <a:off x="7157160" y="1502337"/>
              <a:ext cx="357189" cy="357190"/>
            </a:xfrm>
            <a:prstGeom prst="flowChartConnec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d-ID" sz="1600" dirty="0" smtClean="0"/>
                <a:t>D</a:t>
              </a:r>
              <a:endParaRPr lang="id-ID" sz="1600" dirty="0"/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2163473" y="215913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2614608" y="215697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12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546263" y="25141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8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24680" y="30497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8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226724" y="303593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508839" y="1329588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g(n)</a:t>
            </a:r>
            <a:endParaRPr lang="id-ID" sz="1400" dirty="0">
              <a:solidFill>
                <a:schemeClr val="bg1"/>
              </a:solidFill>
            </a:endParaRPr>
          </a:p>
        </p:txBody>
      </p:sp>
      <p:cxnSp>
        <p:nvCxnSpPr>
          <p:cNvPr id="140" name="Straight Arrow Connector 139"/>
          <p:cNvCxnSpPr>
            <a:stCxn id="133" idx="0"/>
            <a:endCxn id="138" idx="2"/>
          </p:cNvCxnSpPr>
          <p:nvPr/>
        </p:nvCxnSpPr>
        <p:spPr>
          <a:xfrm rot="16200000" flipV="1">
            <a:off x="1762583" y="1620225"/>
            <a:ext cx="521769" cy="55605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2794723" y="104383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h'(n)</a:t>
            </a:r>
            <a:endParaRPr lang="id-ID" sz="1400" dirty="0">
              <a:solidFill>
                <a:schemeClr val="bg1"/>
              </a:solidFill>
            </a:endParaRPr>
          </a:p>
        </p:txBody>
      </p:sp>
      <p:cxnSp>
        <p:nvCxnSpPr>
          <p:cNvPr id="143" name="Straight Arrow Connector 142"/>
          <p:cNvCxnSpPr>
            <a:stCxn id="134" idx="0"/>
            <a:endCxn id="141" idx="2"/>
          </p:cNvCxnSpPr>
          <p:nvPr/>
        </p:nvCxnSpPr>
        <p:spPr>
          <a:xfrm rot="5400000" flipH="1" flipV="1">
            <a:off x="2524563" y="1625362"/>
            <a:ext cx="805358" cy="257861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617569" y="340697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68183" y="440710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295566" y="340697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426750" y="44209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2329918" y="261330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3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173319" y="248645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7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067529" y="340697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738181" y="33969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928794" y="44209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3567727" y="339912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652888" y="44209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4224524" y="340129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3442847" y="442096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113684" y="441447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125112" y="303376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3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676272" y="303024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9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3653020" y="30316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7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4165655" y="302808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9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3" name="TextBox 272"/>
          <p:cNvSpPr txBox="1"/>
          <p:nvPr/>
        </p:nvSpPr>
        <p:spPr>
          <a:xfrm>
            <a:off x="247792" y="386331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13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811518" y="38633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5" name="TextBox 274"/>
          <p:cNvSpPr txBox="1"/>
          <p:nvPr/>
        </p:nvSpPr>
        <p:spPr>
          <a:xfrm>
            <a:off x="997937" y="385762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12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1561663" y="38576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1809487" y="386330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8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2319771" y="386330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2501957" y="38576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9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3014219" y="38576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4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232355" y="386330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11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3772327" y="386330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3917366" y="386330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13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4472852" y="386330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5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231959" y="494521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19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811518" y="494521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81919" y="494521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18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1561478" y="49452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1716139" y="494305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12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2295698" y="49430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2418827" y="494521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13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2998386" y="49452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3202482" y="493704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16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3782041" y="49430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3903007" y="492919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19</a:t>
            </a:r>
            <a:endParaRPr lang="id-ID" sz="1400" dirty="0">
              <a:solidFill>
                <a:schemeClr val="bg1"/>
              </a:solidFill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4482566" y="491750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 smtClean="0">
                <a:solidFill>
                  <a:schemeClr val="bg1"/>
                </a:solidFill>
              </a:rPr>
              <a:t>0</a:t>
            </a:r>
            <a:endParaRPr lang="id-ID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2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264" y="248984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CLOSED</a:t>
                      </a:r>
                      <a:endParaRPr lang="id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OPEN</a:t>
                      </a:r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{</a:t>
                      </a:r>
                      <a:r>
                        <a:rPr lang="id-ID" baseline="0" dirty="0" smtClean="0"/>
                        <a:t> }</a:t>
                      </a:r>
                      <a:endParaRPr lang="id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{A(12)}</a:t>
                      </a:r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A</a:t>
                      </a:r>
                      <a:endParaRPr lang="id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{B(18), C(12), D(16)}</a:t>
                      </a:r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 smtClean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{B(12), D(13)}</a:t>
                      </a:r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 smtClean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 smtClean="0"/>
                        <a:t>{D(12)}</a:t>
                      </a:r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 smtClean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id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5720" y="1383557"/>
            <a:ext cx="5880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Penyelesaian TSP dengan fungsi evaluasi :</a:t>
            </a:r>
          </a:p>
          <a:p>
            <a:r>
              <a:rPr lang="id-ID" sz="2400" dirty="0" smtClean="0">
                <a:solidFill>
                  <a:schemeClr val="bg1"/>
                </a:solidFill>
                <a:latin typeface="Bradley Hand ITC" pitchFamily="66" charset="0"/>
              </a:rPr>
              <a:t>f(n) = g(n) + h(n)</a:t>
            </a:r>
            <a:endParaRPr lang="id-ID" sz="2400" dirty="0">
              <a:solidFill>
                <a:schemeClr val="bg1"/>
              </a:solidFill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47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62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1000108"/>
            <a:ext cx="7286676" cy="538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00192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1088</Words>
  <Application>Microsoft Office PowerPoint</Application>
  <PresentationFormat>On-screen Show (4:3)</PresentationFormat>
  <Paragraphs>717</Paragraphs>
  <Slides>53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Bradley Hand ITC</vt:lpstr>
      <vt:lpstr>Calibri</vt:lpstr>
      <vt:lpstr>Wingdings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Diatri Indradewi</dc:creator>
  <cp:lastModifiedBy>Bhoeds</cp:lastModifiedBy>
  <cp:revision>265</cp:revision>
  <dcterms:created xsi:type="dcterms:W3CDTF">2012-02-27T12:10:37Z</dcterms:created>
  <dcterms:modified xsi:type="dcterms:W3CDTF">2025-03-16T06:39:32Z</dcterms:modified>
</cp:coreProperties>
</file>